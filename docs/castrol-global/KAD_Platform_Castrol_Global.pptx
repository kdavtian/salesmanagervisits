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for your time. KAD Motors is a Castrol distributor in Armenia. Over the last months our own team built a digital platform that runs the whole commercial side of a distributor: a field app for the team, an AI deputy director who controls the daily work, and a CEO bot for management.</a:t>
            </a:r>
          </a:p>
          <a:p>
            <a:r>
              <a:t>Today I will show the real problems of a distributor, how the platform solves each one, and why we believe it can become a model for other Castrol distributors, with shelf and sell-out visibility for Castrol.</a:t>
            </a:r>
          </a:p>
          <a:p>
            <a:r>
              <a:t>All screens and example values in this deck are made-up demo data. No real customer, staff or company figures are shown.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KAD Motors distributes Castrol lubricants in Armenia. We have field sales reps, a warehouse, delivery, accounting and management, and customers across the regions of Armenia: workshops and garages, oil-change points, auto-parts shops, fleets and car dealers.</a:t>
            </a:r>
          </a:p>
          <a:p>
            <a:r>
              <a:t>Our goal is to become No. 1 in Armenia's oil market: in volume, in revenue, in reputation and in technology. The platform is how we get there, and once the model works here we want to take it further.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platform was not ordered from an IT agency. It was designed by our own people: sales reps, the sales director, the warehouse and delivery team, accounting, and management, working every day with our developers.</a:t>
            </a:r>
          </a:p>
          <a:p>
            <a:r>
              <a:t>Each role brought its real daily problems: a rep who loses time typing orders twice, an accountant who chases cash, a director who learns about a problem a month too late. Every module started from one of those problems.</a:t>
            </a:r>
          </a:p>
          <a:p>
            <a:r>
              <a:t>That is why the platform covers the needs of a Castrol distributor end to end, and why it keeps improving: problems reported on Monday are usually fixed on everybody's phone within days. More than 750 improvements have shipped since August 2026.</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most important idea of the platform. Collecting data alone adds no value. Value comes from decisions and actions.</a:t>
            </a:r>
          </a:p>
          <a:p>
            <a:r>
              <a:t>So the platform works as a closed loop. Step one, it collects data: visits with GPS, photos, orders, payments and the daily ERP file. Step two, AI and business rules analyse it and spot problems. Step three, they find the cause and the person responsible. Step four, they give that person a task with a deadline. Step five, they control it: reminders until it is done. Step six, if it is not solved within the plan, they escalate to management or report it.</a:t>
            </a:r>
          </a:p>
          <a:p>
            <a:r>
              <a:t>Steps two to six are run by Vaghinak, our AI deputy director. Managers stop searching for problems; they receive them already analysed, assigned and tracked.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ten real problems we lived with, and that every distributor we know lives with.</a:t>
            </a:r>
          </a:p>
          <a:p>
            <a:r>
              <a:t>Reps start late and skip planned visits. Nobody can prove that a visit happened. Overdue debt sits without anyone chasing it. Orders come by phone with wrong prices. Discounts eat the margin. Cash stays with reps for days. Some products run out while others sit as dead stock. Nobody knows what is on the shelf, or how many fakes are sold. Reports arrive late from a messy Excel. And customers quietly stop buying, and we notice months later.</a:t>
            </a:r>
          </a:p>
          <a:p>
            <a:r>
              <a:t>The common result: management learns about a problem when the money is already lost. The next two slides show how the platform solves each one.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Reps start late, skip visits: Vaghinak logs every arrival and visit, reminds, asks a must-answer question, reports weekly.</a:t>
            </a:r>
          </a:p>
          <a:p>
            <a:r>
              <a:t>No proof a visit happened: GPS check-in only within 300 m of the outlet, with photo and visit outcome.</a:t>
            </a:r>
          </a:p>
          <a:p>
            <a:r>
              <a:t>Overdue debt nobody chases: Debt aged per invoice; a collection task for the next visit; promise dates; broken promise escalated.</a:t>
            </a:r>
          </a:p>
          <a:p>
            <a:r>
              <a:t>Orders by phone, wrong prices: Orders in the app, at central tier prices, from the usual basket, even offline.</a:t>
            </a:r>
          </a:p>
          <a:p>
            <a:r>
              <a:t>Discounts that kill margin: Up to 3% automatic; more needs approval; below cost only the CEO.</a:t>
            </a:r>
          </a:p>
          <a:p>
            <a:r>
              <a:t>Every answer has an owner and a deadline, and the platform checks that it was done.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Cash stuck with reps: Every payment tracked from rep to accountant and matched with the ERP automatically.</a:t>
            </a:r>
          </a:p>
          <a:p>
            <a:r>
              <a:t>Stock-outs and dead stock: Days of stock per product, a ready reorder list, dead-stock decisions with owners.</a:t>
            </a:r>
          </a:p>
          <a:p>
            <a:r>
              <a:t>No view of the shelf, fakes: Shelf audit at every visit: Castrol presence, full range, fakes, parallel imports, competitors.</a:t>
            </a:r>
          </a:p>
          <a:p>
            <a:r>
              <a:t>Late reports, Excel chaos: One daily ERP file: checked, reported by the bot, synced to the app in minutes.</a:t>
            </a:r>
          </a:p>
          <a:p>
            <a:r>
              <a:t>Customers quietly stop buying: Each customer's order rhythm is learned; when it breaks, a call-or-visit task.</a:t>
            </a:r>
          </a:p>
          <a:p>
            <a:r>
              <a:t>Every answer has an owner and a deadline, and the platform checks that it was done.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platform has three parts.</a:t>
            </a:r>
          </a:p>
          <a:p>
            <a:r>
              <a:t>The Field Visits app: a progressive web app. A rep opens one link on any iPhone or Android phone. No app store, and it works without signal.</a:t>
            </a:r>
          </a:p>
          <a:p>
            <a:r>
              <a:t>Vaghinak, our AI deputy director: he watches the working day, gives tasks, chases deadlines and escalates when something slips.</a:t>
            </a:r>
          </a:p>
          <a:p>
            <a:r>
              <a:t>The CEO bot in Telegram: every day accounting drops the ERP workbook into the bot; it checks the file, builds the management reports and feeds the app.</a:t>
            </a:r>
          </a:p>
          <a:p>
            <a:r>
              <a:t>All screens and example values in this deck are made-up demo data. No real customer, staff or company figures are shown.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data flow on one page. Accounting keeps the ERP workbook in Excel and uploads it once a day. The CEO bot checks the file and builds the management reports. The same run syncs debt, sales, prices, stock and plans into the app, where every role works.</a:t>
            </a:r>
          </a:p>
          <a:p>
            <a:r>
              <a:t>The app adds what Excel never had: GPS-verified visits, photos and shelf audits, orders and payments captured at the outlet. Customers and products are matched by ERP ID, never by name, and Excel remains the source of truth for debt and sales.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rep can only check in when the phone is near the outlet (300 metres by default, set by management), attaches a photo and records the outcome.</a:t>
            </a:r>
          </a:p>
          <a:p>
            <a:r>
              <a:t>At every visit the rep records the shelf: Castrol available or not, full range, fake product, parallel imports (from the USA, Dubai or Russia) and products without the Armenian QR/excise mark, plus competitor brands. Nobody else in our market collects this.</a:t>
            </a:r>
          </a:p>
          <a:p>
            <a:r>
              <a:t>The map is also the CRM: every outlet with its visit status, debt and next planned visit; an automatic planner builds balanced weekly routes for each rep.</a:t>
            </a:r>
          </a:p>
          <a:p>
            <a:r>
              <a:t>All screens and example values in this deck are made-up demo data. No real customer, staff or company figures are shown.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Orders: built in a few taps from the customer's usual basket or a repeat of the last order, even offline. Prices come from central tier price lists; reps never type prices. Discounts up to 3% are automatic; more needs management approval, and a price below our landing cost needs the CEO.</a:t>
            </a:r>
          </a:p>
          <a:p>
            <a:r>
              <a:t>Credit: limits per customer, overdue alerts and collection tasks; every cash payment is tracked from the rep to the accountant. Reps see their own targets and earn points for visits, orders and collections.</a:t>
            </a:r>
          </a:p>
          <a:p>
            <a:r>
              <a:t>All screens and example values in this deck are made-up demo data. No real customer, staff or company figures are shown.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Meet Vaghinak, our AI operations deputy director. He lives inside the app, with his own page and a badge on the home screen.</a:t>
            </a:r>
          </a:p>
          <a:p>
            <a:r>
              <a:t>He controls the working day of every person. He logs every arrival and every late start, staying quiet within a 30-minute grace and reporting the week. If a rep has not made a first visit after an hour he asks why; after two hours the question becomes mandatory and blocks the app until answered. He notices a rep sitting in the office with visits planned, or stopping in the middle of the day, or leaving planned shops a few hundred metres behind.</a:t>
            </a:r>
          </a:p>
          <a:p>
            <a:r>
              <a:t>He also owns the money and customer follow-ups: a collection task for every overdue invoice, with promise dates; call-or-visit tasks for customers who stopped ordering; chasing down payments after delivery; orders that wait too long go to the sales director and then to the CEO; and missing data or a late ERP file becomes a task for the right person.</a:t>
            </a:r>
          </a:p>
          <a:p>
            <a:r>
              <a:t>On the left is his evening brief to management; on the right, a mandatory question to a rep. In real life he speaks Armenian; these demo messages are translated.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one loop from start to finish, with demo data.</a:t>
            </a:r>
          </a:p>
          <a:p>
            <a:r>
              <a:t>Vaghinak detects that an invoice is 56 days past due. He finds the cause and the owner: it is the oldest unpaid invoice of a customer assigned to Rep C. He creates a task to collect at the next visit, with a deadline. He controls it: the rep records that the customer promised to pay by the 27th. When the promise is broken, the task is reopened and the sales director is informed automatically. When the payment arrives in the ERP, even by bank transfer, the task closes itself.</a:t>
            </a:r>
          </a:p>
          <a:p>
            <a:r>
              <a:t>No manager had to chase anyone. The same loop runs for lateness, visits, reorders, down payments, waiting orders and data quality.</a:t>
            </a:r>
          </a:p>
          <a:p>
            <a:r>
              <a:t>He speaks to each person in their own tone, formal with management and warm with reps; staff can rate each message; every Monday he sends each rep their week and tells management who needs a talk; and he starts in test mode so management can tune every threshold before he goes live.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 and automation do the work that used to take hours of Excel.</a:t>
            </a:r>
          </a:p>
          <a:p>
            <a:r>
              <a:t>KAD AI lets management ask questions in plain language, for example which customers bought less EDGE this quarter and who their rep is, and get an answer with numbers in seconds. The AI has read-only access; customers and staff are anonymised as codes, so no names leave our server; every question is logged and the monthly cost is capped.</a:t>
            </a:r>
          </a:p>
          <a:p>
            <a:r>
              <a:t>On the right, what the platform calculates automatically: landing cost per product from freight, customs, excise, VAT and the exchange rate; the true cost at the selling price for every discount decision; debt ageing per invoice; suggested credit limits; each customer's order rhythm and usual basket; days of stock and reorder lists; rep hours, visits, conversion and weekly scorecards; fuel allowance from the real GPS route; automatic matching of ERP orders and payments; and a price-review task when the exchange rate moves 2%.</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platform replaces the monthly Excel report pack with live reports on the phone.</a:t>
            </a:r>
          </a:p>
          <a:p>
            <a:r>
              <a:t>Money and debt: customer debt as of any date, unpaid invoices by age, a one-page debt statement PDF to hand to the customer, payments and cash custody, and bank statement matching.</a:t>
            </a:r>
          </a:p>
          <a:p>
            <a:r>
              <a:t>Sales and margin: sales against plan by rep and channel, litres by product line and region, margin and price realisation, sales below cost, brand volume.</a:t>
            </a:r>
          </a:p>
          <a:p>
            <a:r>
              <a:t>Team and field: the weekly scorecard per rep, progress day by day, visits and shelf presence, the new-customer pipeline and the fuel allowance.</a:t>
            </a:r>
          </a:p>
          <a:p>
            <a:r>
              <a:t>Operations: order flow against time limits, delivery speed, stock days and dead stock, a data-quality score, and the bot's daily, weekly and monthly briefs.</a:t>
            </a:r>
          </a:p>
          <a:p>
            <a:r>
              <a:t>Every report respects roles: a rep sees only their own customers.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company dashboard and team performance show sales against plan per channel and per rep, cash collected, and how much each rep still needs per working day. Management follows sales versus plan, cash, visits and coverage, litres by product line, debt ageing and rep scorecards, and the CEO bot sends daily, weekly and monthly summaries as soon as the ERP file arrives.</a:t>
            </a:r>
          </a:p>
          <a:p>
            <a:r>
              <a:t>All screens and example values in this deck are made-up demo data. No real customer, staff or company figures are shown.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Twelve features we believe are unique.</a:t>
            </a:r>
          </a:p>
          <a:p>
            <a:r>
              <a:t>An AI deputy director who finds problems, assigns them, chases and escalates. Shelf tracking that records fakes, parallel imports and products without the Armenian excise mark. A price floor: nothing sells below landing cost without the CEO. Debt aged per invoice, not per customer. Tasks that close themselves when the payment arrives in the ERP, even by bank transfer. Pin review, which uses GPS evidence to find shops whose location is wrong on the map. An automatic route planner. Fuel allowance calculated from the real GPS route, split between city and highway. The speed of every order measured in seconds and taps. A truly offline app. An emergency lockdown that locks the app on every phone with one switch. And KAD OS, a free shop ERP for our own customers, in pilot, which lets them order from us directly and in time gives sell-out data.</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shows what management sees in a typical month. The values are illustrative only, in US dollars; they are not our company figures.</a:t>
            </a:r>
          </a:p>
          <a:p>
            <a:r>
              <a:t>Top row, the classic numbers: sales against plan, cash collected, GPS-verified visits.</a:t>
            </a:r>
          </a:p>
          <a:p>
            <a:r>
              <a:t>Bottom row, what a traditional report never shows: the share of outlets with Castrol on the shelf against the stage 1 target of 70%; the overdue debt the system found and turned into collection tasks; and how many of those tasks were closed on time, with the rest escalated automatically. That is the data-decision-action loop, measured.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platform drives our three-stage market plan. Stage 1, presence: 70% of our customers carry at least one Castrol product, measured outlet by outlet with the shelf audit. Stage 2, full range: complete Castrol product lines on the shelf, measured by the full-range tick and the order mix by product line. Stage 3, preference: customers sell mostly Castrol, measured by the share of each customer's purchases and, through KAD OS, their sell-out.</a:t>
            </a:r>
          </a:p>
          <a:p>
            <a:r>
              <a:t>Vaghinak tracks every stage per outlet, rep and region, and turns gaps into tasks.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 steps. Driver and delivery: optimised routes, automatic arrival detection, and the customer signs for the delivery on the phone. Warehouse: picking and packing in the app, live stock behind every order, stock counts even offline. AI management team: Vaghinak becomes the lead of a team of expert AI agents for sales, finance and stock, each of which finds problems, assigns them and controls the result.</a:t>
            </a:r>
          </a:p>
          <a:p>
            <a:r>
              <a:t>Timing to be confirmed; we ship in small weekly releases.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Castrol: shelf visibility outlet by outlet; sell-out signals by product line and region, not only sell-in; a standard toolkit that any distributor can start from a link; and a clean data model where operational data stays with the distributor and Castrol receives aggregated dashboards.</a:t>
            </a:r>
          </a:p>
          <a:p>
            <a:r>
              <a:t>Our proposal is a pilot partnership: a monthly Castrol shelf and sell-out dashboard for Armenia, a pilot with one or two more Castrol distributors, and a joint review after 90 days. The next step we ask for is a 60-minute working session with your team.</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digital and IT colleagues: a progressive web app that installs from a link; offline-first, with visits and orders queued on the phone and sent without duplicates; 8 roles with every rule enforced on the server; PostgreSQL on the distributor's own cloud server; HTTPS, signed session cookies, CSRF protection, rate limits and lockout; operational data stays with the distributor and the AI sees anonymised codes only. About 1,200 automated tests run on every change.</a:t>
            </a:r>
          </a:p>
          <a:p>
            <a:r>
              <a:t>All screens and example values in this deck are made-up demo data. No real customer, staff or company figures are shown.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11.png"/><Relationship Id="rId9" Type="http://schemas.openxmlformats.org/officeDocument/2006/relationships/image" Target="../media/image12.png"/><Relationship Id="rId10" Type="http://schemas.openxmlformats.org/officeDocument/2006/relationships/image" Target="../media/image4.png"/><Relationship Id="rId11"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image" Target="../media/image17.png"/><Relationship Id="rId7" Type="http://schemas.openxmlformats.org/officeDocument/2006/relationships/image" Target="../media/image4.png"/><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19.png"/><Relationship Id="rId4" Type="http://schemas.openxmlformats.org/officeDocument/2006/relationships/image" Target="../media/image13.png"/><Relationship Id="rId5" Type="http://schemas.openxmlformats.org/officeDocument/2006/relationships/image" Target="../media/image20.png"/><Relationship Id="rId6" Type="http://schemas.openxmlformats.org/officeDocument/2006/relationships/image" Target="../media/image21.png"/><Relationship Id="rId7" Type="http://schemas.openxmlformats.org/officeDocument/2006/relationships/image" Target="../media/image22.png"/><Relationship Id="rId8" Type="http://schemas.openxmlformats.org/officeDocument/2006/relationships/image" Target="../media/image4.png"/><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image" Target="../media/image26.png"/><Relationship Id="rId6" Type="http://schemas.openxmlformats.org/officeDocument/2006/relationships/image" Target="../media/image27.png"/><Relationship Id="rId7" Type="http://schemas.openxmlformats.org/officeDocument/2006/relationships/image" Target="../media/image28.png"/><Relationship Id="rId8" Type="http://schemas.openxmlformats.org/officeDocument/2006/relationships/image" Target="../media/image29.png"/><Relationship Id="rId9" Type="http://schemas.openxmlformats.org/officeDocument/2006/relationships/image" Target="../media/image30.png"/><Relationship Id="rId10" Type="http://schemas.openxmlformats.org/officeDocument/2006/relationships/image" Target="../media/image31.png"/><Relationship Id="rId11" Type="http://schemas.openxmlformats.org/officeDocument/2006/relationships/image" Target="../media/image32.png"/><Relationship Id="rId12" Type="http://schemas.openxmlformats.org/officeDocument/2006/relationships/image" Target="../media/image4.png"/><Relationship Id="rId1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image" Target="../media/image26.png"/><Relationship Id="rId6" Type="http://schemas.openxmlformats.org/officeDocument/2006/relationships/image" Target="../media/image27.png"/><Relationship Id="rId7" Type="http://schemas.openxmlformats.org/officeDocument/2006/relationships/image" Target="../media/image4.png"/><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29.png"/><Relationship Id="rId4" Type="http://schemas.openxmlformats.org/officeDocument/2006/relationships/image" Target="../media/image30.png"/><Relationship Id="rId5" Type="http://schemas.openxmlformats.org/officeDocument/2006/relationships/image" Target="../media/image31.png"/><Relationship Id="rId6" Type="http://schemas.openxmlformats.org/officeDocument/2006/relationships/image" Target="../media/image32.png"/><Relationship Id="rId7" Type="http://schemas.openxmlformats.org/officeDocument/2006/relationships/image" Target="../media/image4.png"/><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image" Target="../media/image34.png"/><Relationship Id="rId4" Type="http://schemas.openxmlformats.org/officeDocument/2006/relationships/image" Target="../media/image35.png"/><Relationship Id="rId5" Type="http://schemas.openxmlformats.org/officeDocument/2006/relationships/image" Target="../media/image36.png"/><Relationship Id="rId6" Type="http://schemas.openxmlformats.org/officeDocument/2006/relationships/image" Target="../media/image37.png"/><Relationship Id="rId7" Type="http://schemas.openxmlformats.org/officeDocument/2006/relationships/image" Target="../media/image38.png"/><Relationship Id="rId8" Type="http://schemas.openxmlformats.org/officeDocument/2006/relationships/image" Target="../media/image4.png"/><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image" Target="../media/image35.png"/><Relationship Id="rId4" Type="http://schemas.openxmlformats.org/officeDocument/2006/relationships/image" Target="../media/image9.png"/><Relationship Id="rId5" Type="http://schemas.openxmlformats.org/officeDocument/2006/relationships/image" Target="../media/image33.png"/><Relationship Id="rId6" Type="http://schemas.openxmlformats.org/officeDocument/2006/relationships/image" Target="../media/image39.png"/><Relationship Id="rId7" Type="http://schemas.openxmlformats.org/officeDocument/2006/relationships/image" Target="../media/image4.png"/><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0.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image" Target="../media/image42.png"/><Relationship Id="rId4" Type="http://schemas.openxmlformats.org/officeDocument/2006/relationships/image" Target="../media/image43.png"/><Relationship Id="rId5" Type="http://schemas.openxmlformats.org/officeDocument/2006/relationships/image" Target="../media/image44.png"/><Relationship Id="rId6" Type="http://schemas.openxmlformats.org/officeDocument/2006/relationships/image" Target="../media/image45.png"/><Relationship Id="rId7" Type="http://schemas.openxmlformats.org/officeDocument/2006/relationships/image" Target="../media/image16.png"/><Relationship Id="rId8" Type="http://schemas.openxmlformats.org/officeDocument/2006/relationships/image" Target="../media/image14.png"/><Relationship Id="rId9" Type="http://schemas.openxmlformats.org/officeDocument/2006/relationships/image" Target="../media/image4.png"/><Relationship Id="rId10"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6.png"/><Relationship Id="rId4" Type="http://schemas.openxmlformats.org/officeDocument/2006/relationships/image" Target="../media/image21.png"/><Relationship Id="rId5" Type="http://schemas.openxmlformats.org/officeDocument/2006/relationships/image" Target="../media/image47.png"/><Relationship Id="rId6" Type="http://schemas.openxmlformats.org/officeDocument/2006/relationships/image" Target="../media/image5.png"/><Relationship Id="rId7" Type="http://schemas.openxmlformats.org/officeDocument/2006/relationships/image" Target="../media/image48.png"/><Relationship Id="rId8" Type="http://schemas.openxmlformats.org/officeDocument/2006/relationships/image" Target="../media/image7.png"/><Relationship Id="rId9" Type="http://schemas.openxmlformats.org/officeDocument/2006/relationships/image" Target="../media/image16.png"/><Relationship Id="rId10" Type="http://schemas.openxmlformats.org/officeDocument/2006/relationships/image" Target="../media/image49.png"/><Relationship Id="rId11" Type="http://schemas.openxmlformats.org/officeDocument/2006/relationships/image" Target="../media/image50.png"/><Relationship Id="rId12" Type="http://schemas.openxmlformats.org/officeDocument/2006/relationships/image" Target="../media/image43.png"/><Relationship Id="rId13" Type="http://schemas.openxmlformats.org/officeDocument/2006/relationships/image" Target="../media/image36.png"/><Relationship Id="rId14" Type="http://schemas.openxmlformats.org/officeDocument/2006/relationships/image" Target="../media/image4.png"/><Relationship Id="rId1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13.png"/><Relationship Id="rId4" Type="http://schemas.openxmlformats.org/officeDocument/2006/relationships/image" Target="../media/image20.png"/><Relationship Id="rId5" Type="http://schemas.openxmlformats.org/officeDocument/2006/relationships/image" Target="../media/image21.png"/><Relationship Id="rId6" Type="http://schemas.openxmlformats.org/officeDocument/2006/relationships/image" Target="../media/image51.png"/><Relationship Id="rId7" Type="http://schemas.openxmlformats.org/officeDocument/2006/relationships/image" Target="../media/image45.png"/><Relationship Id="rId8" Type="http://schemas.openxmlformats.org/officeDocument/2006/relationships/image" Target="../media/image6.png"/><Relationship Id="rId9" Type="http://schemas.openxmlformats.org/officeDocument/2006/relationships/image" Target="../media/image52.png"/><Relationship Id="rId10" Type="http://schemas.openxmlformats.org/officeDocument/2006/relationships/image" Target="../media/image53.png"/><Relationship Id="rId11" Type="http://schemas.openxmlformats.org/officeDocument/2006/relationships/image" Target="../media/image4.png"/><Relationship Id="rId1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45.png"/><Relationship Id="rId4" Type="http://schemas.openxmlformats.org/officeDocument/2006/relationships/image" Target="../media/image4.png"/><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png"/><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6.png"/><Relationship Id="rId6" Type="http://schemas.openxmlformats.org/officeDocument/2006/relationships/image" Target="../media/image15.png"/><Relationship Id="rId7" Type="http://schemas.openxmlformats.org/officeDocument/2006/relationships/image" Target="../media/image4.png"/><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png"/><Relationship Id="rId3" Type="http://schemas.openxmlformats.org/officeDocument/2006/relationships/image" Target="../media/image56.png"/><Relationship Id="rId4" Type="http://schemas.openxmlformats.org/officeDocument/2006/relationships/image" Target="../media/image17.png"/><Relationship Id="rId5" Type="http://schemas.openxmlformats.org/officeDocument/2006/relationships/image" Target="../media/image16.png"/><Relationship Id="rId6" Type="http://schemas.openxmlformats.org/officeDocument/2006/relationships/image" Target="../media/image7.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6.png"/><Relationship Id="rId10" Type="http://schemas.openxmlformats.org/officeDocument/2006/relationships/image" Target="../media/image35.png"/><Relationship Id="rId11" Type="http://schemas.openxmlformats.org/officeDocument/2006/relationships/image" Target="../media/image4.png"/><Relationship Id="rId1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image" Target="../media/image59.png"/><Relationship Id="rId4" Type="http://schemas.openxmlformats.org/officeDocument/2006/relationships/image" Target="../media/image44.png"/><Relationship Id="rId5" Type="http://schemas.openxmlformats.org/officeDocument/2006/relationships/image" Target="../media/image58.png"/><Relationship Id="rId6" Type="http://schemas.openxmlformats.org/officeDocument/2006/relationships/image" Target="../media/image45.png"/><Relationship Id="rId7" Type="http://schemas.openxmlformats.org/officeDocument/2006/relationships/image" Target="../media/image7.png"/><Relationship Id="rId8" Type="http://schemas.openxmlformats.org/officeDocument/2006/relationships/image" Target="../media/image48.png"/><Relationship Id="rId9" Type="http://schemas.openxmlformats.org/officeDocument/2006/relationships/image" Target="../media/image10.png"/><Relationship Id="rId10" Type="http://schemas.openxmlformats.org/officeDocument/2006/relationships/image" Target="../media/image8.png"/><Relationship Id="rId11" Type="http://schemas.openxmlformats.org/officeDocument/2006/relationships/image" Target="../media/image60.png"/><Relationship Id="rId12" Type="http://schemas.openxmlformats.org/officeDocument/2006/relationships/image" Target="../media/image61.png"/><Relationship Id="rId13" Type="http://schemas.openxmlformats.org/officeDocument/2006/relationships/image" Target="../media/image5.png"/><Relationship Id="rId14" Type="http://schemas.openxmlformats.org/officeDocument/2006/relationships/image" Target="../media/image4.png"/><Relationship Id="rId1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image" Target="../media/image4.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45.png"/><Relationship Id="rId4" Type="http://schemas.openxmlformats.org/officeDocument/2006/relationships/image" Target="../media/image15.png"/><Relationship Id="rId5" Type="http://schemas.openxmlformats.org/officeDocument/2006/relationships/image" Target="../media/image19.png"/><Relationship Id="rId6" Type="http://schemas.openxmlformats.org/officeDocument/2006/relationships/image" Target="../media/image4.png"/><Relationship Id="rId7"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9.png"/><Relationship Id="rId3" Type="http://schemas.openxmlformats.org/officeDocument/2006/relationships/image" Target="../media/image17.png"/><Relationship Id="rId4" Type="http://schemas.openxmlformats.org/officeDocument/2006/relationships/image" Target="../media/image62.png"/><Relationship Id="rId5" Type="http://schemas.openxmlformats.org/officeDocument/2006/relationships/image" Target="../media/image53.png"/><Relationship Id="rId6" Type="http://schemas.openxmlformats.org/officeDocument/2006/relationships/image" Target="../media/image4.png"/><Relationship Id="rId7"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image" Target="../media/image60.png"/><Relationship Id="rId4" Type="http://schemas.openxmlformats.org/officeDocument/2006/relationships/image" Target="../media/image13.png"/><Relationship Id="rId5" Type="http://schemas.openxmlformats.org/officeDocument/2006/relationships/image" Target="../media/image18.png"/><Relationship Id="rId6" Type="http://schemas.openxmlformats.org/officeDocument/2006/relationships/image" Target="../media/image61.png"/><Relationship Id="rId7" Type="http://schemas.openxmlformats.org/officeDocument/2006/relationships/image" Target="../media/image53.png"/><Relationship Id="rId8" Type="http://schemas.openxmlformats.org/officeDocument/2006/relationships/image" Target="../media/image4.png"/><Relationship Id="rId9"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7635240" y="0"/>
            <a:ext cx="4556455" cy="6858000"/>
          </a:xfrm>
          <a:prstGeom prst="rect">
            <a:avLst/>
          </a:prstGeom>
          <a:solidFill>
            <a:srgbClr val="009343"/>
          </a:solidFill>
          <a:ln>
            <a:noFill/>
          </a:ln>
          <a:effectLst/>
        </p:spPr>
        <p:txBody>
          <a:bodyPr rtlCol="0" anchor="ctr"/>
          <a:lstStyle/>
          <a:p/>
        </p:txBody>
      </p:sp>
      <p:sp>
        <p:nvSpPr>
          <p:cNvPr id="3" name="Rectangle 2"/>
          <p:cNvSpPr/>
          <p:nvPr/>
        </p:nvSpPr>
        <p:spPr>
          <a:xfrm>
            <a:off x="7635240" y="0"/>
            <a:ext cx="82296" cy="6858000"/>
          </a:xfrm>
          <a:prstGeom prst="rect">
            <a:avLst/>
          </a:prstGeom>
          <a:solidFill>
            <a:srgbClr val="E2001A"/>
          </a:solidFill>
          <a:ln>
            <a:noFill/>
          </a:ln>
          <a:effectLst/>
        </p:spPr>
        <p:txBody>
          <a:bodyPr rtlCol="0" anchor="ctr"/>
          <a:lstStyle/>
          <a:p/>
        </p:txBody>
      </p:sp>
      <p:pic>
        <p:nvPicPr>
          <p:cNvPr id="4" name="Picture 3" descr="checkin.png"/>
          <p:cNvPicPr>
            <a:picLocks noChangeAspect="1"/>
          </p:cNvPicPr>
          <p:nvPr/>
        </p:nvPicPr>
        <p:blipFill>
          <a:blip r:embed="rId2"/>
          <a:stretch>
            <a:fillRect/>
          </a:stretch>
        </p:blipFill>
        <p:spPr>
          <a:xfrm>
            <a:off x="6446520" y="960120"/>
            <a:ext cx="2473157" cy="5074920"/>
          </a:xfrm>
          <a:prstGeom prst="rect">
            <a:avLst/>
          </a:prstGeom>
        </p:spPr>
      </p:pic>
      <p:pic>
        <p:nvPicPr>
          <p:cNvPr id="5" name="Picture 4" descr="vaghinak.png"/>
          <p:cNvPicPr>
            <a:picLocks noChangeAspect="1"/>
          </p:cNvPicPr>
          <p:nvPr/>
        </p:nvPicPr>
        <p:blipFill>
          <a:blip r:embed="rId3"/>
          <a:stretch>
            <a:fillRect/>
          </a:stretch>
        </p:blipFill>
        <p:spPr>
          <a:xfrm>
            <a:off x="9646920" y="960120"/>
            <a:ext cx="2473157" cy="5074920"/>
          </a:xfrm>
          <a:prstGeom prst="rect">
            <a:avLst/>
          </a:prstGeom>
        </p:spPr>
      </p:pic>
      <p:pic>
        <p:nvPicPr>
          <p:cNvPr id="6" name="Picture 5" descr="map.png"/>
          <p:cNvPicPr>
            <a:picLocks noChangeAspect="1"/>
          </p:cNvPicPr>
          <p:nvPr/>
        </p:nvPicPr>
        <p:blipFill>
          <a:blip r:embed="rId4"/>
          <a:stretch>
            <a:fillRect/>
          </a:stretch>
        </p:blipFill>
        <p:spPr>
          <a:xfrm>
            <a:off x="8001000" y="502920"/>
            <a:ext cx="2851929" cy="5852160"/>
          </a:xfrm>
          <a:prstGeom prst="rect">
            <a:avLst/>
          </a:prstGeom>
        </p:spPr>
      </p:pic>
      <p:sp>
        <p:nvSpPr>
          <p:cNvPr id="7" name="Rectangle 6"/>
          <p:cNvSpPr/>
          <p:nvPr/>
        </p:nvSpPr>
        <p:spPr>
          <a:xfrm>
            <a:off x="640080" y="1097280"/>
            <a:ext cx="724204" cy="64008"/>
          </a:xfrm>
          <a:prstGeom prst="rect">
            <a:avLst/>
          </a:prstGeom>
          <a:solidFill>
            <a:srgbClr val="009343"/>
          </a:solidFill>
          <a:ln>
            <a:noFill/>
          </a:ln>
          <a:effectLst/>
        </p:spPr>
        <p:txBody>
          <a:bodyPr rtlCol="0" anchor="ctr"/>
          <a:lstStyle/>
          <a:p/>
        </p:txBody>
      </p:sp>
      <p:sp>
        <p:nvSpPr>
          <p:cNvPr id="8" name="Rectangle 7"/>
          <p:cNvSpPr/>
          <p:nvPr/>
        </p:nvSpPr>
        <p:spPr>
          <a:xfrm>
            <a:off x="1364284" y="1097280"/>
            <a:ext cx="281635" cy="64008"/>
          </a:xfrm>
          <a:prstGeom prst="rect">
            <a:avLst/>
          </a:prstGeom>
          <a:solidFill>
            <a:srgbClr val="E2001A"/>
          </a:solidFill>
          <a:ln>
            <a:noFill/>
          </a:ln>
          <a:effectLst/>
        </p:spPr>
        <p:txBody>
          <a:bodyPr rtlCol="0" anchor="ctr"/>
          <a:lstStyle/>
          <a:p/>
        </p:txBody>
      </p:sp>
      <p:sp>
        <p:nvSpPr>
          <p:cNvPr id="9" name="TextBox 8"/>
          <p:cNvSpPr txBox="1"/>
          <p:nvPr/>
        </p:nvSpPr>
        <p:spPr>
          <a:xfrm>
            <a:off x="640080" y="1325880"/>
            <a:ext cx="5943600" cy="320040"/>
          </a:xfrm>
          <a:prstGeom prst="rect">
            <a:avLst/>
          </a:prstGeom>
          <a:noFill/>
        </p:spPr>
        <p:txBody>
          <a:bodyPr wrap="square" lIns="0" rIns="0" tIns="0" bIns="0" anchor="t">
            <a:spAutoFit/>
          </a:bodyPr>
          <a:lstStyle/>
          <a:p>
            <a:pPr algn="l">
              <a:lnSpc>
                <a:spcPct val="100000"/>
              </a:lnSpc>
            </a:pPr>
            <a:r>
              <a:rPr sz="1300" b="1">
                <a:solidFill>
                  <a:srgbClr val="009343"/>
                </a:solidFill>
                <a:latin typeface="Arial"/>
              </a:rPr>
              <a:t>PREPARED FOR CASTROL GLOBAL</a:t>
            </a:r>
          </a:p>
        </p:txBody>
      </p:sp>
      <p:sp>
        <p:nvSpPr>
          <p:cNvPr id="10" name="TextBox 9"/>
          <p:cNvSpPr txBox="1"/>
          <p:nvPr/>
        </p:nvSpPr>
        <p:spPr>
          <a:xfrm>
            <a:off x="640080" y="1737360"/>
            <a:ext cx="6035040" cy="2468880"/>
          </a:xfrm>
          <a:prstGeom prst="rect">
            <a:avLst/>
          </a:prstGeom>
          <a:noFill/>
        </p:spPr>
        <p:txBody>
          <a:bodyPr wrap="square" lIns="0" rIns="0" tIns="0" bIns="0" anchor="t">
            <a:spAutoFit/>
          </a:bodyPr>
          <a:lstStyle/>
          <a:p>
            <a:pPr algn="l">
              <a:lnSpc>
                <a:spcPct val="95000"/>
              </a:lnSpc>
            </a:pPr>
            <a:r>
              <a:rPr sz="4000" b="1">
                <a:solidFill>
                  <a:srgbClr val="23272B"/>
                </a:solidFill>
                <a:latin typeface="Arial"/>
              </a:rPr>
              <a:t>KAD Motors: Digital Sales Platform for Castrol Distribution</a:t>
            </a:r>
          </a:p>
        </p:txBody>
      </p:sp>
      <p:sp>
        <p:nvSpPr>
          <p:cNvPr id="11" name="TextBox 10"/>
          <p:cNvSpPr txBox="1"/>
          <p:nvPr/>
        </p:nvSpPr>
        <p:spPr>
          <a:xfrm>
            <a:off x="640080" y="4069080"/>
            <a:ext cx="5943600" cy="822960"/>
          </a:xfrm>
          <a:prstGeom prst="rect">
            <a:avLst/>
          </a:prstGeom>
          <a:noFill/>
        </p:spPr>
        <p:txBody>
          <a:bodyPr wrap="square" lIns="0" rIns="0" tIns="0" bIns="0" anchor="t">
            <a:spAutoFit/>
          </a:bodyPr>
          <a:lstStyle/>
          <a:p>
            <a:pPr algn="l">
              <a:lnSpc>
                <a:spcPct val="100000"/>
              </a:lnSpc>
            </a:pPr>
            <a:r>
              <a:rPr sz="1800" b="0">
                <a:solidFill>
                  <a:srgbClr val="5F6670"/>
                </a:solidFill>
                <a:latin typeface="Arial"/>
              </a:rPr>
              <a:t>Field app · AI deputy director · CEO bot</a:t>
            </a:r>
          </a:p>
          <a:p>
            <a:pPr algn="l">
              <a:lnSpc>
                <a:spcPct val="100000"/>
              </a:lnSpc>
              <a:spcBef>
                <a:spcPts val="400"/>
              </a:spcBef>
            </a:pPr>
            <a:r>
              <a:rPr sz="1800" b="0">
                <a:solidFill>
                  <a:srgbClr val="5F6670"/>
                </a:solidFill>
                <a:latin typeface="Arial"/>
              </a:rPr>
              <a:t>Yerevan, Armenia · October 2026</a:t>
            </a:r>
          </a:p>
        </p:txBody>
      </p:sp>
      <p:pic>
        <p:nvPicPr>
          <p:cNvPr id="12" name="Picture 11" descr="kad-wordmark.png"/>
          <p:cNvPicPr>
            <a:picLocks noChangeAspect="1"/>
          </p:cNvPicPr>
          <p:nvPr/>
        </p:nvPicPr>
        <p:blipFill>
          <a:blip r:embed="rId5"/>
          <a:stretch>
            <a:fillRect/>
          </a:stretch>
        </p:blipFill>
        <p:spPr>
          <a:xfrm>
            <a:off x="640080" y="5440680"/>
            <a:ext cx="1786187" cy="365760"/>
          </a:xfrm>
          <a:prstGeom prst="rect">
            <a:avLst/>
          </a:prstGeom>
        </p:spPr>
      </p:pic>
      <p:sp>
        <p:nvSpPr>
          <p:cNvPr id="13" name="Rounded Rectangle 12"/>
          <p:cNvSpPr/>
          <p:nvPr/>
        </p:nvSpPr>
        <p:spPr>
          <a:xfrm>
            <a:off x="2514600" y="5212080"/>
            <a:ext cx="2194560" cy="822960"/>
          </a:xfrm>
          <a:prstGeom prst="roundRect">
            <a:avLst>
              <a:gd name="adj" fmla="val 8888"/>
            </a:avLst>
          </a:prstGeom>
          <a:noFill/>
          <a:ln w="15875">
            <a:solidFill>
              <a:srgbClr val="5F6670"/>
            </a:solidFill>
            <a:prstDash val="dash"/>
          </a:ln>
          <a:effectLst/>
        </p:spPr>
        <p:txBody>
          <a:bodyPr rtlCol="0" anchor="ctr"/>
          <a:lstStyle/>
          <a:p/>
        </p:txBody>
      </p:sp>
      <p:sp>
        <p:nvSpPr>
          <p:cNvPr id="14" name="TextBox 13"/>
          <p:cNvSpPr txBox="1"/>
          <p:nvPr/>
        </p:nvSpPr>
        <p:spPr>
          <a:xfrm>
            <a:off x="2514600" y="5212080"/>
            <a:ext cx="2194560" cy="822960"/>
          </a:xfrm>
          <a:prstGeom prst="rect">
            <a:avLst/>
          </a:prstGeom>
          <a:noFill/>
        </p:spPr>
        <p:txBody>
          <a:bodyPr wrap="square" lIns="0" rIns="0" tIns="0" bIns="0" anchor="ctr">
            <a:spAutoFit/>
          </a:bodyPr>
          <a:lstStyle/>
          <a:p>
            <a:pPr algn="ctr">
              <a:lnSpc>
                <a:spcPct val="100000"/>
              </a:lnSpc>
            </a:pPr>
            <a:r>
              <a:rPr sz="1100" b="1">
                <a:solidFill>
                  <a:srgbClr val="5F6670"/>
                </a:solidFill>
                <a:latin typeface="Arial"/>
              </a:rPr>
              <a:t>CASTROL LOGO</a:t>
            </a:r>
          </a:p>
          <a:p>
            <a:pPr algn="ctr">
              <a:lnSpc>
                <a:spcPct val="100000"/>
              </a:lnSpc>
            </a:pPr>
            <a:r>
              <a:rPr sz="900" b="0">
                <a:solidFill>
                  <a:srgbClr val="5F6670"/>
                </a:solidFill>
                <a:latin typeface="Arial"/>
              </a:rPr>
              <a:t>place official asset here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347472"/>
            <a:ext cx="592531" cy="64008"/>
          </a:xfrm>
          <a:prstGeom prst="rect">
            <a:avLst/>
          </a:prstGeom>
          <a:solidFill>
            <a:srgbClr val="009343"/>
          </a:solidFill>
          <a:ln>
            <a:noFill/>
          </a:ln>
          <a:effectLst/>
        </p:spPr>
        <p:txBody>
          <a:bodyPr rtlCol="0" anchor="ctr"/>
          <a:lstStyle/>
          <a:p/>
        </p:txBody>
      </p:sp>
      <p:sp>
        <p:nvSpPr>
          <p:cNvPr id="3" name="Rectangle 2"/>
          <p:cNvSpPr/>
          <p:nvPr/>
        </p:nvSpPr>
        <p:spPr>
          <a:xfrm>
            <a:off x="1141171" y="347472"/>
            <a:ext cx="230428" cy="64008"/>
          </a:xfrm>
          <a:prstGeom prst="rect">
            <a:avLst/>
          </a:prstGeom>
          <a:solidFill>
            <a:srgbClr val="E2001A"/>
          </a:solidFill>
          <a:ln>
            <a:noFill/>
          </a:ln>
          <a:effectLst/>
        </p:spPr>
        <p:txBody>
          <a:bodyPr rtlCol="0" anchor="ctr"/>
          <a:lstStyle/>
          <a:p/>
        </p:txBody>
      </p:sp>
      <p:sp>
        <p:nvSpPr>
          <p:cNvPr id="4" name="TextBox 3"/>
          <p:cNvSpPr txBox="1"/>
          <p:nvPr/>
        </p:nvSpPr>
        <p:spPr>
          <a:xfrm>
            <a:off x="548640" y="502920"/>
            <a:ext cx="9144000" cy="274320"/>
          </a:xfrm>
          <a:prstGeom prst="rect">
            <a:avLst/>
          </a:prstGeom>
          <a:noFill/>
        </p:spPr>
        <p:txBody>
          <a:bodyPr wrap="square" lIns="0" rIns="0" tIns="0" bIns="0" anchor="t">
            <a:spAutoFit/>
          </a:bodyPr>
          <a:lstStyle/>
          <a:p>
            <a:pPr algn="l">
              <a:lnSpc>
                <a:spcPct val="100000"/>
              </a:lnSpc>
            </a:pPr>
            <a:r>
              <a:rPr sz="1200" b="1">
                <a:solidFill>
                  <a:srgbClr val="009343"/>
                </a:solidFill>
                <a:latin typeface="Arial"/>
              </a:rPr>
              <a:t>KAD MOTORS AT A GLANCE</a:t>
            </a:r>
          </a:p>
        </p:txBody>
      </p:sp>
      <p:sp>
        <p:nvSpPr>
          <p:cNvPr id="5" name="TextBox 4"/>
          <p:cNvSpPr txBox="1"/>
          <p:nvPr/>
        </p:nvSpPr>
        <p:spPr>
          <a:xfrm>
            <a:off x="548640" y="777240"/>
            <a:ext cx="11064240" cy="914400"/>
          </a:xfrm>
          <a:prstGeom prst="rect">
            <a:avLst/>
          </a:prstGeom>
          <a:noFill/>
        </p:spPr>
        <p:txBody>
          <a:bodyPr wrap="square" lIns="0" rIns="0" tIns="0" bIns="0" anchor="t">
            <a:spAutoFit/>
          </a:bodyPr>
          <a:lstStyle/>
          <a:p>
            <a:pPr algn="l">
              <a:lnSpc>
                <a:spcPct val="95000"/>
              </a:lnSpc>
            </a:pPr>
            <a:r>
              <a:rPr sz="3000" b="1">
                <a:solidFill>
                  <a:srgbClr val="23272B"/>
                </a:solidFill>
                <a:latin typeface="Arial"/>
              </a:rPr>
              <a:t>A Castrol distributor with one goal: No. 1 in Armenia</a:t>
            </a:r>
          </a:p>
        </p:txBody>
      </p:sp>
      <p:sp>
        <p:nvSpPr>
          <p:cNvPr id="6" name="Rounded Rectangle 5"/>
          <p:cNvSpPr/>
          <p:nvPr/>
        </p:nvSpPr>
        <p:spPr>
          <a:xfrm>
            <a:off x="548640" y="1828800"/>
            <a:ext cx="1920240" cy="1874519"/>
          </a:xfrm>
          <a:prstGeom prst="roundRect">
            <a:avLst>
              <a:gd name="adj" fmla="val 5853"/>
            </a:avLst>
          </a:prstGeom>
          <a:solidFill>
            <a:srgbClr val="F4F5F6"/>
          </a:solidFill>
          <a:ln>
            <a:noFill/>
          </a:ln>
          <a:effectLst/>
        </p:spPr>
        <p:txBody>
          <a:bodyPr rtlCol="0" anchor="ctr"/>
          <a:lstStyle/>
          <a:p/>
        </p:txBody>
      </p:sp>
      <p:sp>
        <p:nvSpPr>
          <p:cNvPr id="7" name="Oval 6"/>
          <p:cNvSpPr/>
          <p:nvPr/>
        </p:nvSpPr>
        <p:spPr>
          <a:xfrm>
            <a:off x="749808" y="2029968"/>
            <a:ext cx="685800" cy="685800"/>
          </a:xfrm>
          <a:prstGeom prst="ellipse">
            <a:avLst/>
          </a:prstGeom>
          <a:solidFill>
            <a:srgbClr val="E6F4EC"/>
          </a:solidFill>
          <a:ln>
            <a:noFill/>
          </a:ln>
          <a:effectLst/>
        </p:spPr>
        <p:txBody>
          <a:bodyPr rtlCol="0" anchor="ctr"/>
          <a:lstStyle/>
          <a:p>
            <a:pPr algn="ctr"/>
          </a:p>
        </p:txBody>
      </p:sp>
      <p:pic>
        <p:nvPicPr>
          <p:cNvPr id="8" name="Picture 7" descr="store_g.png"/>
          <p:cNvPicPr>
            <a:picLocks noChangeAspect="1"/>
          </p:cNvPicPr>
          <p:nvPr/>
        </p:nvPicPr>
        <p:blipFill>
          <a:blip r:embed="rId2"/>
          <a:stretch>
            <a:fillRect/>
          </a:stretch>
        </p:blipFill>
        <p:spPr>
          <a:xfrm>
            <a:off x="900683" y="2180844"/>
            <a:ext cx="384048" cy="384048"/>
          </a:xfrm>
          <a:prstGeom prst="rect">
            <a:avLst/>
          </a:prstGeom>
        </p:spPr>
      </p:pic>
      <p:sp>
        <p:nvSpPr>
          <p:cNvPr id="9" name="TextBox 8"/>
          <p:cNvSpPr txBox="1"/>
          <p:nvPr/>
        </p:nvSpPr>
        <p:spPr>
          <a:xfrm>
            <a:off x="749808" y="2852928"/>
            <a:ext cx="1600200" cy="822960"/>
          </a:xfrm>
          <a:prstGeom prst="rect">
            <a:avLst/>
          </a:prstGeom>
          <a:noFill/>
        </p:spPr>
        <p:txBody>
          <a:bodyPr wrap="square" lIns="0" rIns="0" tIns="0" bIns="0" anchor="t">
            <a:spAutoFit/>
          </a:bodyPr>
          <a:lstStyle/>
          <a:p>
            <a:pPr algn="l">
              <a:lnSpc>
                <a:spcPct val="100000"/>
              </a:lnSpc>
            </a:pPr>
            <a:r>
              <a:rPr sz="1350" b="1">
                <a:solidFill>
                  <a:srgbClr val="23272B"/>
                </a:solidFill>
                <a:latin typeface="Arial"/>
              </a:rPr>
              <a:t>Castrol distributor in Armenia</a:t>
            </a:r>
          </a:p>
        </p:txBody>
      </p:sp>
      <p:sp>
        <p:nvSpPr>
          <p:cNvPr id="10" name="Rounded Rectangle 9"/>
          <p:cNvSpPr/>
          <p:nvPr/>
        </p:nvSpPr>
        <p:spPr>
          <a:xfrm>
            <a:off x="2624328" y="1828800"/>
            <a:ext cx="1920240" cy="1874519"/>
          </a:xfrm>
          <a:prstGeom prst="roundRect">
            <a:avLst>
              <a:gd name="adj" fmla="val 5853"/>
            </a:avLst>
          </a:prstGeom>
          <a:solidFill>
            <a:srgbClr val="F4F5F6"/>
          </a:solidFill>
          <a:ln>
            <a:noFill/>
          </a:ln>
          <a:effectLst/>
        </p:spPr>
        <p:txBody>
          <a:bodyPr rtlCol="0" anchor="ctr"/>
          <a:lstStyle/>
          <a:p/>
        </p:txBody>
      </p:sp>
      <p:sp>
        <p:nvSpPr>
          <p:cNvPr id="11" name="Oval 10"/>
          <p:cNvSpPr/>
          <p:nvPr/>
        </p:nvSpPr>
        <p:spPr>
          <a:xfrm>
            <a:off x="2825496" y="2029968"/>
            <a:ext cx="685800" cy="685800"/>
          </a:xfrm>
          <a:prstGeom prst="ellipse">
            <a:avLst/>
          </a:prstGeom>
          <a:solidFill>
            <a:srgbClr val="E6F4EC"/>
          </a:solidFill>
          <a:ln>
            <a:noFill/>
          </a:ln>
          <a:effectLst/>
        </p:spPr>
        <p:txBody>
          <a:bodyPr rtlCol="0" anchor="ctr"/>
          <a:lstStyle/>
          <a:p>
            <a:pPr algn="ctr"/>
          </a:p>
        </p:txBody>
      </p:sp>
      <p:pic>
        <p:nvPicPr>
          <p:cNvPr id="12" name="Picture 11" descr="team_g.png"/>
          <p:cNvPicPr>
            <a:picLocks noChangeAspect="1"/>
          </p:cNvPicPr>
          <p:nvPr/>
        </p:nvPicPr>
        <p:blipFill>
          <a:blip r:embed="rId3"/>
          <a:stretch>
            <a:fillRect/>
          </a:stretch>
        </p:blipFill>
        <p:spPr>
          <a:xfrm>
            <a:off x="2976372" y="2180844"/>
            <a:ext cx="384048" cy="384048"/>
          </a:xfrm>
          <a:prstGeom prst="rect">
            <a:avLst/>
          </a:prstGeom>
        </p:spPr>
      </p:pic>
      <p:sp>
        <p:nvSpPr>
          <p:cNvPr id="13" name="TextBox 12"/>
          <p:cNvSpPr txBox="1"/>
          <p:nvPr/>
        </p:nvSpPr>
        <p:spPr>
          <a:xfrm>
            <a:off x="2825496" y="2852928"/>
            <a:ext cx="1600200" cy="822960"/>
          </a:xfrm>
          <a:prstGeom prst="rect">
            <a:avLst/>
          </a:prstGeom>
          <a:noFill/>
        </p:spPr>
        <p:txBody>
          <a:bodyPr wrap="square" lIns="0" rIns="0" tIns="0" bIns="0" anchor="t">
            <a:spAutoFit/>
          </a:bodyPr>
          <a:lstStyle/>
          <a:p>
            <a:pPr algn="l">
              <a:lnSpc>
                <a:spcPct val="100000"/>
              </a:lnSpc>
            </a:pPr>
            <a:r>
              <a:rPr sz="1350" b="1">
                <a:solidFill>
                  <a:srgbClr val="23272B"/>
                </a:solidFill>
                <a:latin typeface="Arial"/>
              </a:rPr>
              <a:t>Field, warehouse and finance teams</a:t>
            </a:r>
          </a:p>
        </p:txBody>
      </p:sp>
      <p:sp>
        <p:nvSpPr>
          <p:cNvPr id="14" name="Rounded Rectangle 13"/>
          <p:cNvSpPr/>
          <p:nvPr/>
        </p:nvSpPr>
        <p:spPr>
          <a:xfrm>
            <a:off x="4700016" y="1828800"/>
            <a:ext cx="1920240" cy="1874519"/>
          </a:xfrm>
          <a:prstGeom prst="roundRect">
            <a:avLst>
              <a:gd name="adj" fmla="val 5853"/>
            </a:avLst>
          </a:prstGeom>
          <a:solidFill>
            <a:srgbClr val="F4F5F6"/>
          </a:solidFill>
          <a:ln>
            <a:noFill/>
          </a:ln>
          <a:effectLst/>
        </p:spPr>
        <p:txBody>
          <a:bodyPr rtlCol="0" anchor="ctr"/>
          <a:lstStyle/>
          <a:p/>
        </p:txBody>
      </p:sp>
      <p:sp>
        <p:nvSpPr>
          <p:cNvPr id="15" name="Oval 14"/>
          <p:cNvSpPr/>
          <p:nvPr/>
        </p:nvSpPr>
        <p:spPr>
          <a:xfrm>
            <a:off x="4901183" y="2029968"/>
            <a:ext cx="685800" cy="685800"/>
          </a:xfrm>
          <a:prstGeom prst="ellipse">
            <a:avLst/>
          </a:prstGeom>
          <a:solidFill>
            <a:srgbClr val="E6F4EC"/>
          </a:solidFill>
          <a:ln>
            <a:noFill/>
          </a:ln>
          <a:effectLst/>
        </p:spPr>
        <p:txBody>
          <a:bodyPr rtlCol="0" anchor="ctr"/>
          <a:lstStyle/>
          <a:p>
            <a:pPr algn="ctr"/>
          </a:p>
        </p:txBody>
      </p:sp>
      <p:pic>
        <p:nvPicPr>
          <p:cNvPr id="16" name="Picture 15" descr="mapPinCheck_g.png"/>
          <p:cNvPicPr>
            <a:picLocks noChangeAspect="1"/>
          </p:cNvPicPr>
          <p:nvPr/>
        </p:nvPicPr>
        <p:blipFill>
          <a:blip r:embed="rId4"/>
          <a:stretch>
            <a:fillRect/>
          </a:stretch>
        </p:blipFill>
        <p:spPr>
          <a:xfrm>
            <a:off x="5052059" y="2180844"/>
            <a:ext cx="384048" cy="384048"/>
          </a:xfrm>
          <a:prstGeom prst="rect">
            <a:avLst/>
          </a:prstGeom>
        </p:spPr>
      </p:pic>
      <p:sp>
        <p:nvSpPr>
          <p:cNvPr id="17" name="TextBox 16"/>
          <p:cNvSpPr txBox="1"/>
          <p:nvPr/>
        </p:nvSpPr>
        <p:spPr>
          <a:xfrm>
            <a:off x="4901183" y="2852928"/>
            <a:ext cx="1600200" cy="822960"/>
          </a:xfrm>
          <a:prstGeom prst="rect">
            <a:avLst/>
          </a:prstGeom>
          <a:noFill/>
        </p:spPr>
        <p:txBody>
          <a:bodyPr wrap="square" lIns="0" rIns="0" tIns="0" bIns="0" anchor="t">
            <a:spAutoFit/>
          </a:bodyPr>
          <a:lstStyle/>
          <a:p>
            <a:pPr algn="l">
              <a:lnSpc>
                <a:spcPct val="100000"/>
              </a:lnSpc>
            </a:pPr>
            <a:r>
              <a:rPr sz="1350" b="1">
                <a:solidFill>
                  <a:srgbClr val="23272B"/>
                </a:solidFill>
                <a:latin typeface="Arial"/>
              </a:rPr>
              <a:t>Customers across Armenia's regions</a:t>
            </a:r>
          </a:p>
        </p:txBody>
      </p:sp>
      <p:sp>
        <p:nvSpPr>
          <p:cNvPr id="18" name="TextBox 17"/>
          <p:cNvSpPr txBox="1"/>
          <p:nvPr/>
        </p:nvSpPr>
        <p:spPr>
          <a:xfrm>
            <a:off x="548640" y="4069080"/>
            <a:ext cx="6035040" cy="274320"/>
          </a:xfrm>
          <a:prstGeom prst="rect">
            <a:avLst/>
          </a:prstGeom>
          <a:noFill/>
        </p:spPr>
        <p:txBody>
          <a:bodyPr wrap="square" lIns="0" rIns="0" tIns="0" bIns="0" anchor="t">
            <a:spAutoFit/>
          </a:bodyPr>
          <a:lstStyle/>
          <a:p>
            <a:pPr algn="l">
              <a:lnSpc>
                <a:spcPct val="100000"/>
              </a:lnSpc>
            </a:pPr>
            <a:r>
              <a:rPr sz="1200" b="1">
                <a:solidFill>
                  <a:srgbClr val="5F6670"/>
                </a:solidFill>
                <a:latin typeface="Arial"/>
              </a:rPr>
              <a:t>WHO WE SERVE</a:t>
            </a:r>
          </a:p>
        </p:txBody>
      </p:sp>
      <p:sp>
        <p:nvSpPr>
          <p:cNvPr id="19" name="Oval 18"/>
          <p:cNvSpPr/>
          <p:nvPr/>
        </p:nvSpPr>
        <p:spPr>
          <a:xfrm>
            <a:off x="896112" y="4480560"/>
            <a:ext cx="713232" cy="713232"/>
          </a:xfrm>
          <a:prstGeom prst="ellipse">
            <a:avLst/>
          </a:prstGeom>
          <a:solidFill>
            <a:srgbClr val="E6F4EC"/>
          </a:solidFill>
          <a:ln>
            <a:noFill/>
          </a:ln>
          <a:effectLst/>
        </p:spPr>
        <p:txBody>
          <a:bodyPr rtlCol="0" anchor="ctr"/>
          <a:lstStyle/>
          <a:p>
            <a:pPr algn="ctr"/>
          </a:p>
        </p:txBody>
      </p:sp>
      <p:pic>
        <p:nvPicPr>
          <p:cNvPr id="20" name="Picture 19" descr="gauge_g.png"/>
          <p:cNvPicPr>
            <a:picLocks noChangeAspect="1"/>
          </p:cNvPicPr>
          <p:nvPr/>
        </p:nvPicPr>
        <p:blipFill>
          <a:blip r:embed="rId5"/>
          <a:stretch>
            <a:fillRect/>
          </a:stretch>
        </p:blipFill>
        <p:spPr>
          <a:xfrm>
            <a:off x="1053023" y="4637471"/>
            <a:ext cx="399409" cy="399409"/>
          </a:xfrm>
          <a:prstGeom prst="rect">
            <a:avLst/>
          </a:prstGeom>
        </p:spPr>
      </p:pic>
      <p:sp>
        <p:nvSpPr>
          <p:cNvPr id="21" name="TextBox 20"/>
          <p:cNvSpPr txBox="1"/>
          <p:nvPr/>
        </p:nvSpPr>
        <p:spPr>
          <a:xfrm>
            <a:off x="548640" y="5285232"/>
            <a:ext cx="1417320" cy="548640"/>
          </a:xfrm>
          <a:prstGeom prst="rect">
            <a:avLst/>
          </a:prstGeom>
          <a:noFill/>
        </p:spPr>
        <p:txBody>
          <a:bodyPr wrap="square" lIns="0" rIns="0" tIns="0" bIns="0" anchor="t">
            <a:spAutoFit/>
          </a:bodyPr>
          <a:lstStyle/>
          <a:p>
            <a:pPr algn="ctr">
              <a:lnSpc>
                <a:spcPct val="100000"/>
              </a:lnSpc>
            </a:pPr>
            <a:r>
              <a:rPr sz="1250" b="0">
                <a:solidFill>
                  <a:srgbClr val="23272B"/>
                </a:solidFill>
                <a:latin typeface="Arial"/>
              </a:rPr>
              <a:t>Workshops &amp; garages</a:t>
            </a:r>
          </a:p>
        </p:txBody>
      </p:sp>
      <p:sp>
        <p:nvSpPr>
          <p:cNvPr id="22" name="Oval 21"/>
          <p:cNvSpPr/>
          <p:nvPr/>
        </p:nvSpPr>
        <p:spPr>
          <a:xfrm>
            <a:off x="2450591" y="4480560"/>
            <a:ext cx="713232" cy="713232"/>
          </a:xfrm>
          <a:prstGeom prst="ellipse">
            <a:avLst/>
          </a:prstGeom>
          <a:solidFill>
            <a:srgbClr val="E6F4EC"/>
          </a:solidFill>
          <a:ln>
            <a:noFill/>
          </a:ln>
          <a:effectLst/>
        </p:spPr>
        <p:txBody>
          <a:bodyPr rtlCol="0" anchor="ctr"/>
          <a:lstStyle/>
          <a:p>
            <a:pPr algn="ctr"/>
          </a:p>
        </p:txBody>
      </p:sp>
      <p:pic>
        <p:nvPicPr>
          <p:cNvPr id="23" name="Picture 22" descr="repeat_g.png"/>
          <p:cNvPicPr>
            <a:picLocks noChangeAspect="1"/>
          </p:cNvPicPr>
          <p:nvPr/>
        </p:nvPicPr>
        <p:blipFill>
          <a:blip r:embed="rId6"/>
          <a:stretch>
            <a:fillRect/>
          </a:stretch>
        </p:blipFill>
        <p:spPr>
          <a:xfrm>
            <a:off x="2607503" y="4637471"/>
            <a:ext cx="399409" cy="399409"/>
          </a:xfrm>
          <a:prstGeom prst="rect">
            <a:avLst/>
          </a:prstGeom>
        </p:spPr>
      </p:pic>
      <p:sp>
        <p:nvSpPr>
          <p:cNvPr id="24" name="TextBox 23"/>
          <p:cNvSpPr txBox="1"/>
          <p:nvPr/>
        </p:nvSpPr>
        <p:spPr>
          <a:xfrm>
            <a:off x="2103120" y="5285232"/>
            <a:ext cx="1417320" cy="548640"/>
          </a:xfrm>
          <a:prstGeom prst="rect">
            <a:avLst/>
          </a:prstGeom>
          <a:noFill/>
        </p:spPr>
        <p:txBody>
          <a:bodyPr wrap="square" lIns="0" rIns="0" tIns="0" bIns="0" anchor="t">
            <a:spAutoFit/>
          </a:bodyPr>
          <a:lstStyle/>
          <a:p>
            <a:pPr algn="ctr">
              <a:lnSpc>
                <a:spcPct val="100000"/>
              </a:lnSpc>
            </a:pPr>
            <a:r>
              <a:rPr sz="1250" b="0">
                <a:solidFill>
                  <a:srgbClr val="23272B"/>
                </a:solidFill>
                <a:latin typeface="Arial"/>
              </a:rPr>
              <a:t>Oil-change points</a:t>
            </a:r>
          </a:p>
        </p:txBody>
      </p:sp>
      <p:sp>
        <p:nvSpPr>
          <p:cNvPr id="25" name="Oval 24"/>
          <p:cNvSpPr/>
          <p:nvPr/>
        </p:nvSpPr>
        <p:spPr>
          <a:xfrm>
            <a:off x="4005072" y="4480560"/>
            <a:ext cx="713232" cy="713232"/>
          </a:xfrm>
          <a:prstGeom prst="ellipse">
            <a:avLst/>
          </a:prstGeom>
          <a:solidFill>
            <a:srgbClr val="E6F4EC"/>
          </a:solidFill>
          <a:ln>
            <a:noFill/>
          </a:ln>
          <a:effectLst/>
        </p:spPr>
        <p:txBody>
          <a:bodyPr rtlCol="0" anchor="ctr"/>
          <a:lstStyle/>
          <a:p>
            <a:pPr algn="ctr"/>
          </a:p>
        </p:txBody>
      </p:sp>
      <p:pic>
        <p:nvPicPr>
          <p:cNvPr id="26" name="Picture 25" descr="store_g.png"/>
          <p:cNvPicPr>
            <a:picLocks noChangeAspect="1"/>
          </p:cNvPicPr>
          <p:nvPr/>
        </p:nvPicPr>
        <p:blipFill>
          <a:blip r:embed="rId2"/>
          <a:stretch>
            <a:fillRect/>
          </a:stretch>
        </p:blipFill>
        <p:spPr>
          <a:xfrm>
            <a:off x="4161983" y="4637471"/>
            <a:ext cx="399409" cy="399409"/>
          </a:xfrm>
          <a:prstGeom prst="rect">
            <a:avLst/>
          </a:prstGeom>
        </p:spPr>
      </p:pic>
      <p:sp>
        <p:nvSpPr>
          <p:cNvPr id="27" name="TextBox 26"/>
          <p:cNvSpPr txBox="1"/>
          <p:nvPr/>
        </p:nvSpPr>
        <p:spPr>
          <a:xfrm>
            <a:off x="3657600" y="5285232"/>
            <a:ext cx="1417320" cy="548640"/>
          </a:xfrm>
          <a:prstGeom prst="rect">
            <a:avLst/>
          </a:prstGeom>
          <a:noFill/>
        </p:spPr>
        <p:txBody>
          <a:bodyPr wrap="square" lIns="0" rIns="0" tIns="0" bIns="0" anchor="t">
            <a:spAutoFit/>
          </a:bodyPr>
          <a:lstStyle/>
          <a:p>
            <a:pPr algn="ctr">
              <a:lnSpc>
                <a:spcPct val="100000"/>
              </a:lnSpc>
            </a:pPr>
            <a:r>
              <a:rPr sz="1250" b="0">
                <a:solidFill>
                  <a:srgbClr val="23272B"/>
                </a:solidFill>
                <a:latin typeface="Arial"/>
              </a:rPr>
              <a:t>Auto-parts shops</a:t>
            </a:r>
          </a:p>
        </p:txBody>
      </p:sp>
      <p:sp>
        <p:nvSpPr>
          <p:cNvPr id="28" name="Oval 27"/>
          <p:cNvSpPr/>
          <p:nvPr/>
        </p:nvSpPr>
        <p:spPr>
          <a:xfrm>
            <a:off x="5559551" y="4480560"/>
            <a:ext cx="713232" cy="713232"/>
          </a:xfrm>
          <a:prstGeom prst="ellipse">
            <a:avLst/>
          </a:prstGeom>
          <a:solidFill>
            <a:srgbClr val="E6F4EC"/>
          </a:solidFill>
          <a:ln>
            <a:noFill/>
          </a:ln>
          <a:effectLst/>
        </p:spPr>
        <p:txBody>
          <a:bodyPr rtlCol="0" anchor="ctr"/>
          <a:lstStyle/>
          <a:p>
            <a:pPr algn="ctr"/>
          </a:p>
        </p:txBody>
      </p:sp>
      <p:pic>
        <p:nvPicPr>
          <p:cNvPr id="29" name="Picture 28" descr="truck_g.png"/>
          <p:cNvPicPr>
            <a:picLocks noChangeAspect="1"/>
          </p:cNvPicPr>
          <p:nvPr/>
        </p:nvPicPr>
        <p:blipFill>
          <a:blip r:embed="rId7"/>
          <a:stretch>
            <a:fillRect/>
          </a:stretch>
        </p:blipFill>
        <p:spPr>
          <a:xfrm>
            <a:off x="5716463" y="4637471"/>
            <a:ext cx="399409" cy="399409"/>
          </a:xfrm>
          <a:prstGeom prst="rect">
            <a:avLst/>
          </a:prstGeom>
        </p:spPr>
      </p:pic>
      <p:sp>
        <p:nvSpPr>
          <p:cNvPr id="30" name="TextBox 29"/>
          <p:cNvSpPr txBox="1"/>
          <p:nvPr/>
        </p:nvSpPr>
        <p:spPr>
          <a:xfrm>
            <a:off x="5212079" y="5285232"/>
            <a:ext cx="1417320" cy="548640"/>
          </a:xfrm>
          <a:prstGeom prst="rect">
            <a:avLst/>
          </a:prstGeom>
          <a:noFill/>
        </p:spPr>
        <p:txBody>
          <a:bodyPr wrap="square" lIns="0" rIns="0" tIns="0" bIns="0" anchor="t">
            <a:spAutoFit/>
          </a:bodyPr>
          <a:lstStyle/>
          <a:p>
            <a:pPr algn="ctr">
              <a:lnSpc>
                <a:spcPct val="100000"/>
              </a:lnSpc>
            </a:pPr>
            <a:r>
              <a:rPr sz="1250" b="0">
                <a:solidFill>
                  <a:srgbClr val="23272B"/>
                </a:solidFill>
                <a:latin typeface="Arial"/>
              </a:rPr>
              <a:t>Fleets &amp; car dealers</a:t>
            </a:r>
          </a:p>
        </p:txBody>
      </p:sp>
      <p:sp>
        <p:nvSpPr>
          <p:cNvPr id="31" name="Rounded Rectangle 30"/>
          <p:cNvSpPr/>
          <p:nvPr/>
        </p:nvSpPr>
        <p:spPr>
          <a:xfrm>
            <a:off x="6995160" y="1828800"/>
            <a:ext cx="4645152" cy="4114800"/>
          </a:xfrm>
          <a:prstGeom prst="roundRect">
            <a:avLst>
              <a:gd name="adj" fmla="val 4000"/>
            </a:avLst>
          </a:prstGeom>
          <a:solidFill>
            <a:srgbClr val="009343"/>
          </a:solidFill>
          <a:ln>
            <a:noFill/>
          </a:ln>
          <a:effectLst/>
        </p:spPr>
        <p:txBody>
          <a:bodyPr rtlCol="0" anchor="ctr"/>
          <a:lstStyle/>
          <a:p/>
        </p:txBody>
      </p:sp>
      <p:sp>
        <p:nvSpPr>
          <p:cNvPr id="32" name="TextBox 31"/>
          <p:cNvSpPr txBox="1"/>
          <p:nvPr/>
        </p:nvSpPr>
        <p:spPr>
          <a:xfrm>
            <a:off x="7360920" y="2103120"/>
            <a:ext cx="4023360" cy="274320"/>
          </a:xfrm>
          <a:prstGeom prst="rect">
            <a:avLst/>
          </a:prstGeom>
          <a:noFill/>
        </p:spPr>
        <p:txBody>
          <a:bodyPr wrap="square" lIns="0" rIns="0" tIns="0" bIns="0" anchor="t">
            <a:spAutoFit/>
          </a:bodyPr>
          <a:lstStyle/>
          <a:p>
            <a:pPr algn="l">
              <a:lnSpc>
                <a:spcPct val="100000"/>
              </a:lnSpc>
            </a:pPr>
            <a:r>
              <a:rPr sz="1200" b="1">
                <a:solidFill>
                  <a:srgbClr val="FFFFFF"/>
                </a:solidFill>
                <a:latin typeface="Arial"/>
              </a:rPr>
              <a:t>OUR GOAL</a:t>
            </a:r>
          </a:p>
        </p:txBody>
      </p:sp>
      <p:sp>
        <p:nvSpPr>
          <p:cNvPr id="33" name="TextBox 32"/>
          <p:cNvSpPr txBox="1"/>
          <p:nvPr/>
        </p:nvSpPr>
        <p:spPr>
          <a:xfrm>
            <a:off x="7360920" y="2423160"/>
            <a:ext cx="4023360" cy="914400"/>
          </a:xfrm>
          <a:prstGeom prst="rect">
            <a:avLst/>
          </a:prstGeom>
          <a:noFill/>
        </p:spPr>
        <p:txBody>
          <a:bodyPr wrap="square" lIns="0" rIns="0" tIns="0" bIns="0" anchor="t">
            <a:spAutoFit/>
          </a:bodyPr>
          <a:lstStyle/>
          <a:p>
            <a:pPr algn="l">
              <a:lnSpc>
                <a:spcPct val="95000"/>
              </a:lnSpc>
            </a:pPr>
            <a:r>
              <a:rPr sz="2600" b="1">
                <a:solidFill>
                  <a:srgbClr val="FFFFFF"/>
                </a:solidFill>
                <a:latin typeface="Arial"/>
              </a:rPr>
              <a:t>No. 1 in Armenia's oil market</a:t>
            </a:r>
          </a:p>
        </p:txBody>
      </p:sp>
      <p:sp>
        <p:nvSpPr>
          <p:cNvPr id="34" name="Rounded Rectangle 33"/>
          <p:cNvSpPr/>
          <p:nvPr/>
        </p:nvSpPr>
        <p:spPr>
          <a:xfrm>
            <a:off x="7360920" y="3566160"/>
            <a:ext cx="1874519" cy="475488"/>
          </a:xfrm>
          <a:prstGeom prst="roundRect">
            <a:avLst>
              <a:gd name="adj" fmla="val 50000"/>
            </a:avLst>
          </a:prstGeom>
          <a:solidFill>
            <a:srgbClr val="006E32"/>
          </a:solidFill>
          <a:ln>
            <a:noFill/>
          </a:ln>
          <a:effectLst/>
        </p:spPr>
        <p:txBody>
          <a:bodyPr rtlCol="0" anchor="ctr"/>
          <a:lstStyle/>
          <a:p/>
        </p:txBody>
      </p:sp>
      <p:pic>
        <p:nvPicPr>
          <p:cNvPr id="35" name="Picture 34" descr="checkCircle_w.png"/>
          <p:cNvPicPr>
            <a:picLocks noChangeAspect="1"/>
          </p:cNvPicPr>
          <p:nvPr/>
        </p:nvPicPr>
        <p:blipFill>
          <a:blip r:embed="rId8"/>
          <a:stretch>
            <a:fillRect/>
          </a:stretch>
        </p:blipFill>
        <p:spPr>
          <a:xfrm>
            <a:off x="7452360" y="3639312"/>
            <a:ext cx="329184" cy="329184"/>
          </a:xfrm>
          <a:prstGeom prst="rect">
            <a:avLst/>
          </a:prstGeom>
        </p:spPr>
      </p:pic>
      <p:sp>
        <p:nvSpPr>
          <p:cNvPr id="36" name="TextBox 35"/>
          <p:cNvSpPr txBox="1"/>
          <p:nvPr/>
        </p:nvSpPr>
        <p:spPr>
          <a:xfrm>
            <a:off x="7863840" y="3657600"/>
            <a:ext cx="1325880" cy="320040"/>
          </a:xfrm>
          <a:prstGeom prst="rect">
            <a:avLst/>
          </a:prstGeom>
          <a:noFill/>
        </p:spPr>
        <p:txBody>
          <a:bodyPr wrap="square" lIns="0" rIns="0" tIns="0" bIns="0" anchor="t">
            <a:spAutoFit/>
          </a:bodyPr>
          <a:lstStyle/>
          <a:p>
            <a:pPr algn="l">
              <a:lnSpc>
                <a:spcPct val="100000"/>
              </a:lnSpc>
            </a:pPr>
            <a:r>
              <a:rPr sz="1400" b="1">
                <a:solidFill>
                  <a:srgbClr val="FFFFFF"/>
                </a:solidFill>
                <a:latin typeface="Arial"/>
              </a:rPr>
              <a:t>Volume</a:t>
            </a:r>
          </a:p>
        </p:txBody>
      </p:sp>
      <p:sp>
        <p:nvSpPr>
          <p:cNvPr id="37" name="Rounded Rectangle 36"/>
          <p:cNvSpPr/>
          <p:nvPr/>
        </p:nvSpPr>
        <p:spPr>
          <a:xfrm>
            <a:off x="9372600" y="3566160"/>
            <a:ext cx="1874519" cy="475488"/>
          </a:xfrm>
          <a:prstGeom prst="roundRect">
            <a:avLst>
              <a:gd name="adj" fmla="val 50000"/>
            </a:avLst>
          </a:prstGeom>
          <a:solidFill>
            <a:srgbClr val="006E32"/>
          </a:solidFill>
          <a:ln>
            <a:noFill/>
          </a:ln>
          <a:effectLst/>
        </p:spPr>
        <p:txBody>
          <a:bodyPr rtlCol="0" anchor="ctr"/>
          <a:lstStyle/>
          <a:p/>
        </p:txBody>
      </p:sp>
      <p:pic>
        <p:nvPicPr>
          <p:cNvPr id="38" name="Picture 37" descr="checkCircle_w.png"/>
          <p:cNvPicPr>
            <a:picLocks noChangeAspect="1"/>
          </p:cNvPicPr>
          <p:nvPr/>
        </p:nvPicPr>
        <p:blipFill>
          <a:blip r:embed="rId8"/>
          <a:stretch>
            <a:fillRect/>
          </a:stretch>
        </p:blipFill>
        <p:spPr>
          <a:xfrm>
            <a:off x="9464040" y="3639312"/>
            <a:ext cx="329184" cy="329184"/>
          </a:xfrm>
          <a:prstGeom prst="rect">
            <a:avLst/>
          </a:prstGeom>
        </p:spPr>
      </p:pic>
      <p:sp>
        <p:nvSpPr>
          <p:cNvPr id="39" name="TextBox 38"/>
          <p:cNvSpPr txBox="1"/>
          <p:nvPr/>
        </p:nvSpPr>
        <p:spPr>
          <a:xfrm>
            <a:off x="9875520" y="3657600"/>
            <a:ext cx="1325880" cy="320040"/>
          </a:xfrm>
          <a:prstGeom prst="rect">
            <a:avLst/>
          </a:prstGeom>
          <a:noFill/>
        </p:spPr>
        <p:txBody>
          <a:bodyPr wrap="square" lIns="0" rIns="0" tIns="0" bIns="0" anchor="t">
            <a:spAutoFit/>
          </a:bodyPr>
          <a:lstStyle/>
          <a:p>
            <a:pPr algn="l">
              <a:lnSpc>
                <a:spcPct val="100000"/>
              </a:lnSpc>
            </a:pPr>
            <a:r>
              <a:rPr sz="1400" b="1">
                <a:solidFill>
                  <a:srgbClr val="FFFFFF"/>
                </a:solidFill>
                <a:latin typeface="Arial"/>
              </a:rPr>
              <a:t>Revenue</a:t>
            </a:r>
          </a:p>
        </p:txBody>
      </p:sp>
      <p:sp>
        <p:nvSpPr>
          <p:cNvPr id="40" name="Rounded Rectangle 39"/>
          <p:cNvSpPr/>
          <p:nvPr/>
        </p:nvSpPr>
        <p:spPr>
          <a:xfrm>
            <a:off x="7360920" y="4187952"/>
            <a:ext cx="1874519" cy="475488"/>
          </a:xfrm>
          <a:prstGeom prst="roundRect">
            <a:avLst>
              <a:gd name="adj" fmla="val 50000"/>
            </a:avLst>
          </a:prstGeom>
          <a:solidFill>
            <a:srgbClr val="006E32"/>
          </a:solidFill>
          <a:ln>
            <a:noFill/>
          </a:ln>
          <a:effectLst/>
        </p:spPr>
        <p:txBody>
          <a:bodyPr rtlCol="0" anchor="ctr"/>
          <a:lstStyle/>
          <a:p/>
        </p:txBody>
      </p:sp>
      <p:pic>
        <p:nvPicPr>
          <p:cNvPr id="41" name="Picture 40" descr="checkCircle_w.png"/>
          <p:cNvPicPr>
            <a:picLocks noChangeAspect="1"/>
          </p:cNvPicPr>
          <p:nvPr/>
        </p:nvPicPr>
        <p:blipFill>
          <a:blip r:embed="rId8"/>
          <a:stretch>
            <a:fillRect/>
          </a:stretch>
        </p:blipFill>
        <p:spPr>
          <a:xfrm>
            <a:off x="7452360" y="4261104"/>
            <a:ext cx="329184" cy="329184"/>
          </a:xfrm>
          <a:prstGeom prst="rect">
            <a:avLst/>
          </a:prstGeom>
        </p:spPr>
      </p:pic>
      <p:sp>
        <p:nvSpPr>
          <p:cNvPr id="42" name="TextBox 41"/>
          <p:cNvSpPr txBox="1"/>
          <p:nvPr/>
        </p:nvSpPr>
        <p:spPr>
          <a:xfrm>
            <a:off x="7863840" y="4279392"/>
            <a:ext cx="1325880" cy="320040"/>
          </a:xfrm>
          <a:prstGeom prst="rect">
            <a:avLst/>
          </a:prstGeom>
          <a:noFill/>
        </p:spPr>
        <p:txBody>
          <a:bodyPr wrap="square" lIns="0" rIns="0" tIns="0" bIns="0" anchor="t">
            <a:spAutoFit/>
          </a:bodyPr>
          <a:lstStyle/>
          <a:p>
            <a:pPr algn="l">
              <a:lnSpc>
                <a:spcPct val="100000"/>
              </a:lnSpc>
            </a:pPr>
            <a:r>
              <a:rPr sz="1400" b="1">
                <a:solidFill>
                  <a:srgbClr val="FFFFFF"/>
                </a:solidFill>
                <a:latin typeface="Arial"/>
              </a:rPr>
              <a:t>Reputation</a:t>
            </a:r>
          </a:p>
        </p:txBody>
      </p:sp>
      <p:sp>
        <p:nvSpPr>
          <p:cNvPr id="43" name="Rounded Rectangle 42"/>
          <p:cNvSpPr/>
          <p:nvPr/>
        </p:nvSpPr>
        <p:spPr>
          <a:xfrm>
            <a:off x="9372600" y="4187952"/>
            <a:ext cx="1874519" cy="475488"/>
          </a:xfrm>
          <a:prstGeom prst="roundRect">
            <a:avLst>
              <a:gd name="adj" fmla="val 50000"/>
            </a:avLst>
          </a:prstGeom>
          <a:solidFill>
            <a:srgbClr val="006E32"/>
          </a:solidFill>
          <a:ln>
            <a:noFill/>
          </a:ln>
          <a:effectLst/>
        </p:spPr>
        <p:txBody>
          <a:bodyPr rtlCol="0" anchor="ctr"/>
          <a:lstStyle/>
          <a:p/>
        </p:txBody>
      </p:sp>
      <p:pic>
        <p:nvPicPr>
          <p:cNvPr id="44" name="Picture 43" descr="checkCircle_w.png"/>
          <p:cNvPicPr>
            <a:picLocks noChangeAspect="1"/>
          </p:cNvPicPr>
          <p:nvPr/>
        </p:nvPicPr>
        <p:blipFill>
          <a:blip r:embed="rId8"/>
          <a:stretch>
            <a:fillRect/>
          </a:stretch>
        </p:blipFill>
        <p:spPr>
          <a:xfrm>
            <a:off x="9464040" y="4261104"/>
            <a:ext cx="329184" cy="329184"/>
          </a:xfrm>
          <a:prstGeom prst="rect">
            <a:avLst/>
          </a:prstGeom>
        </p:spPr>
      </p:pic>
      <p:sp>
        <p:nvSpPr>
          <p:cNvPr id="45" name="TextBox 44"/>
          <p:cNvSpPr txBox="1"/>
          <p:nvPr/>
        </p:nvSpPr>
        <p:spPr>
          <a:xfrm>
            <a:off x="9875520" y="4279392"/>
            <a:ext cx="1325880" cy="320040"/>
          </a:xfrm>
          <a:prstGeom prst="rect">
            <a:avLst/>
          </a:prstGeom>
          <a:noFill/>
        </p:spPr>
        <p:txBody>
          <a:bodyPr wrap="square" lIns="0" rIns="0" tIns="0" bIns="0" anchor="t">
            <a:spAutoFit/>
          </a:bodyPr>
          <a:lstStyle/>
          <a:p>
            <a:pPr algn="l">
              <a:lnSpc>
                <a:spcPct val="100000"/>
              </a:lnSpc>
            </a:pPr>
            <a:r>
              <a:rPr sz="1400" b="1">
                <a:solidFill>
                  <a:srgbClr val="FFFFFF"/>
                </a:solidFill>
                <a:latin typeface="Arial"/>
              </a:rPr>
              <a:t>Technology</a:t>
            </a:r>
          </a:p>
        </p:txBody>
      </p:sp>
      <p:sp>
        <p:nvSpPr>
          <p:cNvPr id="46" name="Oval 45"/>
          <p:cNvSpPr/>
          <p:nvPr/>
        </p:nvSpPr>
        <p:spPr>
          <a:xfrm>
            <a:off x="7360920" y="5029200"/>
            <a:ext cx="502920" cy="502920"/>
          </a:xfrm>
          <a:prstGeom prst="ellipse">
            <a:avLst/>
          </a:prstGeom>
          <a:solidFill>
            <a:srgbClr val="FFFFFF"/>
          </a:solidFill>
          <a:ln>
            <a:noFill/>
          </a:ln>
          <a:effectLst/>
        </p:spPr>
        <p:txBody>
          <a:bodyPr rtlCol="0" anchor="ctr"/>
          <a:lstStyle/>
          <a:p>
            <a:pPr algn="ctr"/>
          </a:p>
        </p:txBody>
      </p:sp>
      <p:pic>
        <p:nvPicPr>
          <p:cNvPr id="47" name="Picture 46" descr="trendUp_g.png"/>
          <p:cNvPicPr>
            <a:picLocks noChangeAspect="1"/>
          </p:cNvPicPr>
          <p:nvPr/>
        </p:nvPicPr>
        <p:blipFill>
          <a:blip r:embed="rId9"/>
          <a:stretch>
            <a:fillRect/>
          </a:stretch>
        </p:blipFill>
        <p:spPr>
          <a:xfrm>
            <a:off x="7471562" y="5139842"/>
            <a:ext cx="281635" cy="281635"/>
          </a:xfrm>
          <a:prstGeom prst="rect">
            <a:avLst/>
          </a:prstGeom>
        </p:spPr>
      </p:pic>
      <p:sp>
        <p:nvSpPr>
          <p:cNvPr id="48" name="TextBox 47"/>
          <p:cNvSpPr txBox="1"/>
          <p:nvPr/>
        </p:nvSpPr>
        <p:spPr>
          <a:xfrm>
            <a:off x="8001000" y="5029200"/>
            <a:ext cx="3474720" cy="502920"/>
          </a:xfrm>
          <a:prstGeom prst="rect">
            <a:avLst/>
          </a:prstGeom>
          <a:noFill/>
        </p:spPr>
        <p:txBody>
          <a:bodyPr wrap="square" lIns="0" rIns="0" tIns="0" bIns="0" anchor="ctr">
            <a:spAutoFit/>
          </a:bodyPr>
          <a:lstStyle/>
          <a:p>
            <a:pPr algn="l">
              <a:lnSpc>
                <a:spcPct val="100000"/>
              </a:lnSpc>
            </a:pPr>
            <a:r>
              <a:rPr sz="1500" b="1">
                <a:solidFill>
                  <a:srgbClr val="FFFFFF"/>
                </a:solidFill>
                <a:latin typeface="Arial"/>
              </a:rPr>
              <a:t>Then: take the model beyond Armenia</a:t>
            </a:r>
          </a:p>
        </p:txBody>
      </p:sp>
      <p:cxnSp>
        <p:nvCxnSpPr>
          <p:cNvPr id="49" name="Connector 48"/>
          <p:cNvCxnSpPr/>
          <p:nvPr/>
        </p:nvCxnSpPr>
        <p:spPr>
          <a:xfrm>
            <a:off x="548640" y="6400800"/>
            <a:ext cx="11094415" cy="0"/>
          </a:xfrm>
          <a:prstGeom prst="line">
            <a:avLst/>
          </a:prstGeom>
          <a:ln w="9525">
            <a:solidFill>
              <a:srgbClr val="D9DEDB"/>
            </a:solidFill>
          </a:ln>
        </p:spPr>
      </p:cxnSp>
      <p:pic>
        <p:nvPicPr>
          <p:cNvPr id="50" name="Picture 49" descr="kad-wordmark.png"/>
          <p:cNvPicPr>
            <a:picLocks noChangeAspect="1"/>
          </p:cNvPicPr>
          <p:nvPr/>
        </p:nvPicPr>
        <p:blipFill>
          <a:blip r:embed="rId10"/>
          <a:stretch>
            <a:fillRect/>
          </a:stretch>
        </p:blipFill>
        <p:spPr>
          <a:xfrm>
            <a:off x="548640" y="6519672"/>
            <a:ext cx="759129" cy="155448"/>
          </a:xfrm>
          <a:prstGeom prst="rect">
            <a:avLst/>
          </a:prstGeom>
        </p:spPr>
      </p:pic>
      <p:sp>
        <p:nvSpPr>
          <p:cNvPr id="51" name="TextBox 50"/>
          <p:cNvSpPr txBox="1"/>
          <p:nvPr/>
        </p:nvSpPr>
        <p:spPr>
          <a:xfrm>
            <a:off x="1417320" y="6492240"/>
            <a:ext cx="6400800" cy="228600"/>
          </a:xfrm>
          <a:prstGeom prst="rect">
            <a:avLst/>
          </a:prstGeom>
          <a:noFill/>
        </p:spPr>
        <p:txBody>
          <a:bodyPr wrap="square" lIns="0" rIns="0" tIns="0" bIns="0" anchor="t">
            <a:spAutoFit/>
          </a:bodyPr>
          <a:lstStyle/>
          <a:p>
            <a:pPr algn="l">
              <a:lnSpc>
                <a:spcPct val="100000"/>
              </a:lnSpc>
            </a:pPr>
            <a:r>
              <a:rPr sz="900" b="0">
                <a:solidFill>
                  <a:srgbClr val="5F6670"/>
                </a:solidFill>
                <a:latin typeface="Arial"/>
              </a:rPr>
              <a:t>Digital Sales Platform for Castrol Distribution</a:t>
            </a:r>
          </a:p>
        </p:txBody>
      </p:sp>
      <p:sp>
        <p:nvSpPr>
          <p:cNvPr id="52" name="TextBox 51"/>
          <p:cNvSpPr txBox="1"/>
          <p:nvPr/>
        </p:nvSpPr>
        <p:spPr>
          <a:xfrm>
            <a:off x="10728655" y="6492240"/>
            <a:ext cx="914400" cy="228600"/>
          </a:xfrm>
          <a:prstGeom prst="rect">
            <a:avLst/>
          </a:prstGeom>
          <a:noFill/>
        </p:spPr>
        <p:txBody>
          <a:bodyPr wrap="square" lIns="0" rIns="0" tIns="0" bIns="0" anchor="t">
            <a:spAutoFit/>
          </a:bodyPr>
          <a:lstStyle/>
          <a:p>
            <a:pPr algn="r">
              <a:lnSpc>
                <a:spcPct val="100000"/>
              </a:lnSpc>
            </a:pPr>
            <a:r>
              <a:rPr sz="900" b="0">
                <a:solidFill>
                  <a:srgbClr val="5F6670"/>
                </a:solidFill>
                <a:latin typeface="Aria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347472"/>
            <a:ext cx="592531" cy="64008"/>
          </a:xfrm>
          <a:prstGeom prst="rect">
            <a:avLst/>
          </a:prstGeom>
          <a:solidFill>
            <a:srgbClr val="009343"/>
          </a:solidFill>
          <a:ln>
            <a:noFill/>
          </a:ln>
          <a:effectLst/>
        </p:spPr>
        <p:txBody>
          <a:bodyPr rtlCol="0" anchor="ctr"/>
          <a:lstStyle/>
          <a:p/>
        </p:txBody>
      </p:sp>
      <p:sp>
        <p:nvSpPr>
          <p:cNvPr id="3" name="Rectangle 2"/>
          <p:cNvSpPr/>
          <p:nvPr/>
        </p:nvSpPr>
        <p:spPr>
          <a:xfrm>
            <a:off x="1141171" y="347472"/>
            <a:ext cx="230428" cy="64008"/>
          </a:xfrm>
          <a:prstGeom prst="rect">
            <a:avLst/>
          </a:prstGeom>
          <a:solidFill>
            <a:srgbClr val="E2001A"/>
          </a:solidFill>
          <a:ln>
            <a:noFill/>
          </a:ln>
          <a:effectLst/>
        </p:spPr>
        <p:txBody>
          <a:bodyPr rtlCol="0" anchor="ctr"/>
          <a:lstStyle/>
          <a:p/>
        </p:txBody>
      </p:sp>
      <p:sp>
        <p:nvSpPr>
          <p:cNvPr id="4" name="TextBox 3"/>
          <p:cNvSpPr txBox="1"/>
          <p:nvPr/>
        </p:nvSpPr>
        <p:spPr>
          <a:xfrm>
            <a:off x="548640" y="502920"/>
            <a:ext cx="9144000" cy="274320"/>
          </a:xfrm>
          <a:prstGeom prst="rect">
            <a:avLst/>
          </a:prstGeom>
          <a:noFill/>
        </p:spPr>
        <p:txBody>
          <a:bodyPr wrap="square" lIns="0" rIns="0" tIns="0" bIns="0" anchor="t">
            <a:spAutoFit/>
          </a:bodyPr>
          <a:lstStyle/>
          <a:p>
            <a:pPr algn="l">
              <a:lnSpc>
                <a:spcPct val="100000"/>
              </a:lnSpc>
            </a:pPr>
            <a:r>
              <a:rPr sz="1200" b="1">
                <a:solidFill>
                  <a:srgbClr val="009343"/>
                </a:solidFill>
                <a:latin typeface="Arial"/>
              </a:rPr>
              <a:t>BUILT BY A DISTRIBUTOR</a:t>
            </a:r>
          </a:p>
        </p:txBody>
      </p:sp>
      <p:sp>
        <p:nvSpPr>
          <p:cNvPr id="5" name="TextBox 4"/>
          <p:cNvSpPr txBox="1"/>
          <p:nvPr/>
        </p:nvSpPr>
        <p:spPr>
          <a:xfrm>
            <a:off x="548640" y="777240"/>
            <a:ext cx="11064240" cy="914400"/>
          </a:xfrm>
          <a:prstGeom prst="rect">
            <a:avLst/>
          </a:prstGeom>
          <a:noFill/>
        </p:spPr>
        <p:txBody>
          <a:bodyPr wrap="square" lIns="0" rIns="0" tIns="0" bIns="0" anchor="t">
            <a:spAutoFit/>
          </a:bodyPr>
          <a:lstStyle/>
          <a:p>
            <a:pPr algn="l">
              <a:lnSpc>
                <a:spcPct val="95000"/>
              </a:lnSpc>
            </a:pPr>
            <a:r>
              <a:rPr sz="3000" b="1">
                <a:solidFill>
                  <a:srgbClr val="23272B"/>
                </a:solidFill>
                <a:latin typeface="Arial"/>
              </a:rPr>
              <a:t>Designed by our whole team, not only by developers</a:t>
            </a:r>
          </a:p>
        </p:txBody>
      </p:sp>
      <p:sp>
        <p:nvSpPr>
          <p:cNvPr id="6" name="Rounded Rectangle 5"/>
          <p:cNvSpPr/>
          <p:nvPr/>
        </p:nvSpPr>
        <p:spPr>
          <a:xfrm>
            <a:off x="548640" y="1783080"/>
            <a:ext cx="2084831" cy="2057400"/>
          </a:xfrm>
          <a:prstGeom prst="roundRect">
            <a:avLst>
              <a:gd name="adj" fmla="val 5333"/>
            </a:avLst>
          </a:prstGeom>
          <a:solidFill>
            <a:srgbClr val="F4F5F6"/>
          </a:solidFill>
          <a:ln>
            <a:noFill/>
          </a:ln>
          <a:effectLst/>
        </p:spPr>
        <p:txBody>
          <a:bodyPr rtlCol="0" anchor="ctr"/>
          <a:lstStyle/>
          <a:p/>
        </p:txBody>
      </p:sp>
      <p:sp>
        <p:nvSpPr>
          <p:cNvPr id="7" name="Oval 6"/>
          <p:cNvSpPr/>
          <p:nvPr/>
        </p:nvSpPr>
        <p:spPr>
          <a:xfrm>
            <a:off x="1207007" y="1965960"/>
            <a:ext cx="768096" cy="768096"/>
          </a:xfrm>
          <a:prstGeom prst="ellipse">
            <a:avLst/>
          </a:prstGeom>
          <a:solidFill>
            <a:srgbClr val="E6F4EC"/>
          </a:solidFill>
          <a:ln>
            <a:noFill/>
          </a:ln>
          <a:effectLst/>
        </p:spPr>
        <p:txBody>
          <a:bodyPr rtlCol="0" anchor="ctr"/>
          <a:lstStyle/>
          <a:p>
            <a:pPr algn="ctr"/>
          </a:p>
        </p:txBody>
      </p:sp>
      <p:pic>
        <p:nvPicPr>
          <p:cNvPr id="8" name="Picture 7" descr="person_g.png"/>
          <p:cNvPicPr>
            <a:picLocks noChangeAspect="1"/>
          </p:cNvPicPr>
          <p:nvPr/>
        </p:nvPicPr>
        <p:blipFill>
          <a:blip r:embed="rId2"/>
          <a:stretch>
            <a:fillRect/>
          </a:stretch>
        </p:blipFill>
        <p:spPr>
          <a:xfrm>
            <a:off x="1375989" y="2134941"/>
            <a:ext cx="430133" cy="430133"/>
          </a:xfrm>
          <a:prstGeom prst="rect">
            <a:avLst/>
          </a:prstGeom>
        </p:spPr>
      </p:pic>
      <p:sp>
        <p:nvSpPr>
          <p:cNvPr id="9" name="TextBox 8"/>
          <p:cNvSpPr txBox="1"/>
          <p:nvPr/>
        </p:nvSpPr>
        <p:spPr>
          <a:xfrm>
            <a:off x="640080" y="2834640"/>
            <a:ext cx="1901952" cy="365760"/>
          </a:xfrm>
          <a:prstGeom prst="rect">
            <a:avLst/>
          </a:prstGeom>
          <a:noFill/>
        </p:spPr>
        <p:txBody>
          <a:bodyPr wrap="square" lIns="0" rIns="0" tIns="0" bIns="0" anchor="t">
            <a:spAutoFit/>
          </a:bodyPr>
          <a:lstStyle/>
          <a:p>
            <a:pPr algn="ctr">
              <a:lnSpc>
                <a:spcPct val="100000"/>
              </a:lnSpc>
            </a:pPr>
            <a:r>
              <a:rPr sz="1500" b="1">
                <a:solidFill>
                  <a:srgbClr val="23272B"/>
                </a:solidFill>
                <a:latin typeface="Arial"/>
              </a:rPr>
              <a:t>Sales reps</a:t>
            </a:r>
          </a:p>
        </p:txBody>
      </p:sp>
      <p:sp>
        <p:nvSpPr>
          <p:cNvPr id="10" name="TextBox 9"/>
          <p:cNvSpPr txBox="1"/>
          <p:nvPr/>
        </p:nvSpPr>
        <p:spPr>
          <a:xfrm>
            <a:off x="640080" y="3200400"/>
            <a:ext cx="1901952" cy="548640"/>
          </a:xfrm>
          <a:prstGeom prst="rect">
            <a:avLst/>
          </a:prstGeom>
          <a:noFill/>
        </p:spPr>
        <p:txBody>
          <a:bodyPr wrap="square" lIns="0" rIns="0" tIns="0" bIns="0" anchor="t">
            <a:spAutoFit/>
          </a:bodyPr>
          <a:lstStyle/>
          <a:p>
            <a:pPr algn="ctr">
              <a:lnSpc>
                <a:spcPct val="100000"/>
              </a:lnSpc>
            </a:pPr>
            <a:r>
              <a:rPr sz="1200" b="0">
                <a:solidFill>
                  <a:srgbClr val="5F6670"/>
                </a:solidFill>
                <a:latin typeface="Arial"/>
              </a:rPr>
              <a:t>Visits, orders, cash</a:t>
            </a:r>
          </a:p>
        </p:txBody>
      </p:sp>
      <p:sp>
        <p:nvSpPr>
          <p:cNvPr id="11" name="Down Arrow 10"/>
          <p:cNvSpPr/>
          <p:nvPr/>
        </p:nvSpPr>
        <p:spPr>
          <a:xfrm>
            <a:off x="1408176" y="3931920"/>
            <a:ext cx="365760" cy="384048"/>
          </a:xfrm>
          <a:prstGeom prst="downArrow">
            <a:avLst/>
          </a:prstGeom>
          <a:solidFill>
            <a:srgbClr val="9ED3B3"/>
          </a:solidFill>
          <a:ln>
            <a:noFill/>
          </a:ln>
        </p:spPr>
        <p:txBody>
          <a:bodyPr rtlCol="0" anchor="ctr"/>
          <a:lstStyle/>
          <a:p>
            <a:pPr algn="ctr"/>
          </a:p>
        </p:txBody>
      </p:sp>
      <p:sp>
        <p:nvSpPr>
          <p:cNvPr id="12" name="Rounded Rectangle 11"/>
          <p:cNvSpPr/>
          <p:nvPr/>
        </p:nvSpPr>
        <p:spPr>
          <a:xfrm>
            <a:off x="2788920" y="1783080"/>
            <a:ext cx="2084831" cy="2057400"/>
          </a:xfrm>
          <a:prstGeom prst="roundRect">
            <a:avLst>
              <a:gd name="adj" fmla="val 5333"/>
            </a:avLst>
          </a:prstGeom>
          <a:solidFill>
            <a:srgbClr val="F4F5F6"/>
          </a:solidFill>
          <a:ln>
            <a:noFill/>
          </a:ln>
          <a:effectLst/>
        </p:spPr>
        <p:txBody>
          <a:bodyPr rtlCol="0" anchor="ctr"/>
          <a:lstStyle/>
          <a:p/>
        </p:txBody>
      </p:sp>
      <p:sp>
        <p:nvSpPr>
          <p:cNvPr id="13" name="Oval 12"/>
          <p:cNvSpPr/>
          <p:nvPr/>
        </p:nvSpPr>
        <p:spPr>
          <a:xfrm>
            <a:off x="3447288" y="1965960"/>
            <a:ext cx="768096" cy="768096"/>
          </a:xfrm>
          <a:prstGeom prst="ellipse">
            <a:avLst/>
          </a:prstGeom>
          <a:solidFill>
            <a:srgbClr val="E6F4EC"/>
          </a:solidFill>
          <a:ln>
            <a:noFill/>
          </a:ln>
          <a:effectLst/>
        </p:spPr>
        <p:txBody>
          <a:bodyPr rtlCol="0" anchor="ctr"/>
          <a:lstStyle/>
          <a:p>
            <a:pPr algn="ctr"/>
          </a:p>
        </p:txBody>
      </p:sp>
      <p:pic>
        <p:nvPicPr>
          <p:cNvPr id="14" name="Picture 13" descr="target_g.png"/>
          <p:cNvPicPr>
            <a:picLocks noChangeAspect="1"/>
          </p:cNvPicPr>
          <p:nvPr/>
        </p:nvPicPr>
        <p:blipFill>
          <a:blip r:embed="rId3"/>
          <a:stretch>
            <a:fillRect/>
          </a:stretch>
        </p:blipFill>
        <p:spPr>
          <a:xfrm>
            <a:off x="3616269" y="2134941"/>
            <a:ext cx="430133" cy="430133"/>
          </a:xfrm>
          <a:prstGeom prst="rect">
            <a:avLst/>
          </a:prstGeom>
        </p:spPr>
      </p:pic>
      <p:sp>
        <p:nvSpPr>
          <p:cNvPr id="15" name="TextBox 14"/>
          <p:cNvSpPr txBox="1"/>
          <p:nvPr/>
        </p:nvSpPr>
        <p:spPr>
          <a:xfrm>
            <a:off x="2880360" y="2834640"/>
            <a:ext cx="1901952" cy="365760"/>
          </a:xfrm>
          <a:prstGeom prst="rect">
            <a:avLst/>
          </a:prstGeom>
          <a:noFill/>
        </p:spPr>
        <p:txBody>
          <a:bodyPr wrap="square" lIns="0" rIns="0" tIns="0" bIns="0" anchor="t">
            <a:spAutoFit/>
          </a:bodyPr>
          <a:lstStyle/>
          <a:p>
            <a:pPr algn="ctr">
              <a:lnSpc>
                <a:spcPct val="100000"/>
              </a:lnSpc>
            </a:pPr>
            <a:r>
              <a:rPr sz="1500" b="1">
                <a:solidFill>
                  <a:srgbClr val="23272B"/>
                </a:solidFill>
                <a:latin typeface="Arial"/>
              </a:rPr>
              <a:t>Sales director</a:t>
            </a:r>
          </a:p>
        </p:txBody>
      </p:sp>
      <p:sp>
        <p:nvSpPr>
          <p:cNvPr id="16" name="TextBox 15"/>
          <p:cNvSpPr txBox="1"/>
          <p:nvPr/>
        </p:nvSpPr>
        <p:spPr>
          <a:xfrm>
            <a:off x="2880360" y="3200400"/>
            <a:ext cx="1901952" cy="548640"/>
          </a:xfrm>
          <a:prstGeom prst="rect">
            <a:avLst/>
          </a:prstGeom>
          <a:noFill/>
        </p:spPr>
        <p:txBody>
          <a:bodyPr wrap="square" lIns="0" rIns="0" tIns="0" bIns="0" anchor="t">
            <a:spAutoFit/>
          </a:bodyPr>
          <a:lstStyle/>
          <a:p>
            <a:pPr algn="ctr">
              <a:lnSpc>
                <a:spcPct val="100000"/>
              </a:lnSpc>
            </a:pPr>
            <a:r>
              <a:rPr sz="1200" b="0">
                <a:solidFill>
                  <a:srgbClr val="5F6670"/>
                </a:solidFill>
                <a:latin typeface="Arial"/>
              </a:rPr>
              <a:t>Plans, approvals, prices</a:t>
            </a:r>
          </a:p>
        </p:txBody>
      </p:sp>
      <p:sp>
        <p:nvSpPr>
          <p:cNvPr id="17" name="Down Arrow 16"/>
          <p:cNvSpPr/>
          <p:nvPr/>
        </p:nvSpPr>
        <p:spPr>
          <a:xfrm>
            <a:off x="3648456" y="3931920"/>
            <a:ext cx="365760" cy="384048"/>
          </a:xfrm>
          <a:prstGeom prst="downArrow">
            <a:avLst/>
          </a:prstGeom>
          <a:solidFill>
            <a:srgbClr val="9ED3B3"/>
          </a:solidFill>
          <a:ln>
            <a:noFill/>
          </a:ln>
        </p:spPr>
        <p:txBody>
          <a:bodyPr rtlCol="0" anchor="ctr"/>
          <a:lstStyle/>
          <a:p>
            <a:pPr algn="ctr"/>
          </a:p>
        </p:txBody>
      </p:sp>
      <p:sp>
        <p:nvSpPr>
          <p:cNvPr id="18" name="Rounded Rectangle 17"/>
          <p:cNvSpPr/>
          <p:nvPr/>
        </p:nvSpPr>
        <p:spPr>
          <a:xfrm>
            <a:off x="5029200" y="1783080"/>
            <a:ext cx="2084831" cy="2057400"/>
          </a:xfrm>
          <a:prstGeom prst="roundRect">
            <a:avLst>
              <a:gd name="adj" fmla="val 5333"/>
            </a:avLst>
          </a:prstGeom>
          <a:solidFill>
            <a:srgbClr val="F4F5F6"/>
          </a:solidFill>
          <a:ln>
            <a:noFill/>
          </a:ln>
          <a:effectLst/>
        </p:spPr>
        <p:txBody>
          <a:bodyPr rtlCol="0" anchor="ctr"/>
          <a:lstStyle/>
          <a:p/>
        </p:txBody>
      </p:sp>
      <p:sp>
        <p:nvSpPr>
          <p:cNvPr id="19" name="Oval 18"/>
          <p:cNvSpPr/>
          <p:nvPr/>
        </p:nvSpPr>
        <p:spPr>
          <a:xfrm>
            <a:off x="5687568" y="1965960"/>
            <a:ext cx="768096" cy="768096"/>
          </a:xfrm>
          <a:prstGeom prst="ellipse">
            <a:avLst/>
          </a:prstGeom>
          <a:solidFill>
            <a:srgbClr val="E6F4EC"/>
          </a:solidFill>
          <a:ln>
            <a:noFill/>
          </a:ln>
          <a:effectLst/>
        </p:spPr>
        <p:txBody>
          <a:bodyPr rtlCol="0" anchor="ctr"/>
          <a:lstStyle/>
          <a:p>
            <a:pPr algn="ctr"/>
          </a:p>
        </p:txBody>
      </p:sp>
      <p:pic>
        <p:nvPicPr>
          <p:cNvPr id="20" name="Picture 19" descr="box_g.png"/>
          <p:cNvPicPr>
            <a:picLocks noChangeAspect="1"/>
          </p:cNvPicPr>
          <p:nvPr/>
        </p:nvPicPr>
        <p:blipFill>
          <a:blip r:embed="rId4"/>
          <a:stretch>
            <a:fillRect/>
          </a:stretch>
        </p:blipFill>
        <p:spPr>
          <a:xfrm>
            <a:off x="5856549" y="2134941"/>
            <a:ext cx="430133" cy="430133"/>
          </a:xfrm>
          <a:prstGeom prst="rect">
            <a:avLst/>
          </a:prstGeom>
        </p:spPr>
      </p:pic>
      <p:sp>
        <p:nvSpPr>
          <p:cNvPr id="21" name="TextBox 20"/>
          <p:cNvSpPr txBox="1"/>
          <p:nvPr/>
        </p:nvSpPr>
        <p:spPr>
          <a:xfrm>
            <a:off x="5120640" y="2834640"/>
            <a:ext cx="1901952" cy="365760"/>
          </a:xfrm>
          <a:prstGeom prst="rect">
            <a:avLst/>
          </a:prstGeom>
          <a:noFill/>
        </p:spPr>
        <p:txBody>
          <a:bodyPr wrap="square" lIns="0" rIns="0" tIns="0" bIns="0" anchor="t">
            <a:spAutoFit/>
          </a:bodyPr>
          <a:lstStyle/>
          <a:p>
            <a:pPr algn="ctr">
              <a:lnSpc>
                <a:spcPct val="100000"/>
              </a:lnSpc>
            </a:pPr>
            <a:r>
              <a:rPr sz="1500" b="1">
                <a:solidFill>
                  <a:srgbClr val="23272B"/>
                </a:solidFill>
                <a:latin typeface="Arial"/>
              </a:rPr>
              <a:t>Warehouse</a:t>
            </a:r>
          </a:p>
        </p:txBody>
      </p:sp>
      <p:sp>
        <p:nvSpPr>
          <p:cNvPr id="22" name="TextBox 21"/>
          <p:cNvSpPr txBox="1"/>
          <p:nvPr/>
        </p:nvSpPr>
        <p:spPr>
          <a:xfrm>
            <a:off x="5120640" y="3200400"/>
            <a:ext cx="1901952" cy="548640"/>
          </a:xfrm>
          <a:prstGeom prst="rect">
            <a:avLst/>
          </a:prstGeom>
          <a:noFill/>
        </p:spPr>
        <p:txBody>
          <a:bodyPr wrap="square" lIns="0" rIns="0" tIns="0" bIns="0" anchor="t">
            <a:spAutoFit/>
          </a:bodyPr>
          <a:lstStyle/>
          <a:p>
            <a:pPr algn="ctr">
              <a:lnSpc>
                <a:spcPct val="100000"/>
              </a:lnSpc>
            </a:pPr>
            <a:r>
              <a:rPr sz="1200" b="0">
                <a:solidFill>
                  <a:srgbClr val="5F6670"/>
                </a:solidFill>
                <a:latin typeface="Arial"/>
              </a:rPr>
              <a:t>Stock, packing, delivery</a:t>
            </a:r>
          </a:p>
        </p:txBody>
      </p:sp>
      <p:sp>
        <p:nvSpPr>
          <p:cNvPr id="23" name="Down Arrow 22"/>
          <p:cNvSpPr/>
          <p:nvPr/>
        </p:nvSpPr>
        <p:spPr>
          <a:xfrm>
            <a:off x="5888736" y="3931920"/>
            <a:ext cx="365760" cy="384048"/>
          </a:xfrm>
          <a:prstGeom prst="downArrow">
            <a:avLst/>
          </a:prstGeom>
          <a:solidFill>
            <a:srgbClr val="9ED3B3"/>
          </a:solidFill>
          <a:ln>
            <a:noFill/>
          </a:ln>
        </p:spPr>
        <p:txBody>
          <a:bodyPr rtlCol="0" anchor="ctr"/>
          <a:lstStyle/>
          <a:p>
            <a:pPr algn="ctr"/>
          </a:p>
        </p:txBody>
      </p:sp>
      <p:sp>
        <p:nvSpPr>
          <p:cNvPr id="24" name="Rounded Rectangle 23"/>
          <p:cNvSpPr/>
          <p:nvPr/>
        </p:nvSpPr>
        <p:spPr>
          <a:xfrm>
            <a:off x="7269480" y="1783080"/>
            <a:ext cx="2084831" cy="2057400"/>
          </a:xfrm>
          <a:prstGeom prst="roundRect">
            <a:avLst>
              <a:gd name="adj" fmla="val 5333"/>
            </a:avLst>
          </a:prstGeom>
          <a:solidFill>
            <a:srgbClr val="F4F5F6"/>
          </a:solidFill>
          <a:ln>
            <a:noFill/>
          </a:ln>
          <a:effectLst/>
        </p:spPr>
        <p:txBody>
          <a:bodyPr rtlCol="0" anchor="ctr"/>
          <a:lstStyle/>
          <a:p/>
        </p:txBody>
      </p:sp>
      <p:sp>
        <p:nvSpPr>
          <p:cNvPr id="25" name="Oval 24"/>
          <p:cNvSpPr/>
          <p:nvPr/>
        </p:nvSpPr>
        <p:spPr>
          <a:xfrm>
            <a:off x="7927848" y="1965960"/>
            <a:ext cx="768096" cy="768096"/>
          </a:xfrm>
          <a:prstGeom prst="ellipse">
            <a:avLst/>
          </a:prstGeom>
          <a:solidFill>
            <a:srgbClr val="E6F4EC"/>
          </a:solidFill>
          <a:ln>
            <a:noFill/>
          </a:ln>
          <a:effectLst/>
        </p:spPr>
        <p:txBody>
          <a:bodyPr rtlCol="0" anchor="ctr"/>
          <a:lstStyle/>
          <a:p>
            <a:pPr algn="ctr"/>
          </a:p>
        </p:txBody>
      </p:sp>
      <p:pic>
        <p:nvPicPr>
          <p:cNvPr id="26" name="Picture 25" descr="wallet_g.png"/>
          <p:cNvPicPr>
            <a:picLocks noChangeAspect="1"/>
          </p:cNvPicPr>
          <p:nvPr/>
        </p:nvPicPr>
        <p:blipFill>
          <a:blip r:embed="rId5"/>
          <a:stretch>
            <a:fillRect/>
          </a:stretch>
        </p:blipFill>
        <p:spPr>
          <a:xfrm>
            <a:off x="8096829" y="2134941"/>
            <a:ext cx="430133" cy="430133"/>
          </a:xfrm>
          <a:prstGeom prst="rect">
            <a:avLst/>
          </a:prstGeom>
        </p:spPr>
      </p:pic>
      <p:sp>
        <p:nvSpPr>
          <p:cNvPr id="27" name="TextBox 26"/>
          <p:cNvSpPr txBox="1"/>
          <p:nvPr/>
        </p:nvSpPr>
        <p:spPr>
          <a:xfrm>
            <a:off x="7360920" y="2834640"/>
            <a:ext cx="1901952" cy="365760"/>
          </a:xfrm>
          <a:prstGeom prst="rect">
            <a:avLst/>
          </a:prstGeom>
          <a:noFill/>
        </p:spPr>
        <p:txBody>
          <a:bodyPr wrap="square" lIns="0" rIns="0" tIns="0" bIns="0" anchor="t">
            <a:spAutoFit/>
          </a:bodyPr>
          <a:lstStyle/>
          <a:p>
            <a:pPr algn="ctr">
              <a:lnSpc>
                <a:spcPct val="100000"/>
              </a:lnSpc>
            </a:pPr>
            <a:r>
              <a:rPr sz="1500" b="1">
                <a:solidFill>
                  <a:srgbClr val="23272B"/>
                </a:solidFill>
                <a:latin typeface="Arial"/>
              </a:rPr>
              <a:t>Accounting</a:t>
            </a:r>
          </a:p>
        </p:txBody>
      </p:sp>
      <p:sp>
        <p:nvSpPr>
          <p:cNvPr id="28" name="TextBox 27"/>
          <p:cNvSpPr txBox="1"/>
          <p:nvPr/>
        </p:nvSpPr>
        <p:spPr>
          <a:xfrm>
            <a:off x="7360920" y="3200400"/>
            <a:ext cx="1901952" cy="548640"/>
          </a:xfrm>
          <a:prstGeom prst="rect">
            <a:avLst/>
          </a:prstGeom>
          <a:noFill/>
        </p:spPr>
        <p:txBody>
          <a:bodyPr wrap="square" lIns="0" rIns="0" tIns="0" bIns="0" anchor="t">
            <a:spAutoFit/>
          </a:bodyPr>
          <a:lstStyle/>
          <a:p>
            <a:pPr algn="ctr">
              <a:lnSpc>
                <a:spcPct val="100000"/>
              </a:lnSpc>
            </a:pPr>
            <a:r>
              <a:rPr sz="1200" b="0">
                <a:solidFill>
                  <a:srgbClr val="5F6670"/>
                </a:solidFill>
                <a:latin typeface="Arial"/>
              </a:rPr>
              <a:t>Invoices, debt, cash ledger</a:t>
            </a:r>
          </a:p>
        </p:txBody>
      </p:sp>
      <p:sp>
        <p:nvSpPr>
          <p:cNvPr id="29" name="Down Arrow 28"/>
          <p:cNvSpPr/>
          <p:nvPr/>
        </p:nvSpPr>
        <p:spPr>
          <a:xfrm>
            <a:off x="8129016" y="3931920"/>
            <a:ext cx="365760" cy="384048"/>
          </a:xfrm>
          <a:prstGeom prst="downArrow">
            <a:avLst/>
          </a:prstGeom>
          <a:solidFill>
            <a:srgbClr val="9ED3B3"/>
          </a:solidFill>
          <a:ln>
            <a:noFill/>
          </a:ln>
        </p:spPr>
        <p:txBody>
          <a:bodyPr rtlCol="0" anchor="ctr"/>
          <a:lstStyle/>
          <a:p>
            <a:pPr algn="ctr"/>
          </a:p>
        </p:txBody>
      </p:sp>
      <p:sp>
        <p:nvSpPr>
          <p:cNvPr id="30" name="Rounded Rectangle 29"/>
          <p:cNvSpPr/>
          <p:nvPr/>
        </p:nvSpPr>
        <p:spPr>
          <a:xfrm>
            <a:off x="9509760" y="1783080"/>
            <a:ext cx="2084831" cy="2057400"/>
          </a:xfrm>
          <a:prstGeom prst="roundRect">
            <a:avLst>
              <a:gd name="adj" fmla="val 5333"/>
            </a:avLst>
          </a:prstGeom>
          <a:solidFill>
            <a:srgbClr val="F4F5F6"/>
          </a:solidFill>
          <a:ln>
            <a:noFill/>
          </a:ln>
          <a:effectLst/>
        </p:spPr>
        <p:txBody>
          <a:bodyPr rtlCol="0" anchor="ctr"/>
          <a:lstStyle/>
          <a:p/>
        </p:txBody>
      </p:sp>
      <p:sp>
        <p:nvSpPr>
          <p:cNvPr id="31" name="Oval 30"/>
          <p:cNvSpPr/>
          <p:nvPr/>
        </p:nvSpPr>
        <p:spPr>
          <a:xfrm>
            <a:off x="10168128" y="1965960"/>
            <a:ext cx="768096" cy="768096"/>
          </a:xfrm>
          <a:prstGeom prst="ellipse">
            <a:avLst/>
          </a:prstGeom>
          <a:solidFill>
            <a:srgbClr val="E6F4EC"/>
          </a:solidFill>
          <a:ln>
            <a:noFill/>
          </a:ln>
          <a:effectLst/>
        </p:spPr>
        <p:txBody>
          <a:bodyPr rtlCol="0" anchor="ctr"/>
          <a:lstStyle/>
          <a:p>
            <a:pPr algn="ctr"/>
          </a:p>
        </p:txBody>
      </p:sp>
      <p:pic>
        <p:nvPicPr>
          <p:cNvPr id="32" name="Picture 31" descr="chart_g.png"/>
          <p:cNvPicPr>
            <a:picLocks noChangeAspect="1"/>
          </p:cNvPicPr>
          <p:nvPr/>
        </p:nvPicPr>
        <p:blipFill>
          <a:blip r:embed="rId6"/>
          <a:stretch>
            <a:fillRect/>
          </a:stretch>
        </p:blipFill>
        <p:spPr>
          <a:xfrm>
            <a:off x="10337109" y="2134941"/>
            <a:ext cx="430133" cy="430133"/>
          </a:xfrm>
          <a:prstGeom prst="rect">
            <a:avLst/>
          </a:prstGeom>
        </p:spPr>
      </p:pic>
      <p:sp>
        <p:nvSpPr>
          <p:cNvPr id="33" name="TextBox 32"/>
          <p:cNvSpPr txBox="1"/>
          <p:nvPr/>
        </p:nvSpPr>
        <p:spPr>
          <a:xfrm>
            <a:off x="9601200" y="2834640"/>
            <a:ext cx="1901952" cy="365760"/>
          </a:xfrm>
          <a:prstGeom prst="rect">
            <a:avLst/>
          </a:prstGeom>
          <a:noFill/>
        </p:spPr>
        <p:txBody>
          <a:bodyPr wrap="square" lIns="0" rIns="0" tIns="0" bIns="0" anchor="t">
            <a:spAutoFit/>
          </a:bodyPr>
          <a:lstStyle/>
          <a:p>
            <a:pPr algn="ctr">
              <a:lnSpc>
                <a:spcPct val="100000"/>
              </a:lnSpc>
            </a:pPr>
            <a:r>
              <a:rPr sz="1500" b="1">
                <a:solidFill>
                  <a:srgbClr val="23272B"/>
                </a:solidFill>
                <a:latin typeface="Arial"/>
              </a:rPr>
              <a:t>CEO &amp; owner</a:t>
            </a:r>
          </a:p>
        </p:txBody>
      </p:sp>
      <p:sp>
        <p:nvSpPr>
          <p:cNvPr id="34" name="TextBox 33"/>
          <p:cNvSpPr txBox="1"/>
          <p:nvPr/>
        </p:nvSpPr>
        <p:spPr>
          <a:xfrm>
            <a:off x="9601200" y="3200400"/>
            <a:ext cx="1901952" cy="548640"/>
          </a:xfrm>
          <a:prstGeom prst="rect">
            <a:avLst/>
          </a:prstGeom>
          <a:noFill/>
        </p:spPr>
        <p:txBody>
          <a:bodyPr wrap="square" lIns="0" rIns="0" tIns="0" bIns="0" anchor="t">
            <a:spAutoFit/>
          </a:bodyPr>
          <a:lstStyle/>
          <a:p>
            <a:pPr algn="ctr">
              <a:lnSpc>
                <a:spcPct val="100000"/>
              </a:lnSpc>
            </a:pPr>
            <a:r>
              <a:rPr sz="1200" b="0">
                <a:solidFill>
                  <a:srgbClr val="5F6670"/>
                </a:solidFill>
                <a:latin typeface="Arial"/>
              </a:rPr>
              <a:t>Goals, margins, decisions</a:t>
            </a:r>
          </a:p>
        </p:txBody>
      </p:sp>
      <p:sp>
        <p:nvSpPr>
          <p:cNvPr id="35" name="Down Arrow 34"/>
          <p:cNvSpPr/>
          <p:nvPr/>
        </p:nvSpPr>
        <p:spPr>
          <a:xfrm>
            <a:off x="10369296" y="3931920"/>
            <a:ext cx="365760" cy="384048"/>
          </a:xfrm>
          <a:prstGeom prst="downArrow">
            <a:avLst/>
          </a:prstGeom>
          <a:solidFill>
            <a:srgbClr val="9ED3B3"/>
          </a:solidFill>
          <a:ln>
            <a:noFill/>
          </a:ln>
        </p:spPr>
        <p:txBody>
          <a:bodyPr rtlCol="0" anchor="ctr"/>
          <a:lstStyle/>
          <a:p>
            <a:pPr algn="ctr"/>
          </a:p>
        </p:txBody>
      </p:sp>
      <p:sp>
        <p:nvSpPr>
          <p:cNvPr id="36" name="Rounded Rectangle 35"/>
          <p:cNvSpPr/>
          <p:nvPr/>
        </p:nvSpPr>
        <p:spPr>
          <a:xfrm>
            <a:off x="548640" y="4434840"/>
            <a:ext cx="11091672" cy="914400"/>
          </a:xfrm>
          <a:prstGeom prst="roundRect">
            <a:avLst>
              <a:gd name="adj" fmla="val 14000"/>
            </a:avLst>
          </a:prstGeom>
          <a:solidFill>
            <a:srgbClr val="009343"/>
          </a:solidFill>
          <a:ln>
            <a:noFill/>
          </a:ln>
          <a:effectLst/>
        </p:spPr>
        <p:txBody>
          <a:bodyPr rtlCol="0" anchor="ctr"/>
          <a:lstStyle/>
          <a:p/>
        </p:txBody>
      </p:sp>
      <p:sp>
        <p:nvSpPr>
          <p:cNvPr id="37" name="TextBox 36"/>
          <p:cNvSpPr txBox="1"/>
          <p:nvPr/>
        </p:nvSpPr>
        <p:spPr>
          <a:xfrm>
            <a:off x="822960" y="4434840"/>
            <a:ext cx="10607040" cy="914400"/>
          </a:xfrm>
          <a:prstGeom prst="rect">
            <a:avLst/>
          </a:prstGeom>
          <a:noFill/>
        </p:spPr>
        <p:txBody>
          <a:bodyPr wrap="square" lIns="0" rIns="0" tIns="0" bIns="0" anchor="ctr">
            <a:spAutoFit/>
          </a:bodyPr>
          <a:lstStyle/>
          <a:p>
            <a:pPr algn="l">
              <a:lnSpc>
                <a:spcPct val="100000"/>
              </a:lnSpc>
            </a:pPr>
            <a:r>
              <a:rPr sz="1900" b="1">
                <a:solidFill>
                  <a:srgbClr val="FFFFFF"/>
                </a:solidFill>
                <a:latin typeface="Arial"/>
              </a:rPr>
              <a:t>One platform for the whole distributor. </a:t>
            </a:r>
            <a:r>
              <a:rPr sz="1600" b="0">
                <a:solidFill>
                  <a:srgbClr val="FFFFFF"/>
                </a:solidFill>
                <a:latin typeface="Arial"/>
              </a:rPr>
              <a:t>Every module started from a real daily problem in our business.</a:t>
            </a:r>
          </a:p>
        </p:txBody>
      </p:sp>
      <p:sp>
        <p:nvSpPr>
          <p:cNvPr id="38" name="TextBox 37"/>
          <p:cNvSpPr txBox="1"/>
          <p:nvPr/>
        </p:nvSpPr>
        <p:spPr>
          <a:xfrm>
            <a:off x="548640" y="5577840"/>
            <a:ext cx="11064240" cy="548640"/>
          </a:xfrm>
          <a:prstGeom prst="rect">
            <a:avLst/>
          </a:prstGeom>
          <a:noFill/>
        </p:spPr>
        <p:txBody>
          <a:bodyPr wrap="square" lIns="0" rIns="0" tIns="0" bIns="0" anchor="t">
            <a:spAutoFit/>
          </a:bodyPr>
          <a:lstStyle/>
          <a:p>
            <a:pPr algn="l">
              <a:lnSpc>
                <a:spcPct val="100000"/>
              </a:lnSpc>
            </a:pPr>
            <a:r>
              <a:rPr sz="1400" b="1">
                <a:solidFill>
                  <a:srgbClr val="006E32"/>
                </a:solidFill>
                <a:latin typeface="Arial"/>
              </a:rPr>
              <a:t>How we build: </a:t>
            </a:r>
            <a:r>
              <a:rPr sz="1400" b="0">
                <a:solidFill>
                  <a:srgbClr val="23272B"/>
                </a:solidFill>
                <a:latin typeface="Arial"/>
              </a:rPr>
              <a:t>the team reports a problem on Monday, the fix is in everyone's phone within days. 750+ improvements since August 2026.</a:t>
            </a:r>
          </a:p>
        </p:txBody>
      </p:sp>
      <p:cxnSp>
        <p:nvCxnSpPr>
          <p:cNvPr id="39" name="Connector 38"/>
          <p:cNvCxnSpPr/>
          <p:nvPr/>
        </p:nvCxnSpPr>
        <p:spPr>
          <a:xfrm>
            <a:off x="548640" y="6400800"/>
            <a:ext cx="11094415" cy="0"/>
          </a:xfrm>
          <a:prstGeom prst="line">
            <a:avLst/>
          </a:prstGeom>
          <a:ln w="9525">
            <a:solidFill>
              <a:srgbClr val="D9DEDB"/>
            </a:solidFill>
          </a:ln>
        </p:spPr>
      </p:cxnSp>
      <p:pic>
        <p:nvPicPr>
          <p:cNvPr id="40" name="Picture 39" descr="kad-wordmark.png"/>
          <p:cNvPicPr>
            <a:picLocks noChangeAspect="1"/>
          </p:cNvPicPr>
          <p:nvPr/>
        </p:nvPicPr>
        <p:blipFill>
          <a:blip r:embed="rId7"/>
          <a:stretch>
            <a:fillRect/>
          </a:stretch>
        </p:blipFill>
        <p:spPr>
          <a:xfrm>
            <a:off x="548640" y="6519672"/>
            <a:ext cx="759129" cy="155448"/>
          </a:xfrm>
          <a:prstGeom prst="rect">
            <a:avLst/>
          </a:prstGeom>
        </p:spPr>
      </p:pic>
      <p:sp>
        <p:nvSpPr>
          <p:cNvPr id="41" name="TextBox 40"/>
          <p:cNvSpPr txBox="1"/>
          <p:nvPr/>
        </p:nvSpPr>
        <p:spPr>
          <a:xfrm>
            <a:off x="1417320" y="6492240"/>
            <a:ext cx="6400800" cy="228600"/>
          </a:xfrm>
          <a:prstGeom prst="rect">
            <a:avLst/>
          </a:prstGeom>
          <a:noFill/>
        </p:spPr>
        <p:txBody>
          <a:bodyPr wrap="square" lIns="0" rIns="0" tIns="0" bIns="0" anchor="t">
            <a:spAutoFit/>
          </a:bodyPr>
          <a:lstStyle/>
          <a:p>
            <a:pPr algn="l">
              <a:lnSpc>
                <a:spcPct val="100000"/>
              </a:lnSpc>
            </a:pPr>
            <a:r>
              <a:rPr sz="900" b="0">
                <a:solidFill>
                  <a:srgbClr val="5F6670"/>
                </a:solidFill>
                <a:latin typeface="Arial"/>
              </a:rPr>
              <a:t>Digital Sales Platform for Castrol Distribution</a:t>
            </a:r>
          </a:p>
        </p:txBody>
      </p:sp>
      <p:sp>
        <p:nvSpPr>
          <p:cNvPr id="42" name="TextBox 41"/>
          <p:cNvSpPr txBox="1"/>
          <p:nvPr/>
        </p:nvSpPr>
        <p:spPr>
          <a:xfrm>
            <a:off x="10728655" y="6492240"/>
            <a:ext cx="914400" cy="228600"/>
          </a:xfrm>
          <a:prstGeom prst="rect">
            <a:avLst/>
          </a:prstGeom>
          <a:noFill/>
        </p:spPr>
        <p:txBody>
          <a:bodyPr wrap="square" lIns="0" rIns="0" tIns="0" bIns="0" anchor="t">
            <a:spAutoFit/>
          </a:bodyPr>
          <a:lstStyle/>
          <a:p>
            <a:pPr algn="r">
              <a:lnSpc>
                <a:spcPct val="100000"/>
              </a:lnSpc>
            </a:pPr>
            <a:r>
              <a:rPr sz="900" b="0">
                <a:solidFill>
                  <a:srgbClr val="5F6670"/>
                </a:solidFill>
                <a:latin typeface="Aria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347472"/>
            <a:ext cx="592531" cy="64008"/>
          </a:xfrm>
          <a:prstGeom prst="rect">
            <a:avLst/>
          </a:prstGeom>
          <a:solidFill>
            <a:srgbClr val="009343"/>
          </a:solidFill>
          <a:ln>
            <a:noFill/>
          </a:ln>
          <a:effectLst/>
        </p:spPr>
        <p:txBody>
          <a:bodyPr rtlCol="0" anchor="ctr"/>
          <a:lstStyle/>
          <a:p/>
        </p:txBody>
      </p:sp>
      <p:sp>
        <p:nvSpPr>
          <p:cNvPr id="3" name="Rectangle 2"/>
          <p:cNvSpPr/>
          <p:nvPr/>
        </p:nvSpPr>
        <p:spPr>
          <a:xfrm>
            <a:off x="1141171" y="347472"/>
            <a:ext cx="230428" cy="64008"/>
          </a:xfrm>
          <a:prstGeom prst="rect">
            <a:avLst/>
          </a:prstGeom>
          <a:solidFill>
            <a:srgbClr val="E2001A"/>
          </a:solidFill>
          <a:ln>
            <a:noFill/>
          </a:ln>
          <a:effectLst/>
        </p:spPr>
        <p:txBody>
          <a:bodyPr rtlCol="0" anchor="ctr"/>
          <a:lstStyle/>
          <a:p/>
        </p:txBody>
      </p:sp>
      <p:sp>
        <p:nvSpPr>
          <p:cNvPr id="4" name="TextBox 3"/>
          <p:cNvSpPr txBox="1"/>
          <p:nvPr/>
        </p:nvSpPr>
        <p:spPr>
          <a:xfrm>
            <a:off x="548640" y="502920"/>
            <a:ext cx="9144000" cy="274320"/>
          </a:xfrm>
          <a:prstGeom prst="rect">
            <a:avLst/>
          </a:prstGeom>
          <a:noFill/>
        </p:spPr>
        <p:txBody>
          <a:bodyPr wrap="square" lIns="0" rIns="0" tIns="0" bIns="0" anchor="t">
            <a:spAutoFit/>
          </a:bodyPr>
          <a:lstStyle/>
          <a:p>
            <a:pPr algn="l">
              <a:lnSpc>
                <a:spcPct val="100000"/>
              </a:lnSpc>
            </a:pPr>
            <a:r>
              <a:rPr sz="1200" b="1">
                <a:solidFill>
                  <a:srgbClr val="009343"/>
                </a:solidFill>
                <a:latin typeface="Arial"/>
              </a:rPr>
              <a:t>OUR PRINCIPLE</a:t>
            </a:r>
          </a:p>
        </p:txBody>
      </p:sp>
      <p:sp>
        <p:nvSpPr>
          <p:cNvPr id="5" name="TextBox 4"/>
          <p:cNvSpPr txBox="1"/>
          <p:nvPr/>
        </p:nvSpPr>
        <p:spPr>
          <a:xfrm>
            <a:off x="548640" y="777240"/>
            <a:ext cx="11064240" cy="914400"/>
          </a:xfrm>
          <a:prstGeom prst="rect">
            <a:avLst/>
          </a:prstGeom>
          <a:noFill/>
        </p:spPr>
        <p:txBody>
          <a:bodyPr wrap="square" lIns="0" rIns="0" tIns="0" bIns="0" anchor="t">
            <a:spAutoFit/>
          </a:bodyPr>
          <a:lstStyle/>
          <a:p>
            <a:pPr algn="l">
              <a:lnSpc>
                <a:spcPct val="95000"/>
              </a:lnSpc>
            </a:pPr>
            <a:r>
              <a:rPr sz="3000" b="1">
                <a:solidFill>
                  <a:srgbClr val="23272B"/>
                </a:solidFill>
                <a:latin typeface="Arial"/>
              </a:rPr>
              <a:t>Data is worth nothing until it drives action</a:t>
            </a:r>
          </a:p>
        </p:txBody>
      </p:sp>
      <p:sp>
        <p:nvSpPr>
          <p:cNvPr id="6" name="Rounded Rectangle 5"/>
          <p:cNvSpPr/>
          <p:nvPr/>
        </p:nvSpPr>
        <p:spPr>
          <a:xfrm>
            <a:off x="548640" y="1874519"/>
            <a:ext cx="1719072" cy="2514600"/>
          </a:xfrm>
          <a:prstGeom prst="roundRect">
            <a:avLst>
              <a:gd name="adj" fmla="val 6382"/>
            </a:avLst>
          </a:prstGeom>
          <a:solidFill>
            <a:srgbClr val="F4F5F6"/>
          </a:solidFill>
          <a:ln>
            <a:noFill/>
          </a:ln>
          <a:effectLst/>
        </p:spPr>
        <p:txBody>
          <a:bodyPr rtlCol="0" anchor="ctr"/>
          <a:lstStyle/>
          <a:p/>
        </p:txBody>
      </p:sp>
      <p:sp>
        <p:nvSpPr>
          <p:cNvPr id="7" name="Oval 6"/>
          <p:cNvSpPr/>
          <p:nvPr/>
        </p:nvSpPr>
        <p:spPr>
          <a:xfrm>
            <a:off x="1005840" y="2103120"/>
            <a:ext cx="777240" cy="777240"/>
          </a:xfrm>
          <a:prstGeom prst="ellipse">
            <a:avLst/>
          </a:prstGeom>
          <a:solidFill>
            <a:srgbClr val="E6F4EC"/>
          </a:solidFill>
          <a:ln>
            <a:noFill/>
          </a:ln>
          <a:effectLst/>
        </p:spPr>
        <p:txBody>
          <a:bodyPr rtlCol="0" anchor="ctr"/>
          <a:lstStyle/>
          <a:p>
            <a:pPr algn="ctr"/>
          </a:p>
        </p:txBody>
      </p:sp>
      <p:pic>
        <p:nvPicPr>
          <p:cNvPr id="8" name="Picture 7" descr="database_g.png"/>
          <p:cNvPicPr>
            <a:picLocks noChangeAspect="1"/>
          </p:cNvPicPr>
          <p:nvPr/>
        </p:nvPicPr>
        <p:blipFill>
          <a:blip r:embed="rId2"/>
          <a:stretch>
            <a:fillRect/>
          </a:stretch>
        </p:blipFill>
        <p:spPr>
          <a:xfrm>
            <a:off x="1176832" y="2274112"/>
            <a:ext cx="435254" cy="435254"/>
          </a:xfrm>
          <a:prstGeom prst="rect">
            <a:avLst/>
          </a:prstGeom>
        </p:spPr>
      </p:pic>
      <p:sp>
        <p:nvSpPr>
          <p:cNvPr id="9" name="TextBox 8"/>
          <p:cNvSpPr txBox="1"/>
          <p:nvPr/>
        </p:nvSpPr>
        <p:spPr>
          <a:xfrm>
            <a:off x="685800" y="3017520"/>
            <a:ext cx="1444751" cy="548640"/>
          </a:xfrm>
          <a:prstGeom prst="rect">
            <a:avLst/>
          </a:prstGeom>
          <a:noFill/>
        </p:spPr>
        <p:txBody>
          <a:bodyPr wrap="square" lIns="0" rIns="0" tIns="0" bIns="0" anchor="t">
            <a:spAutoFit/>
          </a:bodyPr>
          <a:lstStyle/>
          <a:p>
            <a:pPr algn="ctr">
              <a:lnSpc>
                <a:spcPct val="95000"/>
              </a:lnSpc>
            </a:pPr>
            <a:r>
              <a:rPr sz="1500" b="1">
                <a:solidFill>
                  <a:srgbClr val="23272B"/>
                </a:solidFill>
                <a:latin typeface="Arial"/>
              </a:rPr>
              <a:t>Collect</a:t>
            </a:r>
          </a:p>
        </p:txBody>
      </p:sp>
      <p:sp>
        <p:nvSpPr>
          <p:cNvPr id="10" name="TextBox 9"/>
          <p:cNvSpPr txBox="1"/>
          <p:nvPr/>
        </p:nvSpPr>
        <p:spPr>
          <a:xfrm>
            <a:off x="685800" y="3566160"/>
            <a:ext cx="1444751" cy="731520"/>
          </a:xfrm>
          <a:prstGeom prst="rect">
            <a:avLst/>
          </a:prstGeom>
          <a:noFill/>
        </p:spPr>
        <p:txBody>
          <a:bodyPr wrap="square" lIns="0" rIns="0" tIns="0" bIns="0" anchor="t">
            <a:spAutoFit/>
          </a:bodyPr>
          <a:lstStyle/>
          <a:p>
            <a:pPr algn="ctr">
              <a:lnSpc>
                <a:spcPct val="100000"/>
              </a:lnSpc>
            </a:pPr>
            <a:r>
              <a:rPr sz="1150" b="0">
                <a:solidFill>
                  <a:srgbClr val="5F6670"/>
                </a:solidFill>
                <a:latin typeface="Arial"/>
              </a:rPr>
              <a:t>Visits, GPS, photos, orders, payments, ERP</a:t>
            </a:r>
          </a:p>
        </p:txBody>
      </p:sp>
      <p:sp>
        <p:nvSpPr>
          <p:cNvPr id="11" name="TextBox 10"/>
          <p:cNvSpPr txBox="1"/>
          <p:nvPr/>
        </p:nvSpPr>
        <p:spPr>
          <a:xfrm>
            <a:off x="548640" y="1536192"/>
            <a:ext cx="1719072" cy="274320"/>
          </a:xfrm>
          <a:prstGeom prst="rect">
            <a:avLst/>
          </a:prstGeom>
          <a:noFill/>
        </p:spPr>
        <p:txBody>
          <a:bodyPr wrap="square" lIns="0" rIns="0" tIns="0" bIns="0" anchor="t">
            <a:spAutoFit/>
          </a:bodyPr>
          <a:lstStyle/>
          <a:p>
            <a:pPr algn="ctr">
              <a:lnSpc>
                <a:spcPct val="100000"/>
              </a:lnSpc>
            </a:pPr>
            <a:r>
              <a:rPr sz="1300" b="1">
                <a:solidFill>
                  <a:srgbClr val="009343"/>
                </a:solidFill>
                <a:latin typeface="Arial"/>
              </a:rPr>
              <a:t>1</a:t>
            </a:r>
          </a:p>
        </p:txBody>
      </p:sp>
      <p:sp>
        <p:nvSpPr>
          <p:cNvPr id="12" name="Rounded Rectangle 11"/>
          <p:cNvSpPr/>
          <p:nvPr/>
        </p:nvSpPr>
        <p:spPr>
          <a:xfrm>
            <a:off x="2423160" y="1874519"/>
            <a:ext cx="1719072" cy="2514600"/>
          </a:xfrm>
          <a:prstGeom prst="roundRect">
            <a:avLst>
              <a:gd name="adj" fmla="val 6382"/>
            </a:avLst>
          </a:prstGeom>
          <a:solidFill>
            <a:srgbClr val="F4F5F6"/>
          </a:solidFill>
          <a:ln>
            <a:noFill/>
          </a:ln>
          <a:effectLst/>
        </p:spPr>
        <p:txBody>
          <a:bodyPr rtlCol="0" anchor="ctr"/>
          <a:lstStyle/>
          <a:p/>
        </p:txBody>
      </p:sp>
      <p:sp>
        <p:nvSpPr>
          <p:cNvPr id="13" name="Oval 12"/>
          <p:cNvSpPr/>
          <p:nvPr/>
        </p:nvSpPr>
        <p:spPr>
          <a:xfrm>
            <a:off x="2880360" y="2103120"/>
            <a:ext cx="777240" cy="777240"/>
          </a:xfrm>
          <a:prstGeom prst="ellipse">
            <a:avLst/>
          </a:prstGeom>
          <a:solidFill>
            <a:srgbClr val="E6F4EC"/>
          </a:solidFill>
          <a:ln>
            <a:noFill/>
          </a:ln>
          <a:effectLst/>
        </p:spPr>
        <p:txBody>
          <a:bodyPr rtlCol="0" anchor="ctr"/>
          <a:lstStyle/>
          <a:p>
            <a:pPr algn="ctr"/>
          </a:p>
        </p:txBody>
      </p:sp>
      <p:pic>
        <p:nvPicPr>
          <p:cNvPr id="14" name="Picture 13" descr="sparkles_g.png"/>
          <p:cNvPicPr>
            <a:picLocks noChangeAspect="1"/>
          </p:cNvPicPr>
          <p:nvPr/>
        </p:nvPicPr>
        <p:blipFill>
          <a:blip r:embed="rId3"/>
          <a:stretch>
            <a:fillRect/>
          </a:stretch>
        </p:blipFill>
        <p:spPr>
          <a:xfrm>
            <a:off x="3051352" y="2274112"/>
            <a:ext cx="435254" cy="435254"/>
          </a:xfrm>
          <a:prstGeom prst="rect">
            <a:avLst/>
          </a:prstGeom>
        </p:spPr>
      </p:pic>
      <p:sp>
        <p:nvSpPr>
          <p:cNvPr id="15" name="TextBox 14"/>
          <p:cNvSpPr txBox="1"/>
          <p:nvPr/>
        </p:nvSpPr>
        <p:spPr>
          <a:xfrm>
            <a:off x="2560320" y="3017520"/>
            <a:ext cx="1444751" cy="548640"/>
          </a:xfrm>
          <a:prstGeom prst="rect">
            <a:avLst/>
          </a:prstGeom>
          <a:noFill/>
        </p:spPr>
        <p:txBody>
          <a:bodyPr wrap="square" lIns="0" rIns="0" tIns="0" bIns="0" anchor="t">
            <a:spAutoFit/>
          </a:bodyPr>
          <a:lstStyle/>
          <a:p>
            <a:pPr algn="ctr">
              <a:lnSpc>
                <a:spcPct val="95000"/>
              </a:lnSpc>
            </a:pPr>
            <a:r>
              <a:rPr sz="1500" b="1">
                <a:solidFill>
                  <a:srgbClr val="23272B"/>
                </a:solidFill>
                <a:latin typeface="Arial"/>
              </a:rPr>
              <a:t>Analyse</a:t>
            </a:r>
          </a:p>
        </p:txBody>
      </p:sp>
      <p:sp>
        <p:nvSpPr>
          <p:cNvPr id="16" name="TextBox 15"/>
          <p:cNvSpPr txBox="1"/>
          <p:nvPr/>
        </p:nvSpPr>
        <p:spPr>
          <a:xfrm>
            <a:off x="2560320" y="3566160"/>
            <a:ext cx="1444751" cy="731520"/>
          </a:xfrm>
          <a:prstGeom prst="rect">
            <a:avLst/>
          </a:prstGeom>
          <a:noFill/>
        </p:spPr>
        <p:txBody>
          <a:bodyPr wrap="square" lIns="0" rIns="0" tIns="0" bIns="0" anchor="t">
            <a:spAutoFit/>
          </a:bodyPr>
          <a:lstStyle/>
          <a:p>
            <a:pPr algn="ctr">
              <a:lnSpc>
                <a:spcPct val="100000"/>
              </a:lnSpc>
            </a:pPr>
            <a:r>
              <a:rPr sz="1150" b="0">
                <a:solidFill>
                  <a:srgbClr val="5F6670"/>
                </a:solidFill>
                <a:latin typeface="Arial"/>
              </a:rPr>
              <a:t>AI and rules spot the problem</a:t>
            </a:r>
          </a:p>
        </p:txBody>
      </p:sp>
      <p:sp>
        <p:nvSpPr>
          <p:cNvPr id="17" name="TextBox 16"/>
          <p:cNvSpPr txBox="1"/>
          <p:nvPr/>
        </p:nvSpPr>
        <p:spPr>
          <a:xfrm>
            <a:off x="2423160" y="1536192"/>
            <a:ext cx="1719072" cy="274320"/>
          </a:xfrm>
          <a:prstGeom prst="rect">
            <a:avLst/>
          </a:prstGeom>
          <a:noFill/>
        </p:spPr>
        <p:txBody>
          <a:bodyPr wrap="square" lIns="0" rIns="0" tIns="0" bIns="0" anchor="t">
            <a:spAutoFit/>
          </a:bodyPr>
          <a:lstStyle/>
          <a:p>
            <a:pPr algn="ctr">
              <a:lnSpc>
                <a:spcPct val="100000"/>
              </a:lnSpc>
            </a:pPr>
            <a:r>
              <a:rPr sz="1300" b="1">
                <a:solidFill>
                  <a:srgbClr val="009343"/>
                </a:solidFill>
                <a:latin typeface="Arial"/>
              </a:rPr>
              <a:t>2</a:t>
            </a:r>
          </a:p>
        </p:txBody>
      </p:sp>
      <p:sp>
        <p:nvSpPr>
          <p:cNvPr id="18" name="Rounded Rectangle 17"/>
          <p:cNvSpPr/>
          <p:nvPr/>
        </p:nvSpPr>
        <p:spPr>
          <a:xfrm>
            <a:off x="4297679" y="1874519"/>
            <a:ext cx="1719072" cy="2514600"/>
          </a:xfrm>
          <a:prstGeom prst="roundRect">
            <a:avLst>
              <a:gd name="adj" fmla="val 6382"/>
            </a:avLst>
          </a:prstGeom>
          <a:solidFill>
            <a:srgbClr val="009343"/>
          </a:solidFill>
          <a:ln>
            <a:noFill/>
          </a:ln>
          <a:effectLst/>
        </p:spPr>
        <p:txBody>
          <a:bodyPr rtlCol="0" anchor="ctr"/>
          <a:lstStyle/>
          <a:p/>
        </p:txBody>
      </p:sp>
      <p:sp>
        <p:nvSpPr>
          <p:cNvPr id="19" name="Oval 18"/>
          <p:cNvSpPr/>
          <p:nvPr/>
        </p:nvSpPr>
        <p:spPr>
          <a:xfrm>
            <a:off x="4754879" y="2103120"/>
            <a:ext cx="777240" cy="777240"/>
          </a:xfrm>
          <a:prstGeom prst="ellipse">
            <a:avLst/>
          </a:prstGeom>
          <a:solidFill>
            <a:srgbClr val="FFFFFF"/>
          </a:solidFill>
          <a:ln>
            <a:noFill/>
          </a:ln>
          <a:effectLst/>
        </p:spPr>
        <p:txBody>
          <a:bodyPr rtlCol="0" anchor="ctr"/>
          <a:lstStyle/>
          <a:p>
            <a:pPr algn="ctr"/>
          </a:p>
        </p:txBody>
      </p:sp>
      <p:pic>
        <p:nvPicPr>
          <p:cNvPr id="20" name="Picture 19" descr="person_g.png"/>
          <p:cNvPicPr>
            <a:picLocks noChangeAspect="1"/>
          </p:cNvPicPr>
          <p:nvPr/>
        </p:nvPicPr>
        <p:blipFill>
          <a:blip r:embed="rId4"/>
          <a:stretch>
            <a:fillRect/>
          </a:stretch>
        </p:blipFill>
        <p:spPr>
          <a:xfrm>
            <a:off x="4925872" y="2274112"/>
            <a:ext cx="435254" cy="435254"/>
          </a:xfrm>
          <a:prstGeom prst="rect">
            <a:avLst/>
          </a:prstGeom>
        </p:spPr>
      </p:pic>
      <p:sp>
        <p:nvSpPr>
          <p:cNvPr id="21" name="TextBox 20"/>
          <p:cNvSpPr txBox="1"/>
          <p:nvPr/>
        </p:nvSpPr>
        <p:spPr>
          <a:xfrm>
            <a:off x="4434840" y="3017520"/>
            <a:ext cx="1444751" cy="548640"/>
          </a:xfrm>
          <a:prstGeom prst="rect">
            <a:avLst/>
          </a:prstGeom>
          <a:noFill/>
        </p:spPr>
        <p:txBody>
          <a:bodyPr wrap="square" lIns="0" rIns="0" tIns="0" bIns="0" anchor="t">
            <a:spAutoFit/>
          </a:bodyPr>
          <a:lstStyle/>
          <a:p>
            <a:pPr algn="ctr">
              <a:lnSpc>
                <a:spcPct val="95000"/>
              </a:lnSpc>
            </a:pPr>
            <a:r>
              <a:rPr sz="1500" b="1">
                <a:solidFill>
                  <a:srgbClr val="FFFFFF"/>
                </a:solidFill>
                <a:latin typeface="Arial"/>
              </a:rPr>
              <a:t>Find cause &amp; owner</a:t>
            </a:r>
          </a:p>
        </p:txBody>
      </p:sp>
      <p:sp>
        <p:nvSpPr>
          <p:cNvPr id="22" name="TextBox 21"/>
          <p:cNvSpPr txBox="1"/>
          <p:nvPr/>
        </p:nvSpPr>
        <p:spPr>
          <a:xfrm>
            <a:off x="4434840" y="3566160"/>
            <a:ext cx="1444751" cy="731520"/>
          </a:xfrm>
          <a:prstGeom prst="rect">
            <a:avLst/>
          </a:prstGeom>
          <a:noFill/>
        </p:spPr>
        <p:txBody>
          <a:bodyPr wrap="square" lIns="0" rIns="0" tIns="0" bIns="0" anchor="t">
            <a:spAutoFit/>
          </a:bodyPr>
          <a:lstStyle/>
          <a:p>
            <a:pPr algn="ctr">
              <a:lnSpc>
                <a:spcPct val="100000"/>
              </a:lnSpc>
            </a:pPr>
            <a:r>
              <a:rPr sz="1150" b="0">
                <a:solidFill>
                  <a:srgbClr val="FFFFFF"/>
                </a:solidFill>
                <a:latin typeface="Arial"/>
              </a:rPr>
              <a:t>Why it happened, who is responsible</a:t>
            </a:r>
          </a:p>
        </p:txBody>
      </p:sp>
      <p:sp>
        <p:nvSpPr>
          <p:cNvPr id="23" name="TextBox 22"/>
          <p:cNvSpPr txBox="1"/>
          <p:nvPr/>
        </p:nvSpPr>
        <p:spPr>
          <a:xfrm>
            <a:off x="4297679" y="1536192"/>
            <a:ext cx="1719072" cy="274320"/>
          </a:xfrm>
          <a:prstGeom prst="rect">
            <a:avLst/>
          </a:prstGeom>
          <a:noFill/>
        </p:spPr>
        <p:txBody>
          <a:bodyPr wrap="square" lIns="0" rIns="0" tIns="0" bIns="0" anchor="t">
            <a:spAutoFit/>
          </a:bodyPr>
          <a:lstStyle/>
          <a:p>
            <a:pPr algn="ctr">
              <a:lnSpc>
                <a:spcPct val="100000"/>
              </a:lnSpc>
            </a:pPr>
            <a:r>
              <a:rPr sz="1300" b="1">
                <a:solidFill>
                  <a:srgbClr val="009343"/>
                </a:solidFill>
                <a:latin typeface="Arial"/>
              </a:rPr>
              <a:t>3</a:t>
            </a:r>
          </a:p>
        </p:txBody>
      </p:sp>
      <p:sp>
        <p:nvSpPr>
          <p:cNvPr id="24" name="Rounded Rectangle 23"/>
          <p:cNvSpPr/>
          <p:nvPr/>
        </p:nvSpPr>
        <p:spPr>
          <a:xfrm>
            <a:off x="6172199" y="1874519"/>
            <a:ext cx="1719072" cy="2514600"/>
          </a:xfrm>
          <a:prstGeom prst="roundRect">
            <a:avLst>
              <a:gd name="adj" fmla="val 6382"/>
            </a:avLst>
          </a:prstGeom>
          <a:solidFill>
            <a:srgbClr val="009343"/>
          </a:solidFill>
          <a:ln>
            <a:noFill/>
          </a:ln>
          <a:effectLst/>
        </p:spPr>
        <p:txBody>
          <a:bodyPr rtlCol="0" anchor="ctr"/>
          <a:lstStyle/>
          <a:p/>
        </p:txBody>
      </p:sp>
      <p:sp>
        <p:nvSpPr>
          <p:cNvPr id="25" name="Oval 24"/>
          <p:cNvSpPr/>
          <p:nvPr/>
        </p:nvSpPr>
        <p:spPr>
          <a:xfrm>
            <a:off x="6629399" y="2103120"/>
            <a:ext cx="777240" cy="777240"/>
          </a:xfrm>
          <a:prstGeom prst="ellipse">
            <a:avLst/>
          </a:prstGeom>
          <a:solidFill>
            <a:srgbClr val="FFFFFF"/>
          </a:solidFill>
          <a:ln>
            <a:noFill/>
          </a:ln>
          <a:effectLst/>
        </p:spPr>
        <p:txBody>
          <a:bodyPr rtlCol="0" anchor="ctr"/>
          <a:lstStyle/>
          <a:p>
            <a:pPr algn="ctr"/>
          </a:p>
        </p:txBody>
      </p:sp>
      <p:pic>
        <p:nvPicPr>
          <p:cNvPr id="26" name="Picture 25" descr="tasks_g.png"/>
          <p:cNvPicPr>
            <a:picLocks noChangeAspect="1"/>
          </p:cNvPicPr>
          <p:nvPr/>
        </p:nvPicPr>
        <p:blipFill>
          <a:blip r:embed="rId5"/>
          <a:stretch>
            <a:fillRect/>
          </a:stretch>
        </p:blipFill>
        <p:spPr>
          <a:xfrm>
            <a:off x="6800392" y="2274112"/>
            <a:ext cx="435254" cy="435254"/>
          </a:xfrm>
          <a:prstGeom prst="rect">
            <a:avLst/>
          </a:prstGeom>
        </p:spPr>
      </p:pic>
      <p:sp>
        <p:nvSpPr>
          <p:cNvPr id="27" name="TextBox 26"/>
          <p:cNvSpPr txBox="1"/>
          <p:nvPr/>
        </p:nvSpPr>
        <p:spPr>
          <a:xfrm>
            <a:off x="6309359" y="3017520"/>
            <a:ext cx="1444751" cy="548640"/>
          </a:xfrm>
          <a:prstGeom prst="rect">
            <a:avLst/>
          </a:prstGeom>
          <a:noFill/>
        </p:spPr>
        <p:txBody>
          <a:bodyPr wrap="square" lIns="0" rIns="0" tIns="0" bIns="0" anchor="t">
            <a:spAutoFit/>
          </a:bodyPr>
          <a:lstStyle/>
          <a:p>
            <a:pPr algn="ctr">
              <a:lnSpc>
                <a:spcPct val="95000"/>
              </a:lnSpc>
            </a:pPr>
            <a:r>
              <a:rPr sz="1500" b="1">
                <a:solidFill>
                  <a:srgbClr val="FFFFFF"/>
                </a:solidFill>
                <a:latin typeface="Arial"/>
              </a:rPr>
              <a:t>Task + deadline</a:t>
            </a:r>
          </a:p>
        </p:txBody>
      </p:sp>
      <p:sp>
        <p:nvSpPr>
          <p:cNvPr id="28" name="TextBox 27"/>
          <p:cNvSpPr txBox="1"/>
          <p:nvPr/>
        </p:nvSpPr>
        <p:spPr>
          <a:xfrm>
            <a:off x="6309359" y="3566160"/>
            <a:ext cx="1444751" cy="731520"/>
          </a:xfrm>
          <a:prstGeom prst="rect">
            <a:avLst/>
          </a:prstGeom>
          <a:noFill/>
        </p:spPr>
        <p:txBody>
          <a:bodyPr wrap="square" lIns="0" rIns="0" tIns="0" bIns="0" anchor="t">
            <a:spAutoFit/>
          </a:bodyPr>
          <a:lstStyle/>
          <a:p>
            <a:pPr algn="ctr">
              <a:lnSpc>
                <a:spcPct val="100000"/>
              </a:lnSpc>
            </a:pPr>
            <a:r>
              <a:rPr sz="1150" b="0">
                <a:solidFill>
                  <a:srgbClr val="FFFFFF"/>
                </a:solidFill>
                <a:latin typeface="Arial"/>
              </a:rPr>
              <a:t>The solution goes to that person</a:t>
            </a:r>
          </a:p>
        </p:txBody>
      </p:sp>
      <p:sp>
        <p:nvSpPr>
          <p:cNvPr id="29" name="TextBox 28"/>
          <p:cNvSpPr txBox="1"/>
          <p:nvPr/>
        </p:nvSpPr>
        <p:spPr>
          <a:xfrm>
            <a:off x="6172199" y="1536192"/>
            <a:ext cx="1719072" cy="274320"/>
          </a:xfrm>
          <a:prstGeom prst="rect">
            <a:avLst/>
          </a:prstGeom>
          <a:noFill/>
        </p:spPr>
        <p:txBody>
          <a:bodyPr wrap="square" lIns="0" rIns="0" tIns="0" bIns="0" anchor="t">
            <a:spAutoFit/>
          </a:bodyPr>
          <a:lstStyle/>
          <a:p>
            <a:pPr algn="ctr">
              <a:lnSpc>
                <a:spcPct val="100000"/>
              </a:lnSpc>
            </a:pPr>
            <a:r>
              <a:rPr sz="1300" b="1">
                <a:solidFill>
                  <a:srgbClr val="009343"/>
                </a:solidFill>
                <a:latin typeface="Arial"/>
              </a:rPr>
              <a:t>4</a:t>
            </a:r>
          </a:p>
        </p:txBody>
      </p:sp>
      <p:sp>
        <p:nvSpPr>
          <p:cNvPr id="30" name="Rounded Rectangle 29"/>
          <p:cNvSpPr/>
          <p:nvPr/>
        </p:nvSpPr>
        <p:spPr>
          <a:xfrm>
            <a:off x="8046719" y="1874519"/>
            <a:ext cx="1719072" cy="2514600"/>
          </a:xfrm>
          <a:prstGeom prst="roundRect">
            <a:avLst>
              <a:gd name="adj" fmla="val 6382"/>
            </a:avLst>
          </a:prstGeom>
          <a:solidFill>
            <a:srgbClr val="009343"/>
          </a:solidFill>
          <a:ln>
            <a:noFill/>
          </a:ln>
          <a:effectLst/>
        </p:spPr>
        <p:txBody>
          <a:bodyPr rtlCol="0" anchor="ctr"/>
          <a:lstStyle/>
          <a:p/>
        </p:txBody>
      </p:sp>
      <p:sp>
        <p:nvSpPr>
          <p:cNvPr id="31" name="Oval 30"/>
          <p:cNvSpPr/>
          <p:nvPr/>
        </p:nvSpPr>
        <p:spPr>
          <a:xfrm>
            <a:off x="8503919" y="2103120"/>
            <a:ext cx="777240" cy="777240"/>
          </a:xfrm>
          <a:prstGeom prst="ellipse">
            <a:avLst/>
          </a:prstGeom>
          <a:solidFill>
            <a:srgbClr val="FFFFFF"/>
          </a:solidFill>
          <a:ln>
            <a:noFill/>
          </a:ln>
          <a:effectLst/>
        </p:spPr>
        <p:txBody>
          <a:bodyPr rtlCol="0" anchor="ctr"/>
          <a:lstStyle/>
          <a:p>
            <a:pPr algn="ctr"/>
          </a:p>
        </p:txBody>
      </p:sp>
      <p:pic>
        <p:nvPicPr>
          <p:cNvPr id="32" name="Picture 31" descr="clock_g.png"/>
          <p:cNvPicPr>
            <a:picLocks noChangeAspect="1"/>
          </p:cNvPicPr>
          <p:nvPr/>
        </p:nvPicPr>
        <p:blipFill>
          <a:blip r:embed="rId6"/>
          <a:stretch>
            <a:fillRect/>
          </a:stretch>
        </p:blipFill>
        <p:spPr>
          <a:xfrm>
            <a:off x="8674912" y="2274112"/>
            <a:ext cx="435254" cy="435254"/>
          </a:xfrm>
          <a:prstGeom prst="rect">
            <a:avLst/>
          </a:prstGeom>
        </p:spPr>
      </p:pic>
      <p:sp>
        <p:nvSpPr>
          <p:cNvPr id="33" name="TextBox 32"/>
          <p:cNvSpPr txBox="1"/>
          <p:nvPr/>
        </p:nvSpPr>
        <p:spPr>
          <a:xfrm>
            <a:off x="8183879" y="3017520"/>
            <a:ext cx="1444751" cy="548640"/>
          </a:xfrm>
          <a:prstGeom prst="rect">
            <a:avLst/>
          </a:prstGeom>
          <a:noFill/>
        </p:spPr>
        <p:txBody>
          <a:bodyPr wrap="square" lIns="0" rIns="0" tIns="0" bIns="0" anchor="t">
            <a:spAutoFit/>
          </a:bodyPr>
          <a:lstStyle/>
          <a:p>
            <a:pPr algn="ctr">
              <a:lnSpc>
                <a:spcPct val="95000"/>
              </a:lnSpc>
            </a:pPr>
            <a:r>
              <a:rPr sz="1500" b="1">
                <a:solidFill>
                  <a:srgbClr val="FFFFFF"/>
                </a:solidFill>
                <a:latin typeface="Arial"/>
              </a:rPr>
              <a:t>Control</a:t>
            </a:r>
          </a:p>
        </p:txBody>
      </p:sp>
      <p:sp>
        <p:nvSpPr>
          <p:cNvPr id="34" name="TextBox 33"/>
          <p:cNvSpPr txBox="1"/>
          <p:nvPr/>
        </p:nvSpPr>
        <p:spPr>
          <a:xfrm>
            <a:off x="8183879" y="3566160"/>
            <a:ext cx="1444751" cy="731520"/>
          </a:xfrm>
          <a:prstGeom prst="rect">
            <a:avLst/>
          </a:prstGeom>
          <a:noFill/>
        </p:spPr>
        <p:txBody>
          <a:bodyPr wrap="square" lIns="0" rIns="0" tIns="0" bIns="0" anchor="t">
            <a:spAutoFit/>
          </a:bodyPr>
          <a:lstStyle/>
          <a:p>
            <a:pPr algn="ctr">
              <a:lnSpc>
                <a:spcPct val="100000"/>
              </a:lnSpc>
            </a:pPr>
            <a:r>
              <a:rPr sz="1150" b="0">
                <a:solidFill>
                  <a:srgbClr val="FFFFFF"/>
                </a:solidFill>
                <a:latin typeface="Arial"/>
              </a:rPr>
              <a:t>Reminders until it is done on time</a:t>
            </a:r>
          </a:p>
        </p:txBody>
      </p:sp>
      <p:sp>
        <p:nvSpPr>
          <p:cNvPr id="35" name="TextBox 34"/>
          <p:cNvSpPr txBox="1"/>
          <p:nvPr/>
        </p:nvSpPr>
        <p:spPr>
          <a:xfrm>
            <a:off x="8046719" y="1536192"/>
            <a:ext cx="1719072" cy="274320"/>
          </a:xfrm>
          <a:prstGeom prst="rect">
            <a:avLst/>
          </a:prstGeom>
          <a:noFill/>
        </p:spPr>
        <p:txBody>
          <a:bodyPr wrap="square" lIns="0" rIns="0" tIns="0" bIns="0" anchor="t">
            <a:spAutoFit/>
          </a:bodyPr>
          <a:lstStyle/>
          <a:p>
            <a:pPr algn="ctr">
              <a:lnSpc>
                <a:spcPct val="100000"/>
              </a:lnSpc>
            </a:pPr>
            <a:r>
              <a:rPr sz="1300" b="1">
                <a:solidFill>
                  <a:srgbClr val="009343"/>
                </a:solidFill>
                <a:latin typeface="Arial"/>
              </a:rPr>
              <a:t>5</a:t>
            </a:r>
          </a:p>
        </p:txBody>
      </p:sp>
      <p:sp>
        <p:nvSpPr>
          <p:cNvPr id="36" name="Rounded Rectangle 35"/>
          <p:cNvSpPr/>
          <p:nvPr/>
        </p:nvSpPr>
        <p:spPr>
          <a:xfrm>
            <a:off x="9921240" y="1874519"/>
            <a:ext cx="1719072" cy="2514600"/>
          </a:xfrm>
          <a:prstGeom prst="roundRect">
            <a:avLst>
              <a:gd name="adj" fmla="val 6382"/>
            </a:avLst>
          </a:prstGeom>
          <a:solidFill>
            <a:srgbClr val="F4F5F6"/>
          </a:solidFill>
          <a:ln>
            <a:noFill/>
          </a:ln>
          <a:effectLst/>
        </p:spPr>
        <p:txBody>
          <a:bodyPr rtlCol="0" anchor="ctr"/>
          <a:lstStyle/>
          <a:p/>
        </p:txBody>
      </p:sp>
      <p:sp>
        <p:nvSpPr>
          <p:cNvPr id="37" name="Oval 36"/>
          <p:cNvSpPr/>
          <p:nvPr/>
        </p:nvSpPr>
        <p:spPr>
          <a:xfrm>
            <a:off x="10378440" y="2103120"/>
            <a:ext cx="777240" cy="777240"/>
          </a:xfrm>
          <a:prstGeom prst="ellipse">
            <a:avLst/>
          </a:prstGeom>
          <a:solidFill>
            <a:srgbClr val="E6F4EC"/>
          </a:solidFill>
          <a:ln>
            <a:noFill/>
          </a:ln>
          <a:effectLst/>
        </p:spPr>
        <p:txBody>
          <a:bodyPr rtlCol="0" anchor="ctr"/>
          <a:lstStyle/>
          <a:p>
            <a:pPr algn="ctr"/>
          </a:p>
        </p:txBody>
      </p:sp>
      <p:pic>
        <p:nvPicPr>
          <p:cNvPr id="38" name="Picture 37" descr="warning_g.png"/>
          <p:cNvPicPr>
            <a:picLocks noChangeAspect="1"/>
          </p:cNvPicPr>
          <p:nvPr/>
        </p:nvPicPr>
        <p:blipFill>
          <a:blip r:embed="rId7"/>
          <a:stretch>
            <a:fillRect/>
          </a:stretch>
        </p:blipFill>
        <p:spPr>
          <a:xfrm>
            <a:off x="10549432" y="2274112"/>
            <a:ext cx="435254" cy="435254"/>
          </a:xfrm>
          <a:prstGeom prst="rect">
            <a:avLst/>
          </a:prstGeom>
        </p:spPr>
      </p:pic>
      <p:sp>
        <p:nvSpPr>
          <p:cNvPr id="39" name="TextBox 38"/>
          <p:cNvSpPr txBox="1"/>
          <p:nvPr/>
        </p:nvSpPr>
        <p:spPr>
          <a:xfrm>
            <a:off x="10058400" y="3017520"/>
            <a:ext cx="1444751" cy="548640"/>
          </a:xfrm>
          <a:prstGeom prst="rect">
            <a:avLst/>
          </a:prstGeom>
          <a:noFill/>
        </p:spPr>
        <p:txBody>
          <a:bodyPr wrap="square" lIns="0" rIns="0" tIns="0" bIns="0" anchor="t">
            <a:spAutoFit/>
          </a:bodyPr>
          <a:lstStyle/>
          <a:p>
            <a:pPr algn="ctr">
              <a:lnSpc>
                <a:spcPct val="95000"/>
              </a:lnSpc>
            </a:pPr>
            <a:r>
              <a:rPr sz="1500" b="1">
                <a:solidFill>
                  <a:srgbClr val="23272B"/>
                </a:solidFill>
                <a:latin typeface="Arial"/>
              </a:rPr>
              <a:t>Escalate or report</a:t>
            </a:r>
          </a:p>
        </p:txBody>
      </p:sp>
      <p:sp>
        <p:nvSpPr>
          <p:cNvPr id="40" name="TextBox 39"/>
          <p:cNvSpPr txBox="1"/>
          <p:nvPr/>
        </p:nvSpPr>
        <p:spPr>
          <a:xfrm>
            <a:off x="10058400" y="3566160"/>
            <a:ext cx="1444751" cy="731520"/>
          </a:xfrm>
          <a:prstGeom prst="rect">
            <a:avLst/>
          </a:prstGeom>
          <a:noFill/>
        </p:spPr>
        <p:txBody>
          <a:bodyPr wrap="square" lIns="0" rIns="0" tIns="0" bIns="0" anchor="t">
            <a:spAutoFit/>
          </a:bodyPr>
          <a:lstStyle/>
          <a:p>
            <a:pPr algn="ctr">
              <a:lnSpc>
                <a:spcPct val="100000"/>
              </a:lnSpc>
            </a:pPr>
            <a:r>
              <a:rPr sz="1150" b="0">
                <a:solidFill>
                  <a:srgbClr val="5F6670"/>
                </a:solidFill>
                <a:latin typeface="Arial"/>
              </a:rPr>
              <a:t>Not solved in plan? Management knows</a:t>
            </a:r>
          </a:p>
        </p:txBody>
      </p:sp>
      <p:sp>
        <p:nvSpPr>
          <p:cNvPr id="41" name="TextBox 40"/>
          <p:cNvSpPr txBox="1"/>
          <p:nvPr/>
        </p:nvSpPr>
        <p:spPr>
          <a:xfrm>
            <a:off x="9921240" y="1536192"/>
            <a:ext cx="1719072" cy="274320"/>
          </a:xfrm>
          <a:prstGeom prst="rect">
            <a:avLst/>
          </a:prstGeom>
          <a:noFill/>
        </p:spPr>
        <p:txBody>
          <a:bodyPr wrap="square" lIns="0" rIns="0" tIns="0" bIns="0" anchor="t">
            <a:spAutoFit/>
          </a:bodyPr>
          <a:lstStyle/>
          <a:p>
            <a:pPr algn="ctr">
              <a:lnSpc>
                <a:spcPct val="100000"/>
              </a:lnSpc>
            </a:pPr>
            <a:r>
              <a:rPr sz="1300" b="1">
                <a:solidFill>
                  <a:srgbClr val="009343"/>
                </a:solidFill>
                <a:latin typeface="Arial"/>
              </a:rPr>
              <a:t>6</a:t>
            </a:r>
          </a:p>
        </p:txBody>
      </p:sp>
      <p:sp>
        <p:nvSpPr>
          <p:cNvPr id="42" name="Rectangle 41"/>
          <p:cNvSpPr/>
          <p:nvPr/>
        </p:nvSpPr>
        <p:spPr>
          <a:xfrm>
            <a:off x="548640" y="4709160"/>
            <a:ext cx="11091672" cy="54864"/>
          </a:xfrm>
          <a:prstGeom prst="rect">
            <a:avLst/>
          </a:prstGeom>
          <a:solidFill>
            <a:srgbClr val="9ED3B3"/>
          </a:solidFill>
          <a:ln>
            <a:noFill/>
          </a:ln>
          <a:effectLst/>
        </p:spPr>
        <p:txBody>
          <a:bodyPr rtlCol="0" anchor="ctr"/>
          <a:lstStyle/>
          <a:p/>
        </p:txBody>
      </p:sp>
      <p:sp>
        <p:nvSpPr>
          <p:cNvPr id="43" name="TextBox 42"/>
          <p:cNvSpPr txBox="1"/>
          <p:nvPr/>
        </p:nvSpPr>
        <p:spPr>
          <a:xfrm>
            <a:off x="548640" y="4892040"/>
            <a:ext cx="11064240" cy="457200"/>
          </a:xfrm>
          <a:prstGeom prst="rect">
            <a:avLst/>
          </a:prstGeom>
          <a:noFill/>
        </p:spPr>
        <p:txBody>
          <a:bodyPr wrap="square" lIns="0" rIns="0" tIns="0" bIns="0" anchor="t">
            <a:spAutoFit/>
          </a:bodyPr>
          <a:lstStyle/>
          <a:p>
            <a:pPr algn="ctr">
              <a:lnSpc>
                <a:spcPct val="100000"/>
              </a:lnSpc>
            </a:pPr>
            <a:r>
              <a:rPr sz="1700" b="1">
                <a:solidFill>
                  <a:srgbClr val="006E32"/>
                </a:solidFill>
                <a:latin typeface="Arial"/>
              </a:rPr>
              <a:t>Steps 2 to 6 run automatically, led by our AI deputy director, Vaghinak.</a:t>
            </a:r>
          </a:p>
        </p:txBody>
      </p:sp>
      <p:sp>
        <p:nvSpPr>
          <p:cNvPr id="44" name="TextBox 43"/>
          <p:cNvSpPr txBox="1"/>
          <p:nvPr/>
        </p:nvSpPr>
        <p:spPr>
          <a:xfrm>
            <a:off x="548640" y="5440680"/>
            <a:ext cx="11064240" cy="731520"/>
          </a:xfrm>
          <a:prstGeom prst="rect">
            <a:avLst/>
          </a:prstGeom>
          <a:noFill/>
        </p:spPr>
        <p:txBody>
          <a:bodyPr wrap="square" lIns="0" rIns="0" tIns="0" bIns="0" anchor="t">
            <a:spAutoFit/>
          </a:bodyPr>
          <a:lstStyle/>
          <a:p>
            <a:pPr algn="ctr">
              <a:lnSpc>
                <a:spcPct val="100000"/>
              </a:lnSpc>
            </a:pPr>
            <a:r>
              <a:rPr sz="1400" b="0">
                <a:solidFill>
                  <a:srgbClr val="5F6670"/>
                </a:solidFill>
                <a:latin typeface="Arial"/>
              </a:rPr>
              <a:t>Managers stop searching for problems. They receive the problem, its cause, the person responsible and the deadline, and they only step in when the plan slips.</a:t>
            </a:r>
          </a:p>
        </p:txBody>
      </p:sp>
      <p:cxnSp>
        <p:nvCxnSpPr>
          <p:cNvPr id="45" name="Connector 44"/>
          <p:cNvCxnSpPr/>
          <p:nvPr/>
        </p:nvCxnSpPr>
        <p:spPr>
          <a:xfrm>
            <a:off x="548640" y="6400800"/>
            <a:ext cx="11094415" cy="0"/>
          </a:xfrm>
          <a:prstGeom prst="line">
            <a:avLst/>
          </a:prstGeom>
          <a:ln w="9525">
            <a:solidFill>
              <a:srgbClr val="D9DEDB"/>
            </a:solidFill>
          </a:ln>
        </p:spPr>
      </p:cxnSp>
      <p:pic>
        <p:nvPicPr>
          <p:cNvPr id="46" name="Picture 45" descr="kad-wordmark.png"/>
          <p:cNvPicPr>
            <a:picLocks noChangeAspect="1"/>
          </p:cNvPicPr>
          <p:nvPr/>
        </p:nvPicPr>
        <p:blipFill>
          <a:blip r:embed="rId8"/>
          <a:stretch>
            <a:fillRect/>
          </a:stretch>
        </p:blipFill>
        <p:spPr>
          <a:xfrm>
            <a:off x="548640" y="6519672"/>
            <a:ext cx="759129" cy="155448"/>
          </a:xfrm>
          <a:prstGeom prst="rect">
            <a:avLst/>
          </a:prstGeom>
        </p:spPr>
      </p:pic>
      <p:sp>
        <p:nvSpPr>
          <p:cNvPr id="47" name="TextBox 46"/>
          <p:cNvSpPr txBox="1"/>
          <p:nvPr/>
        </p:nvSpPr>
        <p:spPr>
          <a:xfrm>
            <a:off x="1417320" y="6492240"/>
            <a:ext cx="6400800" cy="228600"/>
          </a:xfrm>
          <a:prstGeom prst="rect">
            <a:avLst/>
          </a:prstGeom>
          <a:noFill/>
        </p:spPr>
        <p:txBody>
          <a:bodyPr wrap="square" lIns="0" rIns="0" tIns="0" bIns="0" anchor="t">
            <a:spAutoFit/>
          </a:bodyPr>
          <a:lstStyle/>
          <a:p>
            <a:pPr algn="l">
              <a:lnSpc>
                <a:spcPct val="100000"/>
              </a:lnSpc>
            </a:pPr>
            <a:r>
              <a:rPr sz="900" b="0">
                <a:solidFill>
                  <a:srgbClr val="5F6670"/>
                </a:solidFill>
                <a:latin typeface="Arial"/>
              </a:rPr>
              <a:t>Digital Sales Platform for Castrol Distribution</a:t>
            </a:r>
          </a:p>
        </p:txBody>
      </p:sp>
      <p:sp>
        <p:nvSpPr>
          <p:cNvPr id="48" name="TextBox 47"/>
          <p:cNvSpPr txBox="1"/>
          <p:nvPr/>
        </p:nvSpPr>
        <p:spPr>
          <a:xfrm>
            <a:off x="10728655" y="6492240"/>
            <a:ext cx="914400" cy="228600"/>
          </a:xfrm>
          <a:prstGeom prst="rect">
            <a:avLst/>
          </a:prstGeom>
          <a:noFill/>
        </p:spPr>
        <p:txBody>
          <a:bodyPr wrap="square" lIns="0" rIns="0" tIns="0" bIns="0" anchor="t">
            <a:spAutoFit/>
          </a:bodyPr>
          <a:lstStyle/>
          <a:p>
            <a:pPr algn="r">
              <a:lnSpc>
                <a:spcPct val="100000"/>
              </a:lnSpc>
            </a:pPr>
            <a:r>
              <a:rPr sz="900" b="0">
                <a:solidFill>
                  <a:srgbClr val="5F6670"/>
                </a:solidFill>
                <a:latin typeface="Arial"/>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347472"/>
            <a:ext cx="592531" cy="64008"/>
          </a:xfrm>
          <a:prstGeom prst="rect">
            <a:avLst/>
          </a:prstGeom>
          <a:solidFill>
            <a:srgbClr val="009343"/>
          </a:solidFill>
          <a:ln>
            <a:noFill/>
          </a:ln>
          <a:effectLst/>
        </p:spPr>
        <p:txBody>
          <a:bodyPr rtlCol="0" anchor="ctr"/>
          <a:lstStyle/>
          <a:p/>
        </p:txBody>
      </p:sp>
      <p:sp>
        <p:nvSpPr>
          <p:cNvPr id="3" name="Rectangle 2"/>
          <p:cNvSpPr/>
          <p:nvPr/>
        </p:nvSpPr>
        <p:spPr>
          <a:xfrm>
            <a:off x="1141171" y="347472"/>
            <a:ext cx="230428" cy="64008"/>
          </a:xfrm>
          <a:prstGeom prst="rect">
            <a:avLst/>
          </a:prstGeom>
          <a:solidFill>
            <a:srgbClr val="E2001A"/>
          </a:solidFill>
          <a:ln>
            <a:noFill/>
          </a:ln>
          <a:effectLst/>
        </p:spPr>
        <p:txBody>
          <a:bodyPr rtlCol="0" anchor="ctr"/>
          <a:lstStyle/>
          <a:p/>
        </p:txBody>
      </p:sp>
      <p:sp>
        <p:nvSpPr>
          <p:cNvPr id="4" name="TextBox 3"/>
          <p:cNvSpPr txBox="1"/>
          <p:nvPr/>
        </p:nvSpPr>
        <p:spPr>
          <a:xfrm>
            <a:off x="548640" y="502920"/>
            <a:ext cx="9144000" cy="274320"/>
          </a:xfrm>
          <a:prstGeom prst="rect">
            <a:avLst/>
          </a:prstGeom>
          <a:noFill/>
        </p:spPr>
        <p:txBody>
          <a:bodyPr wrap="square" lIns="0" rIns="0" tIns="0" bIns="0" anchor="t">
            <a:spAutoFit/>
          </a:bodyPr>
          <a:lstStyle/>
          <a:p>
            <a:pPr algn="l">
              <a:lnSpc>
                <a:spcPct val="100000"/>
              </a:lnSpc>
            </a:pPr>
            <a:r>
              <a:rPr sz="1200" b="1">
                <a:solidFill>
                  <a:srgbClr val="009343"/>
                </a:solidFill>
                <a:latin typeface="Arial"/>
              </a:rPr>
              <a:t>REAL PROBLEMS WE HAD TO SOLVE</a:t>
            </a:r>
          </a:p>
        </p:txBody>
      </p:sp>
      <p:sp>
        <p:nvSpPr>
          <p:cNvPr id="5" name="TextBox 4"/>
          <p:cNvSpPr txBox="1"/>
          <p:nvPr/>
        </p:nvSpPr>
        <p:spPr>
          <a:xfrm>
            <a:off x="548640" y="777240"/>
            <a:ext cx="11064240" cy="914400"/>
          </a:xfrm>
          <a:prstGeom prst="rect">
            <a:avLst/>
          </a:prstGeom>
          <a:noFill/>
        </p:spPr>
        <p:txBody>
          <a:bodyPr wrap="square" lIns="0" rIns="0" tIns="0" bIns="0" anchor="t">
            <a:spAutoFit/>
          </a:bodyPr>
          <a:lstStyle/>
          <a:p>
            <a:pPr algn="l">
              <a:lnSpc>
                <a:spcPct val="95000"/>
              </a:lnSpc>
            </a:pPr>
            <a:r>
              <a:rPr sz="3000" b="1">
                <a:solidFill>
                  <a:srgbClr val="23272B"/>
                </a:solidFill>
                <a:latin typeface="Arial"/>
              </a:rPr>
              <a:t>Ten daily problems of a distributor, before the platform</a:t>
            </a:r>
          </a:p>
        </p:txBody>
      </p:sp>
      <p:sp>
        <p:nvSpPr>
          <p:cNvPr id="6" name="Rounded Rectangle 5"/>
          <p:cNvSpPr/>
          <p:nvPr/>
        </p:nvSpPr>
        <p:spPr>
          <a:xfrm>
            <a:off x="548640" y="1783080"/>
            <a:ext cx="2084831" cy="1783080"/>
          </a:xfrm>
          <a:prstGeom prst="roundRect">
            <a:avLst>
              <a:gd name="adj" fmla="val 6153"/>
            </a:avLst>
          </a:prstGeom>
          <a:solidFill>
            <a:srgbClr val="F4F5F6"/>
          </a:solidFill>
          <a:ln>
            <a:noFill/>
          </a:ln>
          <a:effectLst/>
        </p:spPr>
        <p:txBody>
          <a:bodyPr rtlCol="0" anchor="ctr"/>
          <a:lstStyle/>
          <a:p/>
        </p:txBody>
      </p:sp>
      <p:sp>
        <p:nvSpPr>
          <p:cNvPr id="7" name="Oval 6"/>
          <p:cNvSpPr/>
          <p:nvPr/>
        </p:nvSpPr>
        <p:spPr>
          <a:xfrm>
            <a:off x="777240" y="2011680"/>
            <a:ext cx="685800" cy="685800"/>
          </a:xfrm>
          <a:prstGeom prst="ellipse">
            <a:avLst/>
          </a:prstGeom>
          <a:solidFill>
            <a:srgbClr val="FDEBED"/>
          </a:solidFill>
          <a:ln>
            <a:noFill/>
          </a:ln>
          <a:effectLst/>
        </p:spPr>
        <p:txBody>
          <a:bodyPr rtlCol="0" anchor="ctr"/>
          <a:lstStyle/>
          <a:p>
            <a:pPr algn="ctr"/>
          </a:p>
        </p:txBody>
      </p:sp>
      <p:pic>
        <p:nvPicPr>
          <p:cNvPr id="8" name="Picture 7" descr="clock_r.png"/>
          <p:cNvPicPr>
            <a:picLocks noChangeAspect="1"/>
          </p:cNvPicPr>
          <p:nvPr/>
        </p:nvPicPr>
        <p:blipFill>
          <a:blip r:embed="rId2"/>
          <a:stretch>
            <a:fillRect/>
          </a:stretch>
        </p:blipFill>
        <p:spPr>
          <a:xfrm>
            <a:off x="928115" y="2162556"/>
            <a:ext cx="384048" cy="384048"/>
          </a:xfrm>
          <a:prstGeom prst="rect">
            <a:avLst/>
          </a:prstGeom>
        </p:spPr>
      </p:pic>
      <p:sp>
        <p:nvSpPr>
          <p:cNvPr id="9" name="TextBox 8"/>
          <p:cNvSpPr txBox="1"/>
          <p:nvPr/>
        </p:nvSpPr>
        <p:spPr>
          <a:xfrm>
            <a:off x="777240" y="2788920"/>
            <a:ext cx="1737360" cy="685800"/>
          </a:xfrm>
          <a:prstGeom prst="rect">
            <a:avLst/>
          </a:prstGeom>
          <a:noFill/>
        </p:spPr>
        <p:txBody>
          <a:bodyPr wrap="square" lIns="0" rIns="0" tIns="0" bIns="0" anchor="t">
            <a:spAutoFit/>
          </a:bodyPr>
          <a:lstStyle/>
          <a:p>
            <a:pPr algn="l">
              <a:lnSpc>
                <a:spcPct val="95000"/>
              </a:lnSpc>
            </a:pPr>
            <a:r>
              <a:rPr sz="1450" b="1">
                <a:solidFill>
                  <a:srgbClr val="23272B"/>
                </a:solidFill>
                <a:latin typeface="Arial"/>
              </a:rPr>
              <a:t>Reps start late, skip visits</a:t>
            </a:r>
          </a:p>
        </p:txBody>
      </p:sp>
      <p:sp>
        <p:nvSpPr>
          <p:cNvPr id="10" name="Rounded Rectangle 9"/>
          <p:cNvSpPr/>
          <p:nvPr/>
        </p:nvSpPr>
        <p:spPr>
          <a:xfrm>
            <a:off x="2788920" y="1783080"/>
            <a:ext cx="2084831" cy="1783080"/>
          </a:xfrm>
          <a:prstGeom prst="roundRect">
            <a:avLst>
              <a:gd name="adj" fmla="val 6153"/>
            </a:avLst>
          </a:prstGeom>
          <a:solidFill>
            <a:srgbClr val="F4F5F6"/>
          </a:solidFill>
          <a:ln>
            <a:noFill/>
          </a:ln>
          <a:effectLst/>
        </p:spPr>
        <p:txBody>
          <a:bodyPr rtlCol="0" anchor="ctr"/>
          <a:lstStyle/>
          <a:p/>
        </p:txBody>
      </p:sp>
      <p:sp>
        <p:nvSpPr>
          <p:cNvPr id="11" name="Oval 10"/>
          <p:cNvSpPr/>
          <p:nvPr/>
        </p:nvSpPr>
        <p:spPr>
          <a:xfrm>
            <a:off x="3017520" y="2011680"/>
            <a:ext cx="685800" cy="685800"/>
          </a:xfrm>
          <a:prstGeom prst="ellipse">
            <a:avLst/>
          </a:prstGeom>
          <a:solidFill>
            <a:srgbClr val="FDEBED"/>
          </a:solidFill>
          <a:ln>
            <a:noFill/>
          </a:ln>
          <a:effectLst/>
        </p:spPr>
        <p:txBody>
          <a:bodyPr rtlCol="0" anchor="ctr"/>
          <a:lstStyle/>
          <a:p>
            <a:pPr algn="ctr"/>
          </a:p>
        </p:txBody>
      </p:sp>
      <p:pic>
        <p:nvPicPr>
          <p:cNvPr id="12" name="Picture 11" descr="mapWarning_r.png"/>
          <p:cNvPicPr>
            <a:picLocks noChangeAspect="1"/>
          </p:cNvPicPr>
          <p:nvPr/>
        </p:nvPicPr>
        <p:blipFill>
          <a:blip r:embed="rId3"/>
          <a:stretch>
            <a:fillRect/>
          </a:stretch>
        </p:blipFill>
        <p:spPr>
          <a:xfrm>
            <a:off x="3168396" y="2162556"/>
            <a:ext cx="384048" cy="384048"/>
          </a:xfrm>
          <a:prstGeom prst="rect">
            <a:avLst/>
          </a:prstGeom>
        </p:spPr>
      </p:pic>
      <p:sp>
        <p:nvSpPr>
          <p:cNvPr id="13" name="TextBox 12"/>
          <p:cNvSpPr txBox="1"/>
          <p:nvPr/>
        </p:nvSpPr>
        <p:spPr>
          <a:xfrm>
            <a:off x="3017520" y="2788920"/>
            <a:ext cx="1737360" cy="685800"/>
          </a:xfrm>
          <a:prstGeom prst="rect">
            <a:avLst/>
          </a:prstGeom>
          <a:noFill/>
        </p:spPr>
        <p:txBody>
          <a:bodyPr wrap="square" lIns="0" rIns="0" tIns="0" bIns="0" anchor="t">
            <a:spAutoFit/>
          </a:bodyPr>
          <a:lstStyle/>
          <a:p>
            <a:pPr algn="l">
              <a:lnSpc>
                <a:spcPct val="95000"/>
              </a:lnSpc>
            </a:pPr>
            <a:r>
              <a:rPr sz="1450" b="1">
                <a:solidFill>
                  <a:srgbClr val="23272B"/>
                </a:solidFill>
                <a:latin typeface="Arial"/>
              </a:rPr>
              <a:t>No proof a visit happened</a:t>
            </a:r>
          </a:p>
        </p:txBody>
      </p:sp>
      <p:sp>
        <p:nvSpPr>
          <p:cNvPr id="14" name="Rounded Rectangle 13"/>
          <p:cNvSpPr/>
          <p:nvPr/>
        </p:nvSpPr>
        <p:spPr>
          <a:xfrm>
            <a:off x="5029200" y="1783080"/>
            <a:ext cx="2084831" cy="1783080"/>
          </a:xfrm>
          <a:prstGeom prst="roundRect">
            <a:avLst>
              <a:gd name="adj" fmla="val 6153"/>
            </a:avLst>
          </a:prstGeom>
          <a:solidFill>
            <a:srgbClr val="F4F5F6"/>
          </a:solidFill>
          <a:ln>
            <a:noFill/>
          </a:ln>
          <a:effectLst/>
        </p:spPr>
        <p:txBody>
          <a:bodyPr rtlCol="0" anchor="ctr"/>
          <a:lstStyle/>
          <a:p/>
        </p:txBody>
      </p:sp>
      <p:sp>
        <p:nvSpPr>
          <p:cNvPr id="15" name="Oval 14"/>
          <p:cNvSpPr/>
          <p:nvPr/>
        </p:nvSpPr>
        <p:spPr>
          <a:xfrm>
            <a:off x="5257800" y="2011680"/>
            <a:ext cx="685800" cy="685800"/>
          </a:xfrm>
          <a:prstGeom prst="ellipse">
            <a:avLst/>
          </a:prstGeom>
          <a:solidFill>
            <a:srgbClr val="FDEBED"/>
          </a:solidFill>
          <a:ln>
            <a:noFill/>
          </a:ln>
          <a:effectLst/>
        </p:spPr>
        <p:txBody>
          <a:bodyPr rtlCol="0" anchor="ctr"/>
          <a:lstStyle/>
          <a:p>
            <a:pPr algn="ctr"/>
          </a:p>
        </p:txBody>
      </p:sp>
      <p:pic>
        <p:nvPicPr>
          <p:cNvPr id="16" name="Picture 15" descr="wallet_r.png"/>
          <p:cNvPicPr>
            <a:picLocks noChangeAspect="1"/>
          </p:cNvPicPr>
          <p:nvPr/>
        </p:nvPicPr>
        <p:blipFill>
          <a:blip r:embed="rId4"/>
          <a:stretch>
            <a:fillRect/>
          </a:stretch>
        </p:blipFill>
        <p:spPr>
          <a:xfrm>
            <a:off x="5408676" y="2162556"/>
            <a:ext cx="384048" cy="384048"/>
          </a:xfrm>
          <a:prstGeom prst="rect">
            <a:avLst/>
          </a:prstGeom>
        </p:spPr>
      </p:pic>
      <p:sp>
        <p:nvSpPr>
          <p:cNvPr id="17" name="TextBox 16"/>
          <p:cNvSpPr txBox="1"/>
          <p:nvPr/>
        </p:nvSpPr>
        <p:spPr>
          <a:xfrm>
            <a:off x="5257800" y="2788920"/>
            <a:ext cx="1737360" cy="685800"/>
          </a:xfrm>
          <a:prstGeom prst="rect">
            <a:avLst/>
          </a:prstGeom>
          <a:noFill/>
        </p:spPr>
        <p:txBody>
          <a:bodyPr wrap="square" lIns="0" rIns="0" tIns="0" bIns="0" anchor="t">
            <a:spAutoFit/>
          </a:bodyPr>
          <a:lstStyle/>
          <a:p>
            <a:pPr algn="l">
              <a:lnSpc>
                <a:spcPct val="95000"/>
              </a:lnSpc>
            </a:pPr>
            <a:r>
              <a:rPr sz="1450" b="1">
                <a:solidFill>
                  <a:srgbClr val="23272B"/>
                </a:solidFill>
                <a:latin typeface="Arial"/>
              </a:rPr>
              <a:t>Overdue debt nobody chases</a:t>
            </a:r>
          </a:p>
        </p:txBody>
      </p:sp>
      <p:sp>
        <p:nvSpPr>
          <p:cNvPr id="18" name="Rounded Rectangle 17"/>
          <p:cNvSpPr/>
          <p:nvPr/>
        </p:nvSpPr>
        <p:spPr>
          <a:xfrm>
            <a:off x="7269480" y="1783080"/>
            <a:ext cx="2084831" cy="1783080"/>
          </a:xfrm>
          <a:prstGeom prst="roundRect">
            <a:avLst>
              <a:gd name="adj" fmla="val 6153"/>
            </a:avLst>
          </a:prstGeom>
          <a:solidFill>
            <a:srgbClr val="F4F5F6"/>
          </a:solidFill>
          <a:ln>
            <a:noFill/>
          </a:ln>
          <a:effectLst/>
        </p:spPr>
        <p:txBody>
          <a:bodyPr rtlCol="0" anchor="ctr"/>
          <a:lstStyle/>
          <a:p/>
        </p:txBody>
      </p:sp>
      <p:sp>
        <p:nvSpPr>
          <p:cNvPr id="19" name="Oval 18"/>
          <p:cNvSpPr/>
          <p:nvPr/>
        </p:nvSpPr>
        <p:spPr>
          <a:xfrm>
            <a:off x="7498079" y="2011680"/>
            <a:ext cx="685800" cy="685800"/>
          </a:xfrm>
          <a:prstGeom prst="ellipse">
            <a:avLst/>
          </a:prstGeom>
          <a:solidFill>
            <a:srgbClr val="FDEBED"/>
          </a:solidFill>
          <a:ln>
            <a:noFill/>
          </a:ln>
          <a:effectLst/>
        </p:spPr>
        <p:txBody>
          <a:bodyPr rtlCol="0" anchor="ctr"/>
          <a:lstStyle/>
          <a:p>
            <a:pPr algn="ctr"/>
          </a:p>
        </p:txBody>
      </p:sp>
      <p:pic>
        <p:nvPicPr>
          <p:cNvPr id="20" name="Picture 19" descr="phone_r.png"/>
          <p:cNvPicPr>
            <a:picLocks noChangeAspect="1"/>
          </p:cNvPicPr>
          <p:nvPr/>
        </p:nvPicPr>
        <p:blipFill>
          <a:blip r:embed="rId5"/>
          <a:stretch>
            <a:fillRect/>
          </a:stretch>
        </p:blipFill>
        <p:spPr>
          <a:xfrm>
            <a:off x="7648955" y="2162556"/>
            <a:ext cx="384048" cy="384048"/>
          </a:xfrm>
          <a:prstGeom prst="rect">
            <a:avLst/>
          </a:prstGeom>
        </p:spPr>
      </p:pic>
      <p:sp>
        <p:nvSpPr>
          <p:cNvPr id="21" name="TextBox 20"/>
          <p:cNvSpPr txBox="1"/>
          <p:nvPr/>
        </p:nvSpPr>
        <p:spPr>
          <a:xfrm>
            <a:off x="7498079" y="2788920"/>
            <a:ext cx="1737360" cy="685800"/>
          </a:xfrm>
          <a:prstGeom prst="rect">
            <a:avLst/>
          </a:prstGeom>
          <a:noFill/>
        </p:spPr>
        <p:txBody>
          <a:bodyPr wrap="square" lIns="0" rIns="0" tIns="0" bIns="0" anchor="t">
            <a:spAutoFit/>
          </a:bodyPr>
          <a:lstStyle/>
          <a:p>
            <a:pPr algn="l">
              <a:lnSpc>
                <a:spcPct val="95000"/>
              </a:lnSpc>
            </a:pPr>
            <a:r>
              <a:rPr sz="1450" b="1">
                <a:solidFill>
                  <a:srgbClr val="23272B"/>
                </a:solidFill>
                <a:latin typeface="Arial"/>
              </a:rPr>
              <a:t>Orders by phone, wrong prices</a:t>
            </a:r>
          </a:p>
        </p:txBody>
      </p:sp>
      <p:sp>
        <p:nvSpPr>
          <p:cNvPr id="22" name="Rounded Rectangle 21"/>
          <p:cNvSpPr/>
          <p:nvPr/>
        </p:nvSpPr>
        <p:spPr>
          <a:xfrm>
            <a:off x="9509760" y="1783080"/>
            <a:ext cx="2084831" cy="1783080"/>
          </a:xfrm>
          <a:prstGeom prst="roundRect">
            <a:avLst>
              <a:gd name="adj" fmla="val 6153"/>
            </a:avLst>
          </a:prstGeom>
          <a:solidFill>
            <a:srgbClr val="F4F5F6"/>
          </a:solidFill>
          <a:ln>
            <a:noFill/>
          </a:ln>
          <a:effectLst/>
        </p:spPr>
        <p:txBody>
          <a:bodyPr rtlCol="0" anchor="ctr"/>
          <a:lstStyle/>
          <a:p/>
        </p:txBody>
      </p:sp>
      <p:sp>
        <p:nvSpPr>
          <p:cNvPr id="23" name="Oval 22"/>
          <p:cNvSpPr/>
          <p:nvPr/>
        </p:nvSpPr>
        <p:spPr>
          <a:xfrm>
            <a:off x="9738360" y="2011680"/>
            <a:ext cx="685800" cy="685800"/>
          </a:xfrm>
          <a:prstGeom prst="ellipse">
            <a:avLst/>
          </a:prstGeom>
          <a:solidFill>
            <a:srgbClr val="FDEBED"/>
          </a:solidFill>
          <a:ln>
            <a:noFill/>
          </a:ln>
          <a:effectLst/>
        </p:spPr>
        <p:txBody>
          <a:bodyPr rtlCol="0" anchor="ctr"/>
          <a:lstStyle/>
          <a:p>
            <a:pPr algn="ctr"/>
          </a:p>
        </p:txBody>
      </p:sp>
      <p:pic>
        <p:nvPicPr>
          <p:cNvPr id="24" name="Picture 23" descr="tag_r.png"/>
          <p:cNvPicPr>
            <a:picLocks noChangeAspect="1"/>
          </p:cNvPicPr>
          <p:nvPr/>
        </p:nvPicPr>
        <p:blipFill>
          <a:blip r:embed="rId6"/>
          <a:stretch>
            <a:fillRect/>
          </a:stretch>
        </p:blipFill>
        <p:spPr>
          <a:xfrm>
            <a:off x="9889236" y="2162556"/>
            <a:ext cx="384048" cy="384048"/>
          </a:xfrm>
          <a:prstGeom prst="rect">
            <a:avLst/>
          </a:prstGeom>
        </p:spPr>
      </p:pic>
      <p:sp>
        <p:nvSpPr>
          <p:cNvPr id="25" name="TextBox 24"/>
          <p:cNvSpPr txBox="1"/>
          <p:nvPr/>
        </p:nvSpPr>
        <p:spPr>
          <a:xfrm>
            <a:off x="9738360" y="2788920"/>
            <a:ext cx="1737360" cy="685800"/>
          </a:xfrm>
          <a:prstGeom prst="rect">
            <a:avLst/>
          </a:prstGeom>
          <a:noFill/>
        </p:spPr>
        <p:txBody>
          <a:bodyPr wrap="square" lIns="0" rIns="0" tIns="0" bIns="0" anchor="t">
            <a:spAutoFit/>
          </a:bodyPr>
          <a:lstStyle/>
          <a:p>
            <a:pPr algn="l">
              <a:lnSpc>
                <a:spcPct val="95000"/>
              </a:lnSpc>
            </a:pPr>
            <a:r>
              <a:rPr sz="1450" b="1">
                <a:solidFill>
                  <a:srgbClr val="23272B"/>
                </a:solidFill>
                <a:latin typeface="Arial"/>
              </a:rPr>
              <a:t>Discounts that kill margin</a:t>
            </a:r>
          </a:p>
        </p:txBody>
      </p:sp>
      <p:sp>
        <p:nvSpPr>
          <p:cNvPr id="26" name="Rounded Rectangle 25"/>
          <p:cNvSpPr/>
          <p:nvPr/>
        </p:nvSpPr>
        <p:spPr>
          <a:xfrm>
            <a:off x="548640" y="3749039"/>
            <a:ext cx="2084831" cy="1783080"/>
          </a:xfrm>
          <a:prstGeom prst="roundRect">
            <a:avLst>
              <a:gd name="adj" fmla="val 6153"/>
            </a:avLst>
          </a:prstGeom>
          <a:solidFill>
            <a:srgbClr val="F4F5F6"/>
          </a:solidFill>
          <a:ln>
            <a:noFill/>
          </a:ln>
          <a:effectLst/>
        </p:spPr>
        <p:txBody>
          <a:bodyPr rtlCol="0" anchor="ctr"/>
          <a:lstStyle/>
          <a:p/>
        </p:txBody>
      </p:sp>
      <p:sp>
        <p:nvSpPr>
          <p:cNvPr id="27" name="Oval 26"/>
          <p:cNvSpPr/>
          <p:nvPr/>
        </p:nvSpPr>
        <p:spPr>
          <a:xfrm>
            <a:off x="777240" y="3977639"/>
            <a:ext cx="685800" cy="685800"/>
          </a:xfrm>
          <a:prstGeom prst="ellipse">
            <a:avLst/>
          </a:prstGeom>
          <a:solidFill>
            <a:srgbClr val="FDEBED"/>
          </a:solidFill>
          <a:ln>
            <a:noFill/>
          </a:ln>
          <a:effectLst/>
        </p:spPr>
        <p:txBody>
          <a:bodyPr rtlCol="0" anchor="ctr"/>
          <a:lstStyle/>
          <a:p>
            <a:pPr algn="ctr"/>
          </a:p>
        </p:txBody>
      </p:sp>
      <p:pic>
        <p:nvPicPr>
          <p:cNvPr id="28" name="Picture 27" descr="payment_r.png"/>
          <p:cNvPicPr>
            <a:picLocks noChangeAspect="1"/>
          </p:cNvPicPr>
          <p:nvPr/>
        </p:nvPicPr>
        <p:blipFill>
          <a:blip r:embed="rId7"/>
          <a:stretch>
            <a:fillRect/>
          </a:stretch>
        </p:blipFill>
        <p:spPr>
          <a:xfrm>
            <a:off x="928115" y="4128515"/>
            <a:ext cx="384048" cy="384048"/>
          </a:xfrm>
          <a:prstGeom prst="rect">
            <a:avLst/>
          </a:prstGeom>
        </p:spPr>
      </p:pic>
      <p:sp>
        <p:nvSpPr>
          <p:cNvPr id="29" name="TextBox 28"/>
          <p:cNvSpPr txBox="1"/>
          <p:nvPr/>
        </p:nvSpPr>
        <p:spPr>
          <a:xfrm>
            <a:off x="777240" y="4754879"/>
            <a:ext cx="1737360" cy="685800"/>
          </a:xfrm>
          <a:prstGeom prst="rect">
            <a:avLst/>
          </a:prstGeom>
          <a:noFill/>
        </p:spPr>
        <p:txBody>
          <a:bodyPr wrap="square" lIns="0" rIns="0" tIns="0" bIns="0" anchor="t">
            <a:spAutoFit/>
          </a:bodyPr>
          <a:lstStyle/>
          <a:p>
            <a:pPr algn="l">
              <a:lnSpc>
                <a:spcPct val="95000"/>
              </a:lnSpc>
            </a:pPr>
            <a:r>
              <a:rPr sz="1450" b="1">
                <a:solidFill>
                  <a:srgbClr val="23272B"/>
                </a:solidFill>
                <a:latin typeface="Arial"/>
              </a:rPr>
              <a:t>Cash stuck with reps</a:t>
            </a:r>
          </a:p>
        </p:txBody>
      </p:sp>
      <p:sp>
        <p:nvSpPr>
          <p:cNvPr id="30" name="Rounded Rectangle 29"/>
          <p:cNvSpPr/>
          <p:nvPr/>
        </p:nvSpPr>
        <p:spPr>
          <a:xfrm>
            <a:off x="2788920" y="3749039"/>
            <a:ext cx="2084831" cy="1783080"/>
          </a:xfrm>
          <a:prstGeom prst="roundRect">
            <a:avLst>
              <a:gd name="adj" fmla="val 6153"/>
            </a:avLst>
          </a:prstGeom>
          <a:solidFill>
            <a:srgbClr val="F4F5F6"/>
          </a:solidFill>
          <a:ln>
            <a:noFill/>
          </a:ln>
          <a:effectLst/>
        </p:spPr>
        <p:txBody>
          <a:bodyPr rtlCol="0" anchor="ctr"/>
          <a:lstStyle/>
          <a:p/>
        </p:txBody>
      </p:sp>
      <p:sp>
        <p:nvSpPr>
          <p:cNvPr id="31" name="Oval 30"/>
          <p:cNvSpPr/>
          <p:nvPr/>
        </p:nvSpPr>
        <p:spPr>
          <a:xfrm>
            <a:off x="3017520" y="3977639"/>
            <a:ext cx="685800" cy="685800"/>
          </a:xfrm>
          <a:prstGeom prst="ellipse">
            <a:avLst/>
          </a:prstGeom>
          <a:solidFill>
            <a:srgbClr val="FDEBED"/>
          </a:solidFill>
          <a:ln>
            <a:noFill/>
          </a:ln>
          <a:effectLst/>
        </p:spPr>
        <p:txBody>
          <a:bodyPr rtlCol="0" anchor="ctr"/>
          <a:lstStyle/>
          <a:p>
            <a:pPr algn="ctr"/>
          </a:p>
        </p:txBody>
      </p:sp>
      <p:pic>
        <p:nvPicPr>
          <p:cNvPr id="32" name="Picture 31" descr="box_r.png"/>
          <p:cNvPicPr>
            <a:picLocks noChangeAspect="1"/>
          </p:cNvPicPr>
          <p:nvPr/>
        </p:nvPicPr>
        <p:blipFill>
          <a:blip r:embed="rId8"/>
          <a:stretch>
            <a:fillRect/>
          </a:stretch>
        </p:blipFill>
        <p:spPr>
          <a:xfrm>
            <a:off x="3168396" y="4128515"/>
            <a:ext cx="384048" cy="384048"/>
          </a:xfrm>
          <a:prstGeom prst="rect">
            <a:avLst/>
          </a:prstGeom>
        </p:spPr>
      </p:pic>
      <p:sp>
        <p:nvSpPr>
          <p:cNvPr id="33" name="TextBox 32"/>
          <p:cNvSpPr txBox="1"/>
          <p:nvPr/>
        </p:nvSpPr>
        <p:spPr>
          <a:xfrm>
            <a:off x="3017520" y="4754879"/>
            <a:ext cx="1737360" cy="685800"/>
          </a:xfrm>
          <a:prstGeom prst="rect">
            <a:avLst/>
          </a:prstGeom>
          <a:noFill/>
        </p:spPr>
        <p:txBody>
          <a:bodyPr wrap="square" lIns="0" rIns="0" tIns="0" bIns="0" anchor="t">
            <a:spAutoFit/>
          </a:bodyPr>
          <a:lstStyle/>
          <a:p>
            <a:pPr algn="l">
              <a:lnSpc>
                <a:spcPct val="95000"/>
              </a:lnSpc>
            </a:pPr>
            <a:r>
              <a:rPr sz="1450" b="1">
                <a:solidFill>
                  <a:srgbClr val="23272B"/>
                </a:solidFill>
                <a:latin typeface="Arial"/>
              </a:rPr>
              <a:t>Stock-outs and dead stock</a:t>
            </a:r>
          </a:p>
        </p:txBody>
      </p:sp>
      <p:sp>
        <p:nvSpPr>
          <p:cNvPr id="34" name="Rounded Rectangle 33"/>
          <p:cNvSpPr/>
          <p:nvPr/>
        </p:nvSpPr>
        <p:spPr>
          <a:xfrm>
            <a:off x="5029200" y="3749039"/>
            <a:ext cx="2084831" cy="1783080"/>
          </a:xfrm>
          <a:prstGeom prst="roundRect">
            <a:avLst>
              <a:gd name="adj" fmla="val 6153"/>
            </a:avLst>
          </a:prstGeom>
          <a:solidFill>
            <a:srgbClr val="F4F5F6"/>
          </a:solidFill>
          <a:ln>
            <a:noFill/>
          </a:ln>
          <a:effectLst/>
        </p:spPr>
        <p:txBody>
          <a:bodyPr rtlCol="0" anchor="ctr"/>
          <a:lstStyle/>
          <a:p/>
        </p:txBody>
      </p:sp>
      <p:sp>
        <p:nvSpPr>
          <p:cNvPr id="35" name="Oval 34"/>
          <p:cNvSpPr/>
          <p:nvPr/>
        </p:nvSpPr>
        <p:spPr>
          <a:xfrm>
            <a:off x="5257800" y="3977639"/>
            <a:ext cx="685800" cy="685800"/>
          </a:xfrm>
          <a:prstGeom prst="ellipse">
            <a:avLst/>
          </a:prstGeom>
          <a:solidFill>
            <a:srgbClr val="FDEBED"/>
          </a:solidFill>
          <a:ln>
            <a:noFill/>
          </a:ln>
          <a:effectLst/>
        </p:spPr>
        <p:txBody>
          <a:bodyPr rtlCol="0" anchor="ctr"/>
          <a:lstStyle/>
          <a:p>
            <a:pPr algn="ctr"/>
          </a:p>
        </p:txBody>
      </p:sp>
      <p:pic>
        <p:nvPicPr>
          <p:cNvPr id="36" name="Picture 35" descr="eye_r.png"/>
          <p:cNvPicPr>
            <a:picLocks noChangeAspect="1"/>
          </p:cNvPicPr>
          <p:nvPr/>
        </p:nvPicPr>
        <p:blipFill>
          <a:blip r:embed="rId9"/>
          <a:stretch>
            <a:fillRect/>
          </a:stretch>
        </p:blipFill>
        <p:spPr>
          <a:xfrm>
            <a:off x="5408676" y="4128515"/>
            <a:ext cx="384048" cy="384048"/>
          </a:xfrm>
          <a:prstGeom prst="rect">
            <a:avLst/>
          </a:prstGeom>
        </p:spPr>
      </p:pic>
      <p:sp>
        <p:nvSpPr>
          <p:cNvPr id="37" name="TextBox 36"/>
          <p:cNvSpPr txBox="1"/>
          <p:nvPr/>
        </p:nvSpPr>
        <p:spPr>
          <a:xfrm>
            <a:off x="5257800" y="4754879"/>
            <a:ext cx="1737360" cy="685800"/>
          </a:xfrm>
          <a:prstGeom prst="rect">
            <a:avLst/>
          </a:prstGeom>
          <a:noFill/>
        </p:spPr>
        <p:txBody>
          <a:bodyPr wrap="square" lIns="0" rIns="0" tIns="0" bIns="0" anchor="t">
            <a:spAutoFit/>
          </a:bodyPr>
          <a:lstStyle/>
          <a:p>
            <a:pPr algn="l">
              <a:lnSpc>
                <a:spcPct val="95000"/>
              </a:lnSpc>
            </a:pPr>
            <a:r>
              <a:rPr sz="1450" b="1">
                <a:solidFill>
                  <a:srgbClr val="23272B"/>
                </a:solidFill>
                <a:latin typeface="Arial"/>
              </a:rPr>
              <a:t>No view of the shelf, fakes</a:t>
            </a:r>
          </a:p>
        </p:txBody>
      </p:sp>
      <p:sp>
        <p:nvSpPr>
          <p:cNvPr id="38" name="Rounded Rectangle 37"/>
          <p:cNvSpPr/>
          <p:nvPr/>
        </p:nvSpPr>
        <p:spPr>
          <a:xfrm>
            <a:off x="7269480" y="3749039"/>
            <a:ext cx="2084831" cy="1783080"/>
          </a:xfrm>
          <a:prstGeom prst="roundRect">
            <a:avLst>
              <a:gd name="adj" fmla="val 6153"/>
            </a:avLst>
          </a:prstGeom>
          <a:solidFill>
            <a:srgbClr val="F4F5F6"/>
          </a:solidFill>
          <a:ln>
            <a:noFill/>
          </a:ln>
          <a:effectLst/>
        </p:spPr>
        <p:txBody>
          <a:bodyPr rtlCol="0" anchor="ctr"/>
          <a:lstStyle/>
          <a:p/>
        </p:txBody>
      </p:sp>
      <p:sp>
        <p:nvSpPr>
          <p:cNvPr id="39" name="Oval 38"/>
          <p:cNvSpPr/>
          <p:nvPr/>
        </p:nvSpPr>
        <p:spPr>
          <a:xfrm>
            <a:off x="7498079" y="3977639"/>
            <a:ext cx="685800" cy="685800"/>
          </a:xfrm>
          <a:prstGeom prst="ellipse">
            <a:avLst/>
          </a:prstGeom>
          <a:solidFill>
            <a:srgbClr val="FDEBED"/>
          </a:solidFill>
          <a:ln>
            <a:noFill/>
          </a:ln>
          <a:effectLst/>
        </p:spPr>
        <p:txBody>
          <a:bodyPr rtlCol="0" anchor="ctr"/>
          <a:lstStyle/>
          <a:p>
            <a:pPr algn="ctr"/>
          </a:p>
        </p:txBody>
      </p:sp>
      <p:pic>
        <p:nvPicPr>
          <p:cNvPr id="40" name="Picture 39" descr="sheet_r.png"/>
          <p:cNvPicPr>
            <a:picLocks noChangeAspect="1"/>
          </p:cNvPicPr>
          <p:nvPr/>
        </p:nvPicPr>
        <p:blipFill>
          <a:blip r:embed="rId10"/>
          <a:stretch>
            <a:fillRect/>
          </a:stretch>
        </p:blipFill>
        <p:spPr>
          <a:xfrm>
            <a:off x="7648955" y="4128515"/>
            <a:ext cx="384048" cy="384048"/>
          </a:xfrm>
          <a:prstGeom prst="rect">
            <a:avLst/>
          </a:prstGeom>
        </p:spPr>
      </p:pic>
      <p:sp>
        <p:nvSpPr>
          <p:cNvPr id="41" name="TextBox 40"/>
          <p:cNvSpPr txBox="1"/>
          <p:nvPr/>
        </p:nvSpPr>
        <p:spPr>
          <a:xfrm>
            <a:off x="7498079" y="4754879"/>
            <a:ext cx="1737360" cy="685800"/>
          </a:xfrm>
          <a:prstGeom prst="rect">
            <a:avLst/>
          </a:prstGeom>
          <a:noFill/>
        </p:spPr>
        <p:txBody>
          <a:bodyPr wrap="square" lIns="0" rIns="0" tIns="0" bIns="0" anchor="t">
            <a:spAutoFit/>
          </a:bodyPr>
          <a:lstStyle/>
          <a:p>
            <a:pPr algn="l">
              <a:lnSpc>
                <a:spcPct val="95000"/>
              </a:lnSpc>
            </a:pPr>
            <a:r>
              <a:rPr sz="1450" b="1">
                <a:solidFill>
                  <a:srgbClr val="23272B"/>
                </a:solidFill>
                <a:latin typeface="Arial"/>
              </a:rPr>
              <a:t>Late reports, Excel chaos</a:t>
            </a:r>
          </a:p>
        </p:txBody>
      </p:sp>
      <p:sp>
        <p:nvSpPr>
          <p:cNvPr id="42" name="Rounded Rectangle 41"/>
          <p:cNvSpPr/>
          <p:nvPr/>
        </p:nvSpPr>
        <p:spPr>
          <a:xfrm>
            <a:off x="9509760" y="3749039"/>
            <a:ext cx="2084831" cy="1783080"/>
          </a:xfrm>
          <a:prstGeom prst="roundRect">
            <a:avLst>
              <a:gd name="adj" fmla="val 6153"/>
            </a:avLst>
          </a:prstGeom>
          <a:solidFill>
            <a:srgbClr val="F4F5F6"/>
          </a:solidFill>
          <a:ln>
            <a:noFill/>
          </a:ln>
          <a:effectLst/>
        </p:spPr>
        <p:txBody>
          <a:bodyPr rtlCol="0" anchor="ctr"/>
          <a:lstStyle/>
          <a:p/>
        </p:txBody>
      </p:sp>
      <p:sp>
        <p:nvSpPr>
          <p:cNvPr id="43" name="Oval 42"/>
          <p:cNvSpPr/>
          <p:nvPr/>
        </p:nvSpPr>
        <p:spPr>
          <a:xfrm>
            <a:off x="9738360" y="3977639"/>
            <a:ext cx="685800" cy="685800"/>
          </a:xfrm>
          <a:prstGeom prst="ellipse">
            <a:avLst/>
          </a:prstGeom>
          <a:solidFill>
            <a:srgbClr val="FDEBED"/>
          </a:solidFill>
          <a:ln>
            <a:noFill/>
          </a:ln>
          <a:effectLst/>
        </p:spPr>
        <p:txBody>
          <a:bodyPr rtlCol="0" anchor="ctr"/>
          <a:lstStyle/>
          <a:p>
            <a:pPr algn="ctr"/>
          </a:p>
        </p:txBody>
      </p:sp>
      <p:pic>
        <p:nvPicPr>
          <p:cNvPr id="44" name="Picture 43" descr="history_r.png"/>
          <p:cNvPicPr>
            <a:picLocks noChangeAspect="1"/>
          </p:cNvPicPr>
          <p:nvPr/>
        </p:nvPicPr>
        <p:blipFill>
          <a:blip r:embed="rId11"/>
          <a:stretch>
            <a:fillRect/>
          </a:stretch>
        </p:blipFill>
        <p:spPr>
          <a:xfrm>
            <a:off x="9889236" y="4128515"/>
            <a:ext cx="384048" cy="384048"/>
          </a:xfrm>
          <a:prstGeom prst="rect">
            <a:avLst/>
          </a:prstGeom>
        </p:spPr>
      </p:pic>
      <p:sp>
        <p:nvSpPr>
          <p:cNvPr id="45" name="TextBox 44"/>
          <p:cNvSpPr txBox="1"/>
          <p:nvPr/>
        </p:nvSpPr>
        <p:spPr>
          <a:xfrm>
            <a:off x="9738360" y="4754879"/>
            <a:ext cx="1737360" cy="685800"/>
          </a:xfrm>
          <a:prstGeom prst="rect">
            <a:avLst/>
          </a:prstGeom>
          <a:noFill/>
        </p:spPr>
        <p:txBody>
          <a:bodyPr wrap="square" lIns="0" rIns="0" tIns="0" bIns="0" anchor="t">
            <a:spAutoFit/>
          </a:bodyPr>
          <a:lstStyle/>
          <a:p>
            <a:pPr algn="l">
              <a:lnSpc>
                <a:spcPct val="95000"/>
              </a:lnSpc>
            </a:pPr>
            <a:r>
              <a:rPr sz="1450" b="1">
                <a:solidFill>
                  <a:srgbClr val="23272B"/>
                </a:solidFill>
                <a:latin typeface="Arial"/>
              </a:rPr>
              <a:t>Customers quietly stop buying</a:t>
            </a:r>
          </a:p>
        </p:txBody>
      </p:sp>
      <p:sp>
        <p:nvSpPr>
          <p:cNvPr id="46" name="Rounded Rectangle 45"/>
          <p:cNvSpPr/>
          <p:nvPr/>
        </p:nvSpPr>
        <p:spPr>
          <a:xfrm>
            <a:off x="548640" y="5760720"/>
            <a:ext cx="11091672" cy="457200"/>
          </a:xfrm>
          <a:prstGeom prst="roundRect">
            <a:avLst>
              <a:gd name="adj" fmla="val 20000"/>
            </a:avLst>
          </a:prstGeom>
          <a:solidFill>
            <a:srgbClr val="FDEBED"/>
          </a:solidFill>
          <a:ln>
            <a:noFill/>
          </a:ln>
          <a:effectLst/>
        </p:spPr>
        <p:txBody>
          <a:bodyPr rtlCol="0" anchor="ctr"/>
          <a:lstStyle/>
          <a:p/>
        </p:txBody>
      </p:sp>
      <p:sp>
        <p:nvSpPr>
          <p:cNvPr id="47" name="TextBox 46"/>
          <p:cNvSpPr txBox="1"/>
          <p:nvPr/>
        </p:nvSpPr>
        <p:spPr>
          <a:xfrm>
            <a:off x="548640" y="5760720"/>
            <a:ext cx="11091672" cy="457200"/>
          </a:xfrm>
          <a:prstGeom prst="rect">
            <a:avLst/>
          </a:prstGeom>
          <a:noFill/>
        </p:spPr>
        <p:txBody>
          <a:bodyPr wrap="square" lIns="0" rIns="0" tIns="0" bIns="0" anchor="ctr">
            <a:spAutoFit/>
          </a:bodyPr>
          <a:lstStyle/>
          <a:p>
            <a:pPr algn="ctr">
              <a:lnSpc>
                <a:spcPct val="100000"/>
              </a:lnSpc>
            </a:pPr>
            <a:r>
              <a:rPr sz="1450" b="1">
                <a:solidFill>
                  <a:srgbClr val="E2001A"/>
                </a:solidFill>
                <a:latin typeface="Arial"/>
              </a:rPr>
              <a:t>Result: </a:t>
            </a:r>
            <a:r>
              <a:rPr sz="1450" b="0">
                <a:solidFill>
                  <a:srgbClr val="23272B"/>
                </a:solidFill>
                <a:latin typeface="Arial"/>
              </a:rPr>
              <a:t>management learns about problems a month late, when the money is already lost.</a:t>
            </a:r>
          </a:p>
        </p:txBody>
      </p:sp>
      <p:cxnSp>
        <p:nvCxnSpPr>
          <p:cNvPr id="48" name="Connector 47"/>
          <p:cNvCxnSpPr/>
          <p:nvPr/>
        </p:nvCxnSpPr>
        <p:spPr>
          <a:xfrm>
            <a:off x="548640" y="6400800"/>
            <a:ext cx="11094415" cy="0"/>
          </a:xfrm>
          <a:prstGeom prst="line">
            <a:avLst/>
          </a:prstGeom>
          <a:ln w="9525">
            <a:solidFill>
              <a:srgbClr val="D9DEDB"/>
            </a:solidFill>
          </a:ln>
        </p:spPr>
      </p:cxnSp>
      <p:pic>
        <p:nvPicPr>
          <p:cNvPr id="49" name="Picture 48" descr="kad-wordmark.png"/>
          <p:cNvPicPr>
            <a:picLocks noChangeAspect="1"/>
          </p:cNvPicPr>
          <p:nvPr/>
        </p:nvPicPr>
        <p:blipFill>
          <a:blip r:embed="rId12"/>
          <a:stretch>
            <a:fillRect/>
          </a:stretch>
        </p:blipFill>
        <p:spPr>
          <a:xfrm>
            <a:off x="548640" y="6519672"/>
            <a:ext cx="759129" cy="155448"/>
          </a:xfrm>
          <a:prstGeom prst="rect">
            <a:avLst/>
          </a:prstGeom>
        </p:spPr>
      </p:pic>
      <p:sp>
        <p:nvSpPr>
          <p:cNvPr id="50" name="TextBox 49"/>
          <p:cNvSpPr txBox="1"/>
          <p:nvPr/>
        </p:nvSpPr>
        <p:spPr>
          <a:xfrm>
            <a:off x="1417320" y="6492240"/>
            <a:ext cx="6400800" cy="228600"/>
          </a:xfrm>
          <a:prstGeom prst="rect">
            <a:avLst/>
          </a:prstGeom>
          <a:noFill/>
        </p:spPr>
        <p:txBody>
          <a:bodyPr wrap="square" lIns="0" rIns="0" tIns="0" bIns="0" anchor="t">
            <a:spAutoFit/>
          </a:bodyPr>
          <a:lstStyle/>
          <a:p>
            <a:pPr algn="l">
              <a:lnSpc>
                <a:spcPct val="100000"/>
              </a:lnSpc>
            </a:pPr>
            <a:r>
              <a:rPr sz="900" b="0">
                <a:solidFill>
                  <a:srgbClr val="5F6670"/>
                </a:solidFill>
                <a:latin typeface="Arial"/>
              </a:rPr>
              <a:t>Digital Sales Platform for Castrol Distribution</a:t>
            </a:r>
          </a:p>
        </p:txBody>
      </p:sp>
      <p:sp>
        <p:nvSpPr>
          <p:cNvPr id="51" name="TextBox 50"/>
          <p:cNvSpPr txBox="1"/>
          <p:nvPr/>
        </p:nvSpPr>
        <p:spPr>
          <a:xfrm>
            <a:off x="10728655" y="6492240"/>
            <a:ext cx="914400" cy="228600"/>
          </a:xfrm>
          <a:prstGeom prst="rect">
            <a:avLst/>
          </a:prstGeom>
          <a:noFill/>
        </p:spPr>
        <p:txBody>
          <a:bodyPr wrap="square" lIns="0" rIns="0" tIns="0" bIns="0" anchor="t">
            <a:spAutoFit/>
          </a:bodyPr>
          <a:lstStyle/>
          <a:p>
            <a:pPr algn="r">
              <a:lnSpc>
                <a:spcPct val="100000"/>
              </a:lnSpc>
            </a:pPr>
            <a:r>
              <a:rPr sz="900" b="0">
                <a:solidFill>
                  <a:srgbClr val="5F6670"/>
                </a:solidFill>
                <a:latin typeface="Arial"/>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347472"/>
            <a:ext cx="592531" cy="64008"/>
          </a:xfrm>
          <a:prstGeom prst="rect">
            <a:avLst/>
          </a:prstGeom>
          <a:solidFill>
            <a:srgbClr val="009343"/>
          </a:solidFill>
          <a:ln>
            <a:noFill/>
          </a:ln>
          <a:effectLst/>
        </p:spPr>
        <p:txBody>
          <a:bodyPr rtlCol="0" anchor="ctr"/>
          <a:lstStyle/>
          <a:p/>
        </p:txBody>
      </p:sp>
      <p:sp>
        <p:nvSpPr>
          <p:cNvPr id="3" name="Rectangle 2"/>
          <p:cNvSpPr/>
          <p:nvPr/>
        </p:nvSpPr>
        <p:spPr>
          <a:xfrm>
            <a:off x="1141171" y="347472"/>
            <a:ext cx="230428" cy="64008"/>
          </a:xfrm>
          <a:prstGeom prst="rect">
            <a:avLst/>
          </a:prstGeom>
          <a:solidFill>
            <a:srgbClr val="E2001A"/>
          </a:solidFill>
          <a:ln>
            <a:noFill/>
          </a:ln>
          <a:effectLst/>
        </p:spPr>
        <p:txBody>
          <a:bodyPr rtlCol="0" anchor="ctr"/>
          <a:lstStyle/>
          <a:p/>
        </p:txBody>
      </p:sp>
      <p:sp>
        <p:nvSpPr>
          <p:cNvPr id="4" name="TextBox 3"/>
          <p:cNvSpPr txBox="1"/>
          <p:nvPr/>
        </p:nvSpPr>
        <p:spPr>
          <a:xfrm>
            <a:off x="548640" y="502920"/>
            <a:ext cx="9144000" cy="274320"/>
          </a:xfrm>
          <a:prstGeom prst="rect">
            <a:avLst/>
          </a:prstGeom>
          <a:noFill/>
        </p:spPr>
        <p:txBody>
          <a:bodyPr wrap="square" lIns="0" rIns="0" tIns="0" bIns="0" anchor="t">
            <a:spAutoFit/>
          </a:bodyPr>
          <a:lstStyle/>
          <a:p>
            <a:pPr algn="l">
              <a:lnSpc>
                <a:spcPct val="100000"/>
              </a:lnSpc>
            </a:pPr>
            <a:r>
              <a:rPr sz="1200" b="1">
                <a:solidFill>
                  <a:srgbClr val="009343"/>
                </a:solidFill>
                <a:latin typeface="Arial"/>
              </a:rPr>
              <a:t>PROBLEM → SOLUTION (1/2)</a:t>
            </a:r>
          </a:p>
        </p:txBody>
      </p:sp>
      <p:sp>
        <p:nvSpPr>
          <p:cNvPr id="5" name="TextBox 4"/>
          <p:cNvSpPr txBox="1"/>
          <p:nvPr/>
        </p:nvSpPr>
        <p:spPr>
          <a:xfrm>
            <a:off x="548640" y="777240"/>
            <a:ext cx="11064240" cy="914400"/>
          </a:xfrm>
          <a:prstGeom prst="rect">
            <a:avLst/>
          </a:prstGeom>
          <a:noFill/>
        </p:spPr>
        <p:txBody>
          <a:bodyPr wrap="square" lIns="0" rIns="0" tIns="0" bIns="0" anchor="t">
            <a:spAutoFit/>
          </a:bodyPr>
          <a:lstStyle/>
          <a:p>
            <a:pPr algn="l">
              <a:lnSpc>
                <a:spcPct val="95000"/>
              </a:lnSpc>
            </a:pPr>
            <a:r>
              <a:rPr sz="3000" b="1">
                <a:solidFill>
                  <a:srgbClr val="23272B"/>
                </a:solidFill>
                <a:latin typeface="Arial"/>
              </a:rPr>
              <a:t>Each problem has an automatic answer and an owner</a:t>
            </a:r>
          </a:p>
        </p:txBody>
      </p:sp>
      <p:sp>
        <p:nvSpPr>
          <p:cNvPr id="6" name="TextBox 5"/>
          <p:cNvSpPr txBox="1"/>
          <p:nvPr/>
        </p:nvSpPr>
        <p:spPr>
          <a:xfrm>
            <a:off x="548640" y="1600200"/>
            <a:ext cx="4206240" cy="274320"/>
          </a:xfrm>
          <a:prstGeom prst="rect">
            <a:avLst/>
          </a:prstGeom>
          <a:noFill/>
        </p:spPr>
        <p:txBody>
          <a:bodyPr wrap="square" lIns="0" rIns="0" tIns="0" bIns="0" anchor="t">
            <a:spAutoFit/>
          </a:bodyPr>
          <a:lstStyle/>
          <a:p>
            <a:pPr algn="l">
              <a:lnSpc>
                <a:spcPct val="100000"/>
              </a:lnSpc>
            </a:pPr>
            <a:r>
              <a:rPr sz="1100" b="1">
                <a:solidFill>
                  <a:srgbClr val="E2001A"/>
                </a:solidFill>
                <a:latin typeface="Arial"/>
              </a:rPr>
              <a:t>PROBLEM</a:t>
            </a:r>
          </a:p>
        </p:txBody>
      </p:sp>
      <p:sp>
        <p:nvSpPr>
          <p:cNvPr id="7" name="TextBox 6"/>
          <p:cNvSpPr txBox="1"/>
          <p:nvPr/>
        </p:nvSpPr>
        <p:spPr>
          <a:xfrm>
            <a:off x="5440680" y="1600200"/>
            <a:ext cx="5943600" cy="274320"/>
          </a:xfrm>
          <a:prstGeom prst="rect">
            <a:avLst/>
          </a:prstGeom>
          <a:noFill/>
        </p:spPr>
        <p:txBody>
          <a:bodyPr wrap="square" lIns="0" rIns="0" tIns="0" bIns="0" anchor="t">
            <a:spAutoFit/>
          </a:bodyPr>
          <a:lstStyle/>
          <a:p>
            <a:pPr algn="l">
              <a:lnSpc>
                <a:spcPct val="100000"/>
              </a:lnSpc>
            </a:pPr>
            <a:r>
              <a:rPr sz="1100" b="1">
                <a:solidFill>
                  <a:srgbClr val="009343"/>
                </a:solidFill>
                <a:latin typeface="Arial"/>
              </a:rPr>
              <a:t>WHAT THE PLATFORM DOES</a:t>
            </a:r>
          </a:p>
        </p:txBody>
      </p:sp>
      <p:sp>
        <p:nvSpPr>
          <p:cNvPr id="8" name="Rounded Rectangle 7"/>
          <p:cNvSpPr/>
          <p:nvPr/>
        </p:nvSpPr>
        <p:spPr>
          <a:xfrm>
            <a:off x="548640" y="1920240"/>
            <a:ext cx="4343400" cy="731520"/>
          </a:xfrm>
          <a:prstGeom prst="roundRect">
            <a:avLst>
              <a:gd name="adj" fmla="val 12500"/>
            </a:avLst>
          </a:prstGeom>
          <a:solidFill>
            <a:srgbClr val="FDEBED"/>
          </a:solidFill>
          <a:ln>
            <a:noFill/>
          </a:ln>
          <a:effectLst/>
        </p:spPr>
        <p:txBody>
          <a:bodyPr rtlCol="0" anchor="ctr"/>
          <a:lstStyle/>
          <a:p/>
        </p:txBody>
      </p:sp>
      <p:sp>
        <p:nvSpPr>
          <p:cNvPr id="9" name="Oval 8"/>
          <p:cNvSpPr/>
          <p:nvPr/>
        </p:nvSpPr>
        <p:spPr>
          <a:xfrm>
            <a:off x="658368" y="2029968"/>
            <a:ext cx="512064" cy="512064"/>
          </a:xfrm>
          <a:prstGeom prst="ellipse">
            <a:avLst/>
          </a:prstGeom>
          <a:solidFill>
            <a:srgbClr val="FFFFFF"/>
          </a:solidFill>
          <a:ln>
            <a:noFill/>
          </a:ln>
          <a:effectLst/>
        </p:spPr>
        <p:txBody>
          <a:bodyPr rtlCol="0" anchor="ctr"/>
          <a:lstStyle/>
          <a:p>
            <a:pPr algn="ctr"/>
          </a:p>
        </p:txBody>
      </p:sp>
      <p:pic>
        <p:nvPicPr>
          <p:cNvPr id="10" name="Picture 9" descr="clock_r.png"/>
          <p:cNvPicPr>
            <a:picLocks noChangeAspect="1"/>
          </p:cNvPicPr>
          <p:nvPr/>
        </p:nvPicPr>
        <p:blipFill>
          <a:blip r:embed="rId2"/>
          <a:stretch>
            <a:fillRect/>
          </a:stretch>
        </p:blipFill>
        <p:spPr>
          <a:xfrm>
            <a:off x="771022" y="2142622"/>
            <a:ext cx="286755" cy="286755"/>
          </a:xfrm>
          <a:prstGeom prst="rect">
            <a:avLst/>
          </a:prstGeom>
        </p:spPr>
      </p:pic>
      <p:sp>
        <p:nvSpPr>
          <p:cNvPr id="11" name="TextBox 10"/>
          <p:cNvSpPr txBox="1"/>
          <p:nvPr/>
        </p:nvSpPr>
        <p:spPr>
          <a:xfrm>
            <a:off x="1325880" y="1920240"/>
            <a:ext cx="3474720" cy="731520"/>
          </a:xfrm>
          <a:prstGeom prst="rect">
            <a:avLst/>
          </a:prstGeom>
          <a:noFill/>
        </p:spPr>
        <p:txBody>
          <a:bodyPr wrap="square" lIns="0" rIns="0" tIns="0" bIns="0" anchor="ctr">
            <a:spAutoFit/>
          </a:bodyPr>
          <a:lstStyle/>
          <a:p>
            <a:pPr algn="l">
              <a:lnSpc>
                <a:spcPct val="100000"/>
              </a:lnSpc>
            </a:pPr>
            <a:r>
              <a:rPr sz="1400" b="1">
                <a:solidFill>
                  <a:srgbClr val="23272B"/>
                </a:solidFill>
                <a:latin typeface="Arial"/>
              </a:rPr>
              <a:t>Reps start late, skip visits</a:t>
            </a:r>
          </a:p>
        </p:txBody>
      </p:sp>
      <p:sp>
        <p:nvSpPr>
          <p:cNvPr id="12" name="Right Arrow 11"/>
          <p:cNvSpPr/>
          <p:nvPr/>
        </p:nvSpPr>
        <p:spPr>
          <a:xfrm>
            <a:off x="4965192" y="2121408"/>
            <a:ext cx="384048" cy="329184"/>
          </a:xfrm>
          <a:prstGeom prst="rightArrow">
            <a:avLst/>
          </a:prstGeom>
          <a:solidFill>
            <a:srgbClr val="009343"/>
          </a:solidFill>
          <a:ln>
            <a:noFill/>
          </a:ln>
        </p:spPr>
        <p:txBody>
          <a:bodyPr rtlCol="0" anchor="ctr"/>
          <a:lstStyle/>
          <a:p>
            <a:pPr algn="ctr"/>
          </a:p>
        </p:txBody>
      </p:sp>
      <p:sp>
        <p:nvSpPr>
          <p:cNvPr id="13" name="Rounded Rectangle 12"/>
          <p:cNvSpPr/>
          <p:nvPr/>
        </p:nvSpPr>
        <p:spPr>
          <a:xfrm>
            <a:off x="5440680" y="1920240"/>
            <a:ext cx="6199632" cy="731520"/>
          </a:xfrm>
          <a:prstGeom prst="roundRect">
            <a:avLst>
              <a:gd name="adj" fmla="val 12500"/>
            </a:avLst>
          </a:prstGeom>
          <a:solidFill>
            <a:srgbClr val="E6F4EC"/>
          </a:solidFill>
          <a:ln>
            <a:noFill/>
          </a:ln>
          <a:effectLst/>
        </p:spPr>
        <p:txBody>
          <a:bodyPr rtlCol="0" anchor="ctr"/>
          <a:lstStyle/>
          <a:p/>
        </p:txBody>
      </p:sp>
      <p:sp>
        <p:nvSpPr>
          <p:cNvPr id="14" name="TextBox 13"/>
          <p:cNvSpPr txBox="1"/>
          <p:nvPr/>
        </p:nvSpPr>
        <p:spPr>
          <a:xfrm>
            <a:off x="5669280" y="1920240"/>
            <a:ext cx="5852160" cy="731520"/>
          </a:xfrm>
          <a:prstGeom prst="rect">
            <a:avLst/>
          </a:prstGeom>
          <a:noFill/>
        </p:spPr>
        <p:txBody>
          <a:bodyPr wrap="square" lIns="0" rIns="0" tIns="0" bIns="0" anchor="ctr">
            <a:spAutoFit/>
          </a:bodyPr>
          <a:lstStyle/>
          <a:p>
            <a:pPr algn="l">
              <a:lnSpc>
                <a:spcPct val="100000"/>
              </a:lnSpc>
            </a:pPr>
            <a:r>
              <a:rPr sz="1300" b="0">
                <a:solidFill>
                  <a:srgbClr val="23272B"/>
                </a:solidFill>
                <a:latin typeface="Arial"/>
              </a:rPr>
              <a:t>Vaghinak logs every arrival and visit, reminds, asks a must-answer question, reports weekly</a:t>
            </a:r>
          </a:p>
        </p:txBody>
      </p:sp>
      <p:sp>
        <p:nvSpPr>
          <p:cNvPr id="15" name="Rounded Rectangle 14"/>
          <p:cNvSpPr/>
          <p:nvPr/>
        </p:nvSpPr>
        <p:spPr>
          <a:xfrm>
            <a:off x="548640" y="2770632"/>
            <a:ext cx="4343400" cy="731520"/>
          </a:xfrm>
          <a:prstGeom prst="roundRect">
            <a:avLst>
              <a:gd name="adj" fmla="val 12500"/>
            </a:avLst>
          </a:prstGeom>
          <a:solidFill>
            <a:srgbClr val="FDEBED"/>
          </a:solidFill>
          <a:ln>
            <a:noFill/>
          </a:ln>
          <a:effectLst/>
        </p:spPr>
        <p:txBody>
          <a:bodyPr rtlCol="0" anchor="ctr"/>
          <a:lstStyle/>
          <a:p/>
        </p:txBody>
      </p:sp>
      <p:sp>
        <p:nvSpPr>
          <p:cNvPr id="16" name="Oval 15"/>
          <p:cNvSpPr/>
          <p:nvPr/>
        </p:nvSpPr>
        <p:spPr>
          <a:xfrm>
            <a:off x="658368" y="2880360"/>
            <a:ext cx="512064" cy="512064"/>
          </a:xfrm>
          <a:prstGeom prst="ellipse">
            <a:avLst/>
          </a:prstGeom>
          <a:solidFill>
            <a:srgbClr val="FFFFFF"/>
          </a:solidFill>
          <a:ln>
            <a:noFill/>
          </a:ln>
          <a:effectLst/>
        </p:spPr>
        <p:txBody>
          <a:bodyPr rtlCol="0" anchor="ctr"/>
          <a:lstStyle/>
          <a:p>
            <a:pPr algn="ctr"/>
          </a:p>
        </p:txBody>
      </p:sp>
      <p:pic>
        <p:nvPicPr>
          <p:cNvPr id="17" name="Picture 16" descr="mapWarning_r.png"/>
          <p:cNvPicPr>
            <a:picLocks noChangeAspect="1"/>
          </p:cNvPicPr>
          <p:nvPr/>
        </p:nvPicPr>
        <p:blipFill>
          <a:blip r:embed="rId3"/>
          <a:stretch>
            <a:fillRect/>
          </a:stretch>
        </p:blipFill>
        <p:spPr>
          <a:xfrm>
            <a:off x="771022" y="2993014"/>
            <a:ext cx="286755" cy="286755"/>
          </a:xfrm>
          <a:prstGeom prst="rect">
            <a:avLst/>
          </a:prstGeom>
        </p:spPr>
      </p:pic>
      <p:sp>
        <p:nvSpPr>
          <p:cNvPr id="18" name="TextBox 17"/>
          <p:cNvSpPr txBox="1"/>
          <p:nvPr/>
        </p:nvSpPr>
        <p:spPr>
          <a:xfrm>
            <a:off x="1325880" y="2770632"/>
            <a:ext cx="3474720" cy="731520"/>
          </a:xfrm>
          <a:prstGeom prst="rect">
            <a:avLst/>
          </a:prstGeom>
          <a:noFill/>
        </p:spPr>
        <p:txBody>
          <a:bodyPr wrap="square" lIns="0" rIns="0" tIns="0" bIns="0" anchor="ctr">
            <a:spAutoFit/>
          </a:bodyPr>
          <a:lstStyle/>
          <a:p>
            <a:pPr algn="l">
              <a:lnSpc>
                <a:spcPct val="100000"/>
              </a:lnSpc>
            </a:pPr>
            <a:r>
              <a:rPr sz="1400" b="1">
                <a:solidFill>
                  <a:srgbClr val="23272B"/>
                </a:solidFill>
                <a:latin typeface="Arial"/>
              </a:rPr>
              <a:t>No proof a visit happened</a:t>
            </a:r>
          </a:p>
        </p:txBody>
      </p:sp>
      <p:sp>
        <p:nvSpPr>
          <p:cNvPr id="19" name="Right Arrow 18"/>
          <p:cNvSpPr/>
          <p:nvPr/>
        </p:nvSpPr>
        <p:spPr>
          <a:xfrm>
            <a:off x="4965192" y="2971800"/>
            <a:ext cx="384048" cy="329184"/>
          </a:xfrm>
          <a:prstGeom prst="rightArrow">
            <a:avLst/>
          </a:prstGeom>
          <a:solidFill>
            <a:srgbClr val="009343"/>
          </a:solidFill>
          <a:ln>
            <a:noFill/>
          </a:ln>
        </p:spPr>
        <p:txBody>
          <a:bodyPr rtlCol="0" anchor="ctr"/>
          <a:lstStyle/>
          <a:p>
            <a:pPr algn="ctr"/>
          </a:p>
        </p:txBody>
      </p:sp>
      <p:sp>
        <p:nvSpPr>
          <p:cNvPr id="20" name="Rounded Rectangle 19"/>
          <p:cNvSpPr/>
          <p:nvPr/>
        </p:nvSpPr>
        <p:spPr>
          <a:xfrm>
            <a:off x="5440680" y="2770632"/>
            <a:ext cx="6199632" cy="731520"/>
          </a:xfrm>
          <a:prstGeom prst="roundRect">
            <a:avLst>
              <a:gd name="adj" fmla="val 12500"/>
            </a:avLst>
          </a:prstGeom>
          <a:solidFill>
            <a:srgbClr val="E6F4EC"/>
          </a:solidFill>
          <a:ln>
            <a:noFill/>
          </a:ln>
          <a:effectLst/>
        </p:spPr>
        <p:txBody>
          <a:bodyPr rtlCol="0" anchor="ctr"/>
          <a:lstStyle/>
          <a:p/>
        </p:txBody>
      </p:sp>
      <p:sp>
        <p:nvSpPr>
          <p:cNvPr id="21" name="TextBox 20"/>
          <p:cNvSpPr txBox="1"/>
          <p:nvPr/>
        </p:nvSpPr>
        <p:spPr>
          <a:xfrm>
            <a:off x="5669280" y="2770632"/>
            <a:ext cx="5852160" cy="731520"/>
          </a:xfrm>
          <a:prstGeom prst="rect">
            <a:avLst/>
          </a:prstGeom>
          <a:noFill/>
        </p:spPr>
        <p:txBody>
          <a:bodyPr wrap="square" lIns="0" rIns="0" tIns="0" bIns="0" anchor="ctr">
            <a:spAutoFit/>
          </a:bodyPr>
          <a:lstStyle/>
          <a:p>
            <a:pPr algn="l">
              <a:lnSpc>
                <a:spcPct val="100000"/>
              </a:lnSpc>
            </a:pPr>
            <a:r>
              <a:rPr sz="1300" b="0">
                <a:solidFill>
                  <a:srgbClr val="23272B"/>
                </a:solidFill>
                <a:latin typeface="Arial"/>
              </a:rPr>
              <a:t>GPS check-in only within 300 m of the outlet, with photo and visit outcome</a:t>
            </a:r>
          </a:p>
        </p:txBody>
      </p:sp>
      <p:sp>
        <p:nvSpPr>
          <p:cNvPr id="22" name="Rounded Rectangle 21"/>
          <p:cNvSpPr/>
          <p:nvPr/>
        </p:nvSpPr>
        <p:spPr>
          <a:xfrm>
            <a:off x="548640" y="3621024"/>
            <a:ext cx="4343400" cy="731520"/>
          </a:xfrm>
          <a:prstGeom prst="roundRect">
            <a:avLst>
              <a:gd name="adj" fmla="val 12500"/>
            </a:avLst>
          </a:prstGeom>
          <a:solidFill>
            <a:srgbClr val="FDEBED"/>
          </a:solidFill>
          <a:ln>
            <a:noFill/>
          </a:ln>
          <a:effectLst/>
        </p:spPr>
        <p:txBody>
          <a:bodyPr rtlCol="0" anchor="ctr"/>
          <a:lstStyle/>
          <a:p/>
        </p:txBody>
      </p:sp>
      <p:sp>
        <p:nvSpPr>
          <p:cNvPr id="23" name="Oval 22"/>
          <p:cNvSpPr/>
          <p:nvPr/>
        </p:nvSpPr>
        <p:spPr>
          <a:xfrm>
            <a:off x="658368" y="3730752"/>
            <a:ext cx="512064" cy="512064"/>
          </a:xfrm>
          <a:prstGeom prst="ellipse">
            <a:avLst/>
          </a:prstGeom>
          <a:solidFill>
            <a:srgbClr val="FFFFFF"/>
          </a:solidFill>
          <a:ln>
            <a:noFill/>
          </a:ln>
          <a:effectLst/>
        </p:spPr>
        <p:txBody>
          <a:bodyPr rtlCol="0" anchor="ctr"/>
          <a:lstStyle/>
          <a:p>
            <a:pPr algn="ctr"/>
          </a:p>
        </p:txBody>
      </p:sp>
      <p:pic>
        <p:nvPicPr>
          <p:cNvPr id="24" name="Picture 23" descr="wallet_r.png"/>
          <p:cNvPicPr>
            <a:picLocks noChangeAspect="1"/>
          </p:cNvPicPr>
          <p:nvPr/>
        </p:nvPicPr>
        <p:blipFill>
          <a:blip r:embed="rId4"/>
          <a:stretch>
            <a:fillRect/>
          </a:stretch>
        </p:blipFill>
        <p:spPr>
          <a:xfrm>
            <a:off x="771022" y="3843406"/>
            <a:ext cx="286755" cy="286755"/>
          </a:xfrm>
          <a:prstGeom prst="rect">
            <a:avLst/>
          </a:prstGeom>
        </p:spPr>
      </p:pic>
      <p:sp>
        <p:nvSpPr>
          <p:cNvPr id="25" name="TextBox 24"/>
          <p:cNvSpPr txBox="1"/>
          <p:nvPr/>
        </p:nvSpPr>
        <p:spPr>
          <a:xfrm>
            <a:off x="1325880" y="3621024"/>
            <a:ext cx="3474720" cy="731520"/>
          </a:xfrm>
          <a:prstGeom prst="rect">
            <a:avLst/>
          </a:prstGeom>
          <a:noFill/>
        </p:spPr>
        <p:txBody>
          <a:bodyPr wrap="square" lIns="0" rIns="0" tIns="0" bIns="0" anchor="ctr">
            <a:spAutoFit/>
          </a:bodyPr>
          <a:lstStyle/>
          <a:p>
            <a:pPr algn="l">
              <a:lnSpc>
                <a:spcPct val="100000"/>
              </a:lnSpc>
            </a:pPr>
            <a:r>
              <a:rPr sz="1400" b="1">
                <a:solidFill>
                  <a:srgbClr val="23272B"/>
                </a:solidFill>
                <a:latin typeface="Arial"/>
              </a:rPr>
              <a:t>Overdue debt nobody chases</a:t>
            </a:r>
          </a:p>
        </p:txBody>
      </p:sp>
      <p:sp>
        <p:nvSpPr>
          <p:cNvPr id="26" name="Right Arrow 25"/>
          <p:cNvSpPr/>
          <p:nvPr/>
        </p:nvSpPr>
        <p:spPr>
          <a:xfrm>
            <a:off x="4965192" y="3822191"/>
            <a:ext cx="384048" cy="329184"/>
          </a:xfrm>
          <a:prstGeom prst="rightArrow">
            <a:avLst/>
          </a:prstGeom>
          <a:solidFill>
            <a:srgbClr val="009343"/>
          </a:solidFill>
          <a:ln>
            <a:noFill/>
          </a:ln>
        </p:spPr>
        <p:txBody>
          <a:bodyPr rtlCol="0" anchor="ctr"/>
          <a:lstStyle/>
          <a:p>
            <a:pPr algn="ctr"/>
          </a:p>
        </p:txBody>
      </p:sp>
      <p:sp>
        <p:nvSpPr>
          <p:cNvPr id="27" name="Rounded Rectangle 26"/>
          <p:cNvSpPr/>
          <p:nvPr/>
        </p:nvSpPr>
        <p:spPr>
          <a:xfrm>
            <a:off x="5440680" y="3621024"/>
            <a:ext cx="6199632" cy="731520"/>
          </a:xfrm>
          <a:prstGeom prst="roundRect">
            <a:avLst>
              <a:gd name="adj" fmla="val 12500"/>
            </a:avLst>
          </a:prstGeom>
          <a:solidFill>
            <a:srgbClr val="E6F4EC"/>
          </a:solidFill>
          <a:ln>
            <a:noFill/>
          </a:ln>
          <a:effectLst/>
        </p:spPr>
        <p:txBody>
          <a:bodyPr rtlCol="0" anchor="ctr"/>
          <a:lstStyle/>
          <a:p/>
        </p:txBody>
      </p:sp>
      <p:sp>
        <p:nvSpPr>
          <p:cNvPr id="28" name="TextBox 27"/>
          <p:cNvSpPr txBox="1"/>
          <p:nvPr/>
        </p:nvSpPr>
        <p:spPr>
          <a:xfrm>
            <a:off x="5669280" y="3621024"/>
            <a:ext cx="5852160" cy="731520"/>
          </a:xfrm>
          <a:prstGeom prst="rect">
            <a:avLst/>
          </a:prstGeom>
          <a:noFill/>
        </p:spPr>
        <p:txBody>
          <a:bodyPr wrap="square" lIns="0" rIns="0" tIns="0" bIns="0" anchor="ctr">
            <a:spAutoFit/>
          </a:bodyPr>
          <a:lstStyle/>
          <a:p>
            <a:pPr algn="l">
              <a:lnSpc>
                <a:spcPct val="100000"/>
              </a:lnSpc>
            </a:pPr>
            <a:r>
              <a:rPr sz="1300" b="0">
                <a:solidFill>
                  <a:srgbClr val="23272B"/>
                </a:solidFill>
                <a:latin typeface="Arial"/>
              </a:rPr>
              <a:t>Debt aged per invoice; a collection task for the next visit; promise dates; broken promise escalated</a:t>
            </a:r>
          </a:p>
        </p:txBody>
      </p:sp>
      <p:sp>
        <p:nvSpPr>
          <p:cNvPr id="29" name="Rounded Rectangle 28"/>
          <p:cNvSpPr/>
          <p:nvPr/>
        </p:nvSpPr>
        <p:spPr>
          <a:xfrm>
            <a:off x="548640" y="4471416"/>
            <a:ext cx="4343400" cy="731520"/>
          </a:xfrm>
          <a:prstGeom prst="roundRect">
            <a:avLst>
              <a:gd name="adj" fmla="val 12500"/>
            </a:avLst>
          </a:prstGeom>
          <a:solidFill>
            <a:srgbClr val="FDEBED"/>
          </a:solidFill>
          <a:ln>
            <a:noFill/>
          </a:ln>
          <a:effectLst/>
        </p:spPr>
        <p:txBody>
          <a:bodyPr rtlCol="0" anchor="ctr"/>
          <a:lstStyle/>
          <a:p/>
        </p:txBody>
      </p:sp>
      <p:sp>
        <p:nvSpPr>
          <p:cNvPr id="30" name="Oval 29"/>
          <p:cNvSpPr/>
          <p:nvPr/>
        </p:nvSpPr>
        <p:spPr>
          <a:xfrm>
            <a:off x="658368" y="4581144"/>
            <a:ext cx="512064" cy="512064"/>
          </a:xfrm>
          <a:prstGeom prst="ellipse">
            <a:avLst/>
          </a:prstGeom>
          <a:solidFill>
            <a:srgbClr val="FFFFFF"/>
          </a:solidFill>
          <a:ln>
            <a:noFill/>
          </a:ln>
          <a:effectLst/>
        </p:spPr>
        <p:txBody>
          <a:bodyPr rtlCol="0" anchor="ctr"/>
          <a:lstStyle/>
          <a:p>
            <a:pPr algn="ctr"/>
          </a:p>
        </p:txBody>
      </p:sp>
      <p:pic>
        <p:nvPicPr>
          <p:cNvPr id="31" name="Picture 30" descr="phone_r.png"/>
          <p:cNvPicPr>
            <a:picLocks noChangeAspect="1"/>
          </p:cNvPicPr>
          <p:nvPr/>
        </p:nvPicPr>
        <p:blipFill>
          <a:blip r:embed="rId5"/>
          <a:stretch>
            <a:fillRect/>
          </a:stretch>
        </p:blipFill>
        <p:spPr>
          <a:xfrm>
            <a:off x="771022" y="4693798"/>
            <a:ext cx="286755" cy="286755"/>
          </a:xfrm>
          <a:prstGeom prst="rect">
            <a:avLst/>
          </a:prstGeom>
        </p:spPr>
      </p:pic>
      <p:sp>
        <p:nvSpPr>
          <p:cNvPr id="32" name="TextBox 31"/>
          <p:cNvSpPr txBox="1"/>
          <p:nvPr/>
        </p:nvSpPr>
        <p:spPr>
          <a:xfrm>
            <a:off x="1325880" y="4471416"/>
            <a:ext cx="3474720" cy="731520"/>
          </a:xfrm>
          <a:prstGeom prst="rect">
            <a:avLst/>
          </a:prstGeom>
          <a:noFill/>
        </p:spPr>
        <p:txBody>
          <a:bodyPr wrap="square" lIns="0" rIns="0" tIns="0" bIns="0" anchor="ctr">
            <a:spAutoFit/>
          </a:bodyPr>
          <a:lstStyle/>
          <a:p>
            <a:pPr algn="l">
              <a:lnSpc>
                <a:spcPct val="100000"/>
              </a:lnSpc>
            </a:pPr>
            <a:r>
              <a:rPr sz="1400" b="1">
                <a:solidFill>
                  <a:srgbClr val="23272B"/>
                </a:solidFill>
                <a:latin typeface="Arial"/>
              </a:rPr>
              <a:t>Orders by phone, wrong prices</a:t>
            </a:r>
          </a:p>
        </p:txBody>
      </p:sp>
      <p:sp>
        <p:nvSpPr>
          <p:cNvPr id="33" name="Right Arrow 32"/>
          <p:cNvSpPr/>
          <p:nvPr/>
        </p:nvSpPr>
        <p:spPr>
          <a:xfrm>
            <a:off x="4965192" y="4672584"/>
            <a:ext cx="384048" cy="329184"/>
          </a:xfrm>
          <a:prstGeom prst="rightArrow">
            <a:avLst/>
          </a:prstGeom>
          <a:solidFill>
            <a:srgbClr val="009343"/>
          </a:solidFill>
          <a:ln>
            <a:noFill/>
          </a:ln>
        </p:spPr>
        <p:txBody>
          <a:bodyPr rtlCol="0" anchor="ctr"/>
          <a:lstStyle/>
          <a:p>
            <a:pPr algn="ctr"/>
          </a:p>
        </p:txBody>
      </p:sp>
      <p:sp>
        <p:nvSpPr>
          <p:cNvPr id="34" name="Rounded Rectangle 33"/>
          <p:cNvSpPr/>
          <p:nvPr/>
        </p:nvSpPr>
        <p:spPr>
          <a:xfrm>
            <a:off x="5440680" y="4471416"/>
            <a:ext cx="6199632" cy="731520"/>
          </a:xfrm>
          <a:prstGeom prst="roundRect">
            <a:avLst>
              <a:gd name="adj" fmla="val 12500"/>
            </a:avLst>
          </a:prstGeom>
          <a:solidFill>
            <a:srgbClr val="E6F4EC"/>
          </a:solidFill>
          <a:ln>
            <a:noFill/>
          </a:ln>
          <a:effectLst/>
        </p:spPr>
        <p:txBody>
          <a:bodyPr rtlCol="0" anchor="ctr"/>
          <a:lstStyle/>
          <a:p/>
        </p:txBody>
      </p:sp>
      <p:sp>
        <p:nvSpPr>
          <p:cNvPr id="35" name="TextBox 34"/>
          <p:cNvSpPr txBox="1"/>
          <p:nvPr/>
        </p:nvSpPr>
        <p:spPr>
          <a:xfrm>
            <a:off x="5669280" y="4471416"/>
            <a:ext cx="5852160" cy="731520"/>
          </a:xfrm>
          <a:prstGeom prst="rect">
            <a:avLst/>
          </a:prstGeom>
          <a:noFill/>
        </p:spPr>
        <p:txBody>
          <a:bodyPr wrap="square" lIns="0" rIns="0" tIns="0" bIns="0" anchor="ctr">
            <a:spAutoFit/>
          </a:bodyPr>
          <a:lstStyle/>
          <a:p>
            <a:pPr algn="l">
              <a:lnSpc>
                <a:spcPct val="100000"/>
              </a:lnSpc>
            </a:pPr>
            <a:r>
              <a:rPr sz="1300" b="0">
                <a:solidFill>
                  <a:srgbClr val="23272B"/>
                </a:solidFill>
                <a:latin typeface="Arial"/>
              </a:rPr>
              <a:t>Orders in the app, at central tier prices, from the usual basket, even offline</a:t>
            </a:r>
          </a:p>
        </p:txBody>
      </p:sp>
      <p:sp>
        <p:nvSpPr>
          <p:cNvPr id="36" name="Rounded Rectangle 35"/>
          <p:cNvSpPr/>
          <p:nvPr/>
        </p:nvSpPr>
        <p:spPr>
          <a:xfrm>
            <a:off x="548640" y="5321808"/>
            <a:ext cx="4343400" cy="731520"/>
          </a:xfrm>
          <a:prstGeom prst="roundRect">
            <a:avLst>
              <a:gd name="adj" fmla="val 12500"/>
            </a:avLst>
          </a:prstGeom>
          <a:solidFill>
            <a:srgbClr val="FDEBED"/>
          </a:solidFill>
          <a:ln>
            <a:noFill/>
          </a:ln>
          <a:effectLst/>
        </p:spPr>
        <p:txBody>
          <a:bodyPr rtlCol="0" anchor="ctr"/>
          <a:lstStyle/>
          <a:p/>
        </p:txBody>
      </p:sp>
      <p:sp>
        <p:nvSpPr>
          <p:cNvPr id="37" name="Oval 36"/>
          <p:cNvSpPr/>
          <p:nvPr/>
        </p:nvSpPr>
        <p:spPr>
          <a:xfrm>
            <a:off x="658368" y="5431536"/>
            <a:ext cx="512064" cy="512064"/>
          </a:xfrm>
          <a:prstGeom prst="ellipse">
            <a:avLst/>
          </a:prstGeom>
          <a:solidFill>
            <a:srgbClr val="FFFFFF"/>
          </a:solidFill>
          <a:ln>
            <a:noFill/>
          </a:ln>
          <a:effectLst/>
        </p:spPr>
        <p:txBody>
          <a:bodyPr rtlCol="0" anchor="ctr"/>
          <a:lstStyle/>
          <a:p>
            <a:pPr algn="ctr"/>
          </a:p>
        </p:txBody>
      </p:sp>
      <p:pic>
        <p:nvPicPr>
          <p:cNvPr id="38" name="Picture 37" descr="tag_r.png"/>
          <p:cNvPicPr>
            <a:picLocks noChangeAspect="1"/>
          </p:cNvPicPr>
          <p:nvPr/>
        </p:nvPicPr>
        <p:blipFill>
          <a:blip r:embed="rId6"/>
          <a:stretch>
            <a:fillRect/>
          </a:stretch>
        </p:blipFill>
        <p:spPr>
          <a:xfrm>
            <a:off x="771022" y="5544190"/>
            <a:ext cx="286755" cy="286755"/>
          </a:xfrm>
          <a:prstGeom prst="rect">
            <a:avLst/>
          </a:prstGeom>
        </p:spPr>
      </p:pic>
      <p:sp>
        <p:nvSpPr>
          <p:cNvPr id="39" name="TextBox 38"/>
          <p:cNvSpPr txBox="1"/>
          <p:nvPr/>
        </p:nvSpPr>
        <p:spPr>
          <a:xfrm>
            <a:off x="1325880" y="5321808"/>
            <a:ext cx="3474720" cy="731520"/>
          </a:xfrm>
          <a:prstGeom prst="rect">
            <a:avLst/>
          </a:prstGeom>
          <a:noFill/>
        </p:spPr>
        <p:txBody>
          <a:bodyPr wrap="square" lIns="0" rIns="0" tIns="0" bIns="0" anchor="ctr">
            <a:spAutoFit/>
          </a:bodyPr>
          <a:lstStyle/>
          <a:p>
            <a:pPr algn="l">
              <a:lnSpc>
                <a:spcPct val="100000"/>
              </a:lnSpc>
            </a:pPr>
            <a:r>
              <a:rPr sz="1400" b="1">
                <a:solidFill>
                  <a:srgbClr val="23272B"/>
                </a:solidFill>
                <a:latin typeface="Arial"/>
              </a:rPr>
              <a:t>Discounts that kill margin</a:t>
            </a:r>
          </a:p>
        </p:txBody>
      </p:sp>
      <p:sp>
        <p:nvSpPr>
          <p:cNvPr id="40" name="Right Arrow 39"/>
          <p:cNvSpPr/>
          <p:nvPr/>
        </p:nvSpPr>
        <p:spPr>
          <a:xfrm>
            <a:off x="4965192" y="5522976"/>
            <a:ext cx="384048" cy="329184"/>
          </a:xfrm>
          <a:prstGeom prst="rightArrow">
            <a:avLst/>
          </a:prstGeom>
          <a:solidFill>
            <a:srgbClr val="009343"/>
          </a:solidFill>
          <a:ln>
            <a:noFill/>
          </a:ln>
        </p:spPr>
        <p:txBody>
          <a:bodyPr rtlCol="0" anchor="ctr"/>
          <a:lstStyle/>
          <a:p>
            <a:pPr algn="ctr"/>
          </a:p>
        </p:txBody>
      </p:sp>
      <p:sp>
        <p:nvSpPr>
          <p:cNvPr id="41" name="Rounded Rectangle 40"/>
          <p:cNvSpPr/>
          <p:nvPr/>
        </p:nvSpPr>
        <p:spPr>
          <a:xfrm>
            <a:off x="5440680" y="5321808"/>
            <a:ext cx="6199632" cy="731520"/>
          </a:xfrm>
          <a:prstGeom prst="roundRect">
            <a:avLst>
              <a:gd name="adj" fmla="val 12500"/>
            </a:avLst>
          </a:prstGeom>
          <a:solidFill>
            <a:srgbClr val="E6F4EC"/>
          </a:solidFill>
          <a:ln>
            <a:noFill/>
          </a:ln>
          <a:effectLst/>
        </p:spPr>
        <p:txBody>
          <a:bodyPr rtlCol="0" anchor="ctr"/>
          <a:lstStyle/>
          <a:p/>
        </p:txBody>
      </p:sp>
      <p:sp>
        <p:nvSpPr>
          <p:cNvPr id="42" name="TextBox 41"/>
          <p:cNvSpPr txBox="1"/>
          <p:nvPr/>
        </p:nvSpPr>
        <p:spPr>
          <a:xfrm>
            <a:off x="5669280" y="5321808"/>
            <a:ext cx="5852160" cy="731520"/>
          </a:xfrm>
          <a:prstGeom prst="rect">
            <a:avLst/>
          </a:prstGeom>
          <a:noFill/>
        </p:spPr>
        <p:txBody>
          <a:bodyPr wrap="square" lIns="0" rIns="0" tIns="0" bIns="0" anchor="ctr">
            <a:spAutoFit/>
          </a:bodyPr>
          <a:lstStyle/>
          <a:p>
            <a:pPr algn="l">
              <a:lnSpc>
                <a:spcPct val="100000"/>
              </a:lnSpc>
            </a:pPr>
            <a:r>
              <a:rPr sz="1300" b="0">
                <a:solidFill>
                  <a:srgbClr val="23272B"/>
                </a:solidFill>
                <a:latin typeface="Arial"/>
              </a:rPr>
              <a:t>Up to 3% automatic; more needs approval; below cost only the CEO</a:t>
            </a:r>
          </a:p>
        </p:txBody>
      </p:sp>
      <p:cxnSp>
        <p:nvCxnSpPr>
          <p:cNvPr id="43" name="Connector 42"/>
          <p:cNvCxnSpPr/>
          <p:nvPr/>
        </p:nvCxnSpPr>
        <p:spPr>
          <a:xfrm>
            <a:off x="548640" y="6400800"/>
            <a:ext cx="11094415" cy="0"/>
          </a:xfrm>
          <a:prstGeom prst="line">
            <a:avLst/>
          </a:prstGeom>
          <a:ln w="9525">
            <a:solidFill>
              <a:srgbClr val="D9DEDB"/>
            </a:solidFill>
          </a:ln>
        </p:spPr>
      </p:cxnSp>
      <p:pic>
        <p:nvPicPr>
          <p:cNvPr id="44" name="Picture 43" descr="kad-wordmark.png"/>
          <p:cNvPicPr>
            <a:picLocks noChangeAspect="1"/>
          </p:cNvPicPr>
          <p:nvPr/>
        </p:nvPicPr>
        <p:blipFill>
          <a:blip r:embed="rId7"/>
          <a:stretch>
            <a:fillRect/>
          </a:stretch>
        </p:blipFill>
        <p:spPr>
          <a:xfrm>
            <a:off x="548640" y="6519672"/>
            <a:ext cx="759129" cy="155448"/>
          </a:xfrm>
          <a:prstGeom prst="rect">
            <a:avLst/>
          </a:prstGeom>
        </p:spPr>
      </p:pic>
      <p:sp>
        <p:nvSpPr>
          <p:cNvPr id="45" name="TextBox 44"/>
          <p:cNvSpPr txBox="1"/>
          <p:nvPr/>
        </p:nvSpPr>
        <p:spPr>
          <a:xfrm>
            <a:off x="1417320" y="6492240"/>
            <a:ext cx="6400800" cy="228600"/>
          </a:xfrm>
          <a:prstGeom prst="rect">
            <a:avLst/>
          </a:prstGeom>
          <a:noFill/>
        </p:spPr>
        <p:txBody>
          <a:bodyPr wrap="square" lIns="0" rIns="0" tIns="0" bIns="0" anchor="t">
            <a:spAutoFit/>
          </a:bodyPr>
          <a:lstStyle/>
          <a:p>
            <a:pPr algn="l">
              <a:lnSpc>
                <a:spcPct val="100000"/>
              </a:lnSpc>
            </a:pPr>
            <a:r>
              <a:rPr sz="900" b="0">
                <a:solidFill>
                  <a:srgbClr val="5F6670"/>
                </a:solidFill>
                <a:latin typeface="Arial"/>
              </a:rPr>
              <a:t>Digital Sales Platform for Castrol Distribution</a:t>
            </a:r>
          </a:p>
        </p:txBody>
      </p:sp>
      <p:sp>
        <p:nvSpPr>
          <p:cNvPr id="46" name="TextBox 45"/>
          <p:cNvSpPr txBox="1"/>
          <p:nvPr/>
        </p:nvSpPr>
        <p:spPr>
          <a:xfrm>
            <a:off x="10728655" y="6492240"/>
            <a:ext cx="914400" cy="228600"/>
          </a:xfrm>
          <a:prstGeom prst="rect">
            <a:avLst/>
          </a:prstGeom>
          <a:noFill/>
        </p:spPr>
        <p:txBody>
          <a:bodyPr wrap="square" lIns="0" rIns="0" tIns="0" bIns="0" anchor="t">
            <a:spAutoFit/>
          </a:bodyPr>
          <a:lstStyle/>
          <a:p>
            <a:pPr algn="r">
              <a:lnSpc>
                <a:spcPct val="100000"/>
              </a:lnSpc>
            </a:pPr>
            <a:r>
              <a:rPr sz="900" b="0">
                <a:solidFill>
                  <a:srgbClr val="5F6670"/>
                </a:solidFill>
                <a:latin typeface="Arial"/>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347472"/>
            <a:ext cx="592531" cy="64008"/>
          </a:xfrm>
          <a:prstGeom prst="rect">
            <a:avLst/>
          </a:prstGeom>
          <a:solidFill>
            <a:srgbClr val="009343"/>
          </a:solidFill>
          <a:ln>
            <a:noFill/>
          </a:ln>
          <a:effectLst/>
        </p:spPr>
        <p:txBody>
          <a:bodyPr rtlCol="0" anchor="ctr"/>
          <a:lstStyle/>
          <a:p/>
        </p:txBody>
      </p:sp>
      <p:sp>
        <p:nvSpPr>
          <p:cNvPr id="3" name="Rectangle 2"/>
          <p:cNvSpPr/>
          <p:nvPr/>
        </p:nvSpPr>
        <p:spPr>
          <a:xfrm>
            <a:off x="1141171" y="347472"/>
            <a:ext cx="230428" cy="64008"/>
          </a:xfrm>
          <a:prstGeom prst="rect">
            <a:avLst/>
          </a:prstGeom>
          <a:solidFill>
            <a:srgbClr val="E2001A"/>
          </a:solidFill>
          <a:ln>
            <a:noFill/>
          </a:ln>
          <a:effectLst/>
        </p:spPr>
        <p:txBody>
          <a:bodyPr rtlCol="0" anchor="ctr"/>
          <a:lstStyle/>
          <a:p/>
        </p:txBody>
      </p:sp>
      <p:sp>
        <p:nvSpPr>
          <p:cNvPr id="4" name="TextBox 3"/>
          <p:cNvSpPr txBox="1"/>
          <p:nvPr/>
        </p:nvSpPr>
        <p:spPr>
          <a:xfrm>
            <a:off x="548640" y="502920"/>
            <a:ext cx="9144000" cy="274320"/>
          </a:xfrm>
          <a:prstGeom prst="rect">
            <a:avLst/>
          </a:prstGeom>
          <a:noFill/>
        </p:spPr>
        <p:txBody>
          <a:bodyPr wrap="square" lIns="0" rIns="0" tIns="0" bIns="0" anchor="t">
            <a:spAutoFit/>
          </a:bodyPr>
          <a:lstStyle/>
          <a:p>
            <a:pPr algn="l">
              <a:lnSpc>
                <a:spcPct val="100000"/>
              </a:lnSpc>
            </a:pPr>
            <a:r>
              <a:rPr sz="1200" b="1">
                <a:solidFill>
                  <a:srgbClr val="009343"/>
                </a:solidFill>
                <a:latin typeface="Arial"/>
              </a:rPr>
              <a:t>PROBLEM → SOLUTION (2/2)</a:t>
            </a:r>
          </a:p>
        </p:txBody>
      </p:sp>
      <p:sp>
        <p:nvSpPr>
          <p:cNvPr id="5" name="TextBox 4"/>
          <p:cNvSpPr txBox="1"/>
          <p:nvPr/>
        </p:nvSpPr>
        <p:spPr>
          <a:xfrm>
            <a:off x="548640" y="777240"/>
            <a:ext cx="11064240" cy="914400"/>
          </a:xfrm>
          <a:prstGeom prst="rect">
            <a:avLst/>
          </a:prstGeom>
          <a:noFill/>
        </p:spPr>
        <p:txBody>
          <a:bodyPr wrap="square" lIns="0" rIns="0" tIns="0" bIns="0" anchor="t">
            <a:spAutoFit/>
          </a:bodyPr>
          <a:lstStyle/>
          <a:p>
            <a:pPr algn="l">
              <a:lnSpc>
                <a:spcPct val="95000"/>
              </a:lnSpc>
            </a:pPr>
            <a:r>
              <a:rPr sz="3000" b="1">
                <a:solidFill>
                  <a:srgbClr val="23272B"/>
                </a:solidFill>
                <a:latin typeface="Arial"/>
              </a:rPr>
              <a:t>Each problem has an automatic answer and an owner</a:t>
            </a:r>
          </a:p>
        </p:txBody>
      </p:sp>
      <p:sp>
        <p:nvSpPr>
          <p:cNvPr id="6" name="TextBox 5"/>
          <p:cNvSpPr txBox="1"/>
          <p:nvPr/>
        </p:nvSpPr>
        <p:spPr>
          <a:xfrm>
            <a:off x="548640" y="1600200"/>
            <a:ext cx="4206240" cy="274320"/>
          </a:xfrm>
          <a:prstGeom prst="rect">
            <a:avLst/>
          </a:prstGeom>
          <a:noFill/>
        </p:spPr>
        <p:txBody>
          <a:bodyPr wrap="square" lIns="0" rIns="0" tIns="0" bIns="0" anchor="t">
            <a:spAutoFit/>
          </a:bodyPr>
          <a:lstStyle/>
          <a:p>
            <a:pPr algn="l">
              <a:lnSpc>
                <a:spcPct val="100000"/>
              </a:lnSpc>
            </a:pPr>
            <a:r>
              <a:rPr sz="1100" b="1">
                <a:solidFill>
                  <a:srgbClr val="E2001A"/>
                </a:solidFill>
                <a:latin typeface="Arial"/>
              </a:rPr>
              <a:t>PROBLEM</a:t>
            </a:r>
          </a:p>
        </p:txBody>
      </p:sp>
      <p:sp>
        <p:nvSpPr>
          <p:cNvPr id="7" name="TextBox 6"/>
          <p:cNvSpPr txBox="1"/>
          <p:nvPr/>
        </p:nvSpPr>
        <p:spPr>
          <a:xfrm>
            <a:off x="5440680" y="1600200"/>
            <a:ext cx="5943600" cy="274320"/>
          </a:xfrm>
          <a:prstGeom prst="rect">
            <a:avLst/>
          </a:prstGeom>
          <a:noFill/>
        </p:spPr>
        <p:txBody>
          <a:bodyPr wrap="square" lIns="0" rIns="0" tIns="0" bIns="0" anchor="t">
            <a:spAutoFit/>
          </a:bodyPr>
          <a:lstStyle/>
          <a:p>
            <a:pPr algn="l">
              <a:lnSpc>
                <a:spcPct val="100000"/>
              </a:lnSpc>
            </a:pPr>
            <a:r>
              <a:rPr sz="1100" b="1">
                <a:solidFill>
                  <a:srgbClr val="009343"/>
                </a:solidFill>
                <a:latin typeface="Arial"/>
              </a:rPr>
              <a:t>WHAT THE PLATFORM DOES</a:t>
            </a:r>
          </a:p>
        </p:txBody>
      </p:sp>
      <p:sp>
        <p:nvSpPr>
          <p:cNvPr id="8" name="Rounded Rectangle 7"/>
          <p:cNvSpPr/>
          <p:nvPr/>
        </p:nvSpPr>
        <p:spPr>
          <a:xfrm>
            <a:off x="548640" y="1920240"/>
            <a:ext cx="4343400" cy="731520"/>
          </a:xfrm>
          <a:prstGeom prst="roundRect">
            <a:avLst>
              <a:gd name="adj" fmla="val 12500"/>
            </a:avLst>
          </a:prstGeom>
          <a:solidFill>
            <a:srgbClr val="FDEBED"/>
          </a:solidFill>
          <a:ln>
            <a:noFill/>
          </a:ln>
          <a:effectLst/>
        </p:spPr>
        <p:txBody>
          <a:bodyPr rtlCol="0" anchor="ctr"/>
          <a:lstStyle/>
          <a:p/>
        </p:txBody>
      </p:sp>
      <p:sp>
        <p:nvSpPr>
          <p:cNvPr id="9" name="Oval 8"/>
          <p:cNvSpPr/>
          <p:nvPr/>
        </p:nvSpPr>
        <p:spPr>
          <a:xfrm>
            <a:off x="658368" y="2029968"/>
            <a:ext cx="512064" cy="512064"/>
          </a:xfrm>
          <a:prstGeom prst="ellipse">
            <a:avLst/>
          </a:prstGeom>
          <a:solidFill>
            <a:srgbClr val="FFFFFF"/>
          </a:solidFill>
          <a:ln>
            <a:noFill/>
          </a:ln>
          <a:effectLst/>
        </p:spPr>
        <p:txBody>
          <a:bodyPr rtlCol="0" anchor="ctr"/>
          <a:lstStyle/>
          <a:p>
            <a:pPr algn="ctr"/>
          </a:p>
        </p:txBody>
      </p:sp>
      <p:pic>
        <p:nvPicPr>
          <p:cNvPr id="10" name="Picture 9" descr="payment_r.png"/>
          <p:cNvPicPr>
            <a:picLocks noChangeAspect="1"/>
          </p:cNvPicPr>
          <p:nvPr/>
        </p:nvPicPr>
        <p:blipFill>
          <a:blip r:embed="rId2"/>
          <a:stretch>
            <a:fillRect/>
          </a:stretch>
        </p:blipFill>
        <p:spPr>
          <a:xfrm>
            <a:off x="771022" y="2142622"/>
            <a:ext cx="286755" cy="286755"/>
          </a:xfrm>
          <a:prstGeom prst="rect">
            <a:avLst/>
          </a:prstGeom>
        </p:spPr>
      </p:pic>
      <p:sp>
        <p:nvSpPr>
          <p:cNvPr id="11" name="TextBox 10"/>
          <p:cNvSpPr txBox="1"/>
          <p:nvPr/>
        </p:nvSpPr>
        <p:spPr>
          <a:xfrm>
            <a:off x="1325880" y="1920240"/>
            <a:ext cx="3474720" cy="731520"/>
          </a:xfrm>
          <a:prstGeom prst="rect">
            <a:avLst/>
          </a:prstGeom>
          <a:noFill/>
        </p:spPr>
        <p:txBody>
          <a:bodyPr wrap="square" lIns="0" rIns="0" tIns="0" bIns="0" anchor="ctr">
            <a:spAutoFit/>
          </a:bodyPr>
          <a:lstStyle/>
          <a:p>
            <a:pPr algn="l">
              <a:lnSpc>
                <a:spcPct val="100000"/>
              </a:lnSpc>
            </a:pPr>
            <a:r>
              <a:rPr sz="1400" b="1">
                <a:solidFill>
                  <a:srgbClr val="23272B"/>
                </a:solidFill>
                <a:latin typeface="Arial"/>
              </a:rPr>
              <a:t>Cash stuck with reps</a:t>
            </a:r>
          </a:p>
        </p:txBody>
      </p:sp>
      <p:sp>
        <p:nvSpPr>
          <p:cNvPr id="12" name="Right Arrow 11"/>
          <p:cNvSpPr/>
          <p:nvPr/>
        </p:nvSpPr>
        <p:spPr>
          <a:xfrm>
            <a:off x="4965192" y="2121408"/>
            <a:ext cx="384048" cy="329184"/>
          </a:xfrm>
          <a:prstGeom prst="rightArrow">
            <a:avLst/>
          </a:prstGeom>
          <a:solidFill>
            <a:srgbClr val="009343"/>
          </a:solidFill>
          <a:ln>
            <a:noFill/>
          </a:ln>
        </p:spPr>
        <p:txBody>
          <a:bodyPr rtlCol="0" anchor="ctr"/>
          <a:lstStyle/>
          <a:p>
            <a:pPr algn="ctr"/>
          </a:p>
        </p:txBody>
      </p:sp>
      <p:sp>
        <p:nvSpPr>
          <p:cNvPr id="13" name="Rounded Rectangle 12"/>
          <p:cNvSpPr/>
          <p:nvPr/>
        </p:nvSpPr>
        <p:spPr>
          <a:xfrm>
            <a:off x="5440680" y="1920240"/>
            <a:ext cx="6199632" cy="731520"/>
          </a:xfrm>
          <a:prstGeom prst="roundRect">
            <a:avLst>
              <a:gd name="adj" fmla="val 12500"/>
            </a:avLst>
          </a:prstGeom>
          <a:solidFill>
            <a:srgbClr val="E6F4EC"/>
          </a:solidFill>
          <a:ln>
            <a:noFill/>
          </a:ln>
          <a:effectLst/>
        </p:spPr>
        <p:txBody>
          <a:bodyPr rtlCol="0" anchor="ctr"/>
          <a:lstStyle/>
          <a:p/>
        </p:txBody>
      </p:sp>
      <p:sp>
        <p:nvSpPr>
          <p:cNvPr id="14" name="TextBox 13"/>
          <p:cNvSpPr txBox="1"/>
          <p:nvPr/>
        </p:nvSpPr>
        <p:spPr>
          <a:xfrm>
            <a:off x="5669280" y="1920240"/>
            <a:ext cx="5852160" cy="731520"/>
          </a:xfrm>
          <a:prstGeom prst="rect">
            <a:avLst/>
          </a:prstGeom>
          <a:noFill/>
        </p:spPr>
        <p:txBody>
          <a:bodyPr wrap="square" lIns="0" rIns="0" tIns="0" bIns="0" anchor="ctr">
            <a:spAutoFit/>
          </a:bodyPr>
          <a:lstStyle/>
          <a:p>
            <a:pPr algn="l">
              <a:lnSpc>
                <a:spcPct val="100000"/>
              </a:lnSpc>
            </a:pPr>
            <a:r>
              <a:rPr sz="1300" b="0">
                <a:solidFill>
                  <a:srgbClr val="23272B"/>
                </a:solidFill>
                <a:latin typeface="Arial"/>
              </a:rPr>
              <a:t>Every payment tracked from rep to accountant and matched with the ERP automatically</a:t>
            </a:r>
          </a:p>
        </p:txBody>
      </p:sp>
      <p:sp>
        <p:nvSpPr>
          <p:cNvPr id="15" name="Rounded Rectangle 14"/>
          <p:cNvSpPr/>
          <p:nvPr/>
        </p:nvSpPr>
        <p:spPr>
          <a:xfrm>
            <a:off x="548640" y="2770632"/>
            <a:ext cx="4343400" cy="731520"/>
          </a:xfrm>
          <a:prstGeom prst="roundRect">
            <a:avLst>
              <a:gd name="adj" fmla="val 12500"/>
            </a:avLst>
          </a:prstGeom>
          <a:solidFill>
            <a:srgbClr val="FDEBED"/>
          </a:solidFill>
          <a:ln>
            <a:noFill/>
          </a:ln>
          <a:effectLst/>
        </p:spPr>
        <p:txBody>
          <a:bodyPr rtlCol="0" anchor="ctr"/>
          <a:lstStyle/>
          <a:p/>
        </p:txBody>
      </p:sp>
      <p:sp>
        <p:nvSpPr>
          <p:cNvPr id="16" name="Oval 15"/>
          <p:cNvSpPr/>
          <p:nvPr/>
        </p:nvSpPr>
        <p:spPr>
          <a:xfrm>
            <a:off x="658368" y="2880360"/>
            <a:ext cx="512064" cy="512064"/>
          </a:xfrm>
          <a:prstGeom prst="ellipse">
            <a:avLst/>
          </a:prstGeom>
          <a:solidFill>
            <a:srgbClr val="FFFFFF"/>
          </a:solidFill>
          <a:ln>
            <a:noFill/>
          </a:ln>
          <a:effectLst/>
        </p:spPr>
        <p:txBody>
          <a:bodyPr rtlCol="0" anchor="ctr"/>
          <a:lstStyle/>
          <a:p>
            <a:pPr algn="ctr"/>
          </a:p>
        </p:txBody>
      </p:sp>
      <p:pic>
        <p:nvPicPr>
          <p:cNvPr id="17" name="Picture 16" descr="box_r.png"/>
          <p:cNvPicPr>
            <a:picLocks noChangeAspect="1"/>
          </p:cNvPicPr>
          <p:nvPr/>
        </p:nvPicPr>
        <p:blipFill>
          <a:blip r:embed="rId3"/>
          <a:stretch>
            <a:fillRect/>
          </a:stretch>
        </p:blipFill>
        <p:spPr>
          <a:xfrm>
            <a:off x="771022" y="2993014"/>
            <a:ext cx="286755" cy="286755"/>
          </a:xfrm>
          <a:prstGeom prst="rect">
            <a:avLst/>
          </a:prstGeom>
        </p:spPr>
      </p:pic>
      <p:sp>
        <p:nvSpPr>
          <p:cNvPr id="18" name="TextBox 17"/>
          <p:cNvSpPr txBox="1"/>
          <p:nvPr/>
        </p:nvSpPr>
        <p:spPr>
          <a:xfrm>
            <a:off x="1325880" y="2770632"/>
            <a:ext cx="3474720" cy="731520"/>
          </a:xfrm>
          <a:prstGeom prst="rect">
            <a:avLst/>
          </a:prstGeom>
          <a:noFill/>
        </p:spPr>
        <p:txBody>
          <a:bodyPr wrap="square" lIns="0" rIns="0" tIns="0" bIns="0" anchor="ctr">
            <a:spAutoFit/>
          </a:bodyPr>
          <a:lstStyle/>
          <a:p>
            <a:pPr algn="l">
              <a:lnSpc>
                <a:spcPct val="100000"/>
              </a:lnSpc>
            </a:pPr>
            <a:r>
              <a:rPr sz="1400" b="1">
                <a:solidFill>
                  <a:srgbClr val="23272B"/>
                </a:solidFill>
                <a:latin typeface="Arial"/>
              </a:rPr>
              <a:t>Stock-outs and dead stock</a:t>
            </a:r>
          </a:p>
        </p:txBody>
      </p:sp>
      <p:sp>
        <p:nvSpPr>
          <p:cNvPr id="19" name="Right Arrow 18"/>
          <p:cNvSpPr/>
          <p:nvPr/>
        </p:nvSpPr>
        <p:spPr>
          <a:xfrm>
            <a:off x="4965192" y="2971800"/>
            <a:ext cx="384048" cy="329184"/>
          </a:xfrm>
          <a:prstGeom prst="rightArrow">
            <a:avLst/>
          </a:prstGeom>
          <a:solidFill>
            <a:srgbClr val="009343"/>
          </a:solidFill>
          <a:ln>
            <a:noFill/>
          </a:ln>
        </p:spPr>
        <p:txBody>
          <a:bodyPr rtlCol="0" anchor="ctr"/>
          <a:lstStyle/>
          <a:p>
            <a:pPr algn="ctr"/>
          </a:p>
        </p:txBody>
      </p:sp>
      <p:sp>
        <p:nvSpPr>
          <p:cNvPr id="20" name="Rounded Rectangle 19"/>
          <p:cNvSpPr/>
          <p:nvPr/>
        </p:nvSpPr>
        <p:spPr>
          <a:xfrm>
            <a:off x="5440680" y="2770632"/>
            <a:ext cx="6199632" cy="731520"/>
          </a:xfrm>
          <a:prstGeom prst="roundRect">
            <a:avLst>
              <a:gd name="adj" fmla="val 12500"/>
            </a:avLst>
          </a:prstGeom>
          <a:solidFill>
            <a:srgbClr val="E6F4EC"/>
          </a:solidFill>
          <a:ln>
            <a:noFill/>
          </a:ln>
          <a:effectLst/>
        </p:spPr>
        <p:txBody>
          <a:bodyPr rtlCol="0" anchor="ctr"/>
          <a:lstStyle/>
          <a:p/>
        </p:txBody>
      </p:sp>
      <p:sp>
        <p:nvSpPr>
          <p:cNvPr id="21" name="TextBox 20"/>
          <p:cNvSpPr txBox="1"/>
          <p:nvPr/>
        </p:nvSpPr>
        <p:spPr>
          <a:xfrm>
            <a:off x="5669280" y="2770632"/>
            <a:ext cx="5852160" cy="731520"/>
          </a:xfrm>
          <a:prstGeom prst="rect">
            <a:avLst/>
          </a:prstGeom>
          <a:noFill/>
        </p:spPr>
        <p:txBody>
          <a:bodyPr wrap="square" lIns="0" rIns="0" tIns="0" bIns="0" anchor="ctr">
            <a:spAutoFit/>
          </a:bodyPr>
          <a:lstStyle/>
          <a:p>
            <a:pPr algn="l">
              <a:lnSpc>
                <a:spcPct val="100000"/>
              </a:lnSpc>
            </a:pPr>
            <a:r>
              <a:rPr sz="1300" b="0">
                <a:solidFill>
                  <a:srgbClr val="23272B"/>
                </a:solidFill>
                <a:latin typeface="Arial"/>
              </a:rPr>
              <a:t>Days of stock per product, a ready reorder list, dead-stock decisions with owners</a:t>
            </a:r>
          </a:p>
        </p:txBody>
      </p:sp>
      <p:sp>
        <p:nvSpPr>
          <p:cNvPr id="22" name="Rounded Rectangle 21"/>
          <p:cNvSpPr/>
          <p:nvPr/>
        </p:nvSpPr>
        <p:spPr>
          <a:xfrm>
            <a:off x="548640" y="3621024"/>
            <a:ext cx="4343400" cy="731520"/>
          </a:xfrm>
          <a:prstGeom prst="roundRect">
            <a:avLst>
              <a:gd name="adj" fmla="val 12500"/>
            </a:avLst>
          </a:prstGeom>
          <a:solidFill>
            <a:srgbClr val="FDEBED"/>
          </a:solidFill>
          <a:ln>
            <a:noFill/>
          </a:ln>
          <a:effectLst/>
        </p:spPr>
        <p:txBody>
          <a:bodyPr rtlCol="0" anchor="ctr"/>
          <a:lstStyle/>
          <a:p/>
        </p:txBody>
      </p:sp>
      <p:sp>
        <p:nvSpPr>
          <p:cNvPr id="23" name="Oval 22"/>
          <p:cNvSpPr/>
          <p:nvPr/>
        </p:nvSpPr>
        <p:spPr>
          <a:xfrm>
            <a:off x="658368" y="3730752"/>
            <a:ext cx="512064" cy="512064"/>
          </a:xfrm>
          <a:prstGeom prst="ellipse">
            <a:avLst/>
          </a:prstGeom>
          <a:solidFill>
            <a:srgbClr val="FFFFFF"/>
          </a:solidFill>
          <a:ln>
            <a:noFill/>
          </a:ln>
          <a:effectLst/>
        </p:spPr>
        <p:txBody>
          <a:bodyPr rtlCol="0" anchor="ctr"/>
          <a:lstStyle/>
          <a:p>
            <a:pPr algn="ctr"/>
          </a:p>
        </p:txBody>
      </p:sp>
      <p:pic>
        <p:nvPicPr>
          <p:cNvPr id="24" name="Picture 23" descr="eye_r.png"/>
          <p:cNvPicPr>
            <a:picLocks noChangeAspect="1"/>
          </p:cNvPicPr>
          <p:nvPr/>
        </p:nvPicPr>
        <p:blipFill>
          <a:blip r:embed="rId4"/>
          <a:stretch>
            <a:fillRect/>
          </a:stretch>
        </p:blipFill>
        <p:spPr>
          <a:xfrm>
            <a:off x="771022" y="3843406"/>
            <a:ext cx="286755" cy="286755"/>
          </a:xfrm>
          <a:prstGeom prst="rect">
            <a:avLst/>
          </a:prstGeom>
        </p:spPr>
      </p:pic>
      <p:sp>
        <p:nvSpPr>
          <p:cNvPr id="25" name="TextBox 24"/>
          <p:cNvSpPr txBox="1"/>
          <p:nvPr/>
        </p:nvSpPr>
        <p:spPr>
          <a:xfrm>
            <a:off x="1325880" y="3621024"/>
            <a:ext cx="3474720" cy="731520"/>
          </a:xfrm>
          <a:prstGeom prst="rect">
            <a:avLst/>
          </a:prstGeom>
          <a:noFill/>
        </p:spPr>
        <p:txBody>
          <a:bodyPr wrap="square" lIns="0" rIns="0" tIns="0" bIns="0" anchor="ctr">
            <a:spAutoFit/>
          </a:bodyPr>
          <a:lstStyle/>
          <a:p>
            <a:pPr algn="l">
              <a:lnSpc>
                <a:spcPct val="100000"/>
              </a:lnSpc>
            </a:pPr>
            <a:r>
              <a:rPr sz="1400" b="1">
                <a:solidFill>
                  <a:srgbClr val="23272B"/>
                </a:solidFill>
                <a:latin typeface="Arial"/>
              </a:rPr>
              <a:t>No view of the shelf, fakes</a:t>
            </a:r>
          </a:p>
        </p:txBody>
      </p:sp>
      <p:sp>
        <p:nvSpPr>
          <p:cNvPr id="26" name="Right Arrow 25"/>
          <p:cNvSpPr/>
          <p:nvPr/>
        </p:nvSpPr>
        <p:spPr>
          <a:xfrm>
            <a:off x="4965192" y="3822191"/>
            <a:ext cx="384048" cy="329184"/>
          </a:xfrm>
          <a:prstGeom prst="rightArrow">
            <a:avLst/>
          </a:prstGeom>
          <a:solidFill>
            <a:srgbClr val="009343"/>
          </a:solidFill>
          <a:ln>
            <a:noFill/>
          </a:ln>
        </p:spPr>
        <p:txBody>
          <a:bodyPr rtlCol="0" anchor="ctr"/>
          <a:lstStyle/>
          <a:p>
            <a:pPr algn="ctr"/>
          </a:p>
        </p:txBody>
      </p:sp>
      <p:sp>
        <p:nvSpPr>
          <p:cNvPr id="27" name="Rounded Rectangle 26"/>
          <p:cNvSpPr/>
          <p:nvPr/>
        </p:nvSpPr>
        <p:spPr>
          <a:xfrm>
            <a:off x="5440680" y="3621024"/>
            <a:ext cx="6199632" cy="731520"/>
          </a:xfrm>
          <a:prstGeom prst="roundRect">
            <a:avLst>
              <a:gd name="adj" fmla="val 12500"/>
            </a:avLst>
          </a:prstGeom>
          <a:solidFill>
            <a:srgbClr val="E6F4EC"/>
          </a:solidFill>
          <a:ln>
            <a:noFill/>
          </a:ln>
          <a:effectLst/>
        </p:spPr>
        <p:txBody>
          <a:bodyPr rtlCol="0" anchor="ctr"/>
          <a:lstStyle/>
          <a:p/>
        </p:txBody>
      </p:sp>
      <p:sp>
        <p:nvSpPr>
          <p:cNvPr id="28" name="TextBox 27"/>
          <p:cNvSpPr txBox="1"/>
          <p:nvPr/>
        </p:nvSpPr>
        <p:spPr>
          <a:xfrm>
            <a:off x="5669280" y="3621024"/>
            <a:ext cx="5852160" cy="731520"/>
          </a:xfrm>
          <a:prstGeom prst="rect">
            <a:avLst/>
          </a:prstGeom>
          <a:noFill/>
        </p:spPr>
        <p:txBody>
          <a:bodyPr wrap="square" lIns="0" rIns="0" tIns="0" bIns="0" anchor="ctr">
            <a:spAutoFit/>
          </a:bodyPr>
          <a:lstStyle/>
          <a:p>
            <a:pPr algn="l">
              <a:lnSpc>
                <a:spcPct val="100000"/>
              </a:lnSpc>
            </a:pPr>
            <a:r>
              <a:rPr sz="1300" b="0">
                <a:solidFill>
                  <a:srgbClr val="23272B"/>
                </a:solidFill>
                <a:latin typeface="Arial"/>
              </a:rPr>
              <a:t>Shelf audit at every visit: Castrol presence, full range, fakes, parallel imports, competitors</a:t>
            </a:r>
          </a:p>
        </p:txBody>
      </p:sp>
      <p:sp>
        <p:nvSpPr>
          <p:cNvPr id="29" name="Rounded Rectangle 28"/>
          <p:cNvSpPr/>
          <p:nvPr/>
        </p:nvSpPr>
        <p:spPr>
          <a:xfrm>
            <a:off x="548640" y="4471416"/>
            <a:ext cx="4343400" cy="731520"/>
          </a:xfrm>
          <a:prstGeom prst="roundRect">
            <a:avLst>
              <a:gd name="adj" fmla="val 12500"/>
            </a:avLst>
          </a:prstGeom>
          <a:solidFill>
            <a:srgbClr val="FDEBED"/>
          </a:solidFill>
          <a:ln>
            <a:noFill/>
          </a:ln>
          <a:effectLst/>
        </p:spPr>
        <p:txBody>
          <a:bodyPr rtlCol="0" anchor="ctr"/>
          <a:lstStyle/>
          <a:p/>
        </p:txBody>
      </p:sp>
      <p:sp>
        <p:nvSpPr>
          <p:cNvPr id="30" name="Oval 29"/>
          <p:cNvSpPr/>
          <p:nvPr/>
        </p:nvSpPr>
        <p:spPr>
          <a:xfrm>
            <a:off x="658368" y="4581144"/>
            <a:ext cx="512064" cy="512064"/>
          </a:xfrm>
          <a:prstGeom prst="ellipse">
            <a:avLst/>
          </a:prstGeom>
          <a:solidFill>
            <a:srgbClr val="FFFFFF"/>
          </a:solidFill>
          <a:ln>
            <a:noFill/>
          </a:ln>
          <a:effectLst/>
        </p:spPr>
        <p:txBody>
          <a:bodyPr rtlCol="0" anchor="ctr"/>
          <a:lstStyle/>
          <a:p>
            <a:pPr algn="ctr"/>
          </a:p>
        </p:txBody>
      </p:sp>
      <p:pic>
        <p:nvPicPr>
          <p:cNvPr id="31" name="Picture 30" descr="sheet_r.png"/>
          <p:cNvPicPr>
            <a:picLocks noChangeAspect="1"/>
          </p:cNvPicPr>
          <p:nvPr/>
        </p:nvPicPr>
        <p:blipFill>
          <a:blip r:embed="rId5"/>
          <a:stretch>
            <a:fillRect/>
          </a:stretch>
        </p:blipFill>
        <p:spPr>
          <a:xfrm>
            <a:off x="771022" y="4693798"/>
            <a:ext cx="286755" cy="286755"/>
          </a:xfrm>
          <a:prstGeom prst="rect">
            <a:avLst/>
          </a:prstGeom>
        </p:spPr>
      </p:pic>
      <p:sp>
        <p:nvSpPr>
          <p:cNvPr id="32" name="TextBox 31"/>
          <p:cNvSpPr txBox="1"/>
          <p:nvPr/>
        </p:nvSpPr>
        <p:spPr>
          <a:xfrm>
            <a:off x="1325880" y="4471416"/>
            <a:ext cx="3474720" cy="731520"/>
          </a:xfrm>
          <a:prstGeom prst="rect">
            <a:avLst/>
          </a:prstGeom>
          <a:noFill/>
        </p:spPr>
        <p:txBody>
          <a:bodyPr wrap="square" lIns="0" rIns="0" tIns="0" bIns="0" anchor="ctr">
            <a:spAutoFit/>
          </a:bodyPr>
          <a:lstStyle/>
          <a:p>
            <a:pPr algn="l">
              <a:lnSpc>
                <a:spcPct val="100000"/>
              </a:lnSpc>
            </a:pPr>
            <a:r>
              <a:rPr sz="1400" b="1">
                <a:solidFill>
                  <a:srgbClr val="23272B"/>
                </a:solidFill>
                <a:latin typeface="Arial"/>
              </a:rPr>
              <a:t>Late reports, Excel chaos</a:t>
            </a:r>
          </a:p>
        </p:txBody>
      </p:sp>
      <p:sp>
        <p:nvSpPr>
          <p:cNvPr id="33" name="Right Arrow 32"/>
          <p:cNvSpPr/>
          <p:nvPr/>
        </p:nvSpPr>
        <p:spPr>
          <a:xfrm>
            <a:off x="4965192" y="4672584"/>
            <a:ext cx="384048" cy="329184"/>
          </a:xfrm>
          <a:prstGeom prst="rightArrow">
            <a:avLst/>
          </a:prstGeom>
          <a:solidFill>
            <a:srgbClr val="009343"/>
          </a:solidFill>
          <a:ln>
            <a:noFill/>
          </a:ln>
        </p:spPr>
        <p:txBody>
          <a:bodyPr rtlCol="0" anchor="ctr"/>
          <a:lstStyle/>
          <a:p>
            <a:pPr algn="ctr"/>
          </a:p>
        </p:txBody>
      </p:sp>
      <p:sp>
        <p:nvSpPr>
          <p:cNvPr id="34" name="Rounded Rectangle 33"/>
          <p:cNvSpPr/>
          <p:nvPr/>
        </p:nvSpPr>
        <p:spPr>
          <a:xfrm>
            <a:off x="5440680" y="4471416"/>
            <a:ext cx="6199632" cy="731520"/>
          </a:xfrm>
          <a:prstGeom prst="roundRect">
            <a:avLst>
              <a:gd name="adj" fmla="val 12500"/>
            </a:avLst>
          </a:prstGeom>
          <a:solidFill>
            <a:srgbClr val="E6F4EC"/>
          </a:solidFill>
          <a:ln>
            <a:noFill/>
          </a:ln>
          <a:effectLst/>
        </p:spPr>
        <p:txBody>
          <a:bodyPr rtlCol="0" anchor="ctr"/>
          <a:lstStyle/>
          <a:p/>
        </p:txBody>
      </p:sp>
      <p:sp>
        <p:nvSpPr>
          <p:cNvPr id="35" name="TextBox 34"/>
          <p:cNvSpPr txBox="1"/>
          <p:nvPr/>
        </p:nvSpPr>
        <p:spPr>
          <a:xfrm>
            <a:off x="5669280" y="4471416"/>
            <a:ext cx="5852160" cy="731520"/>
          </a:xfrm>
          <a:prstGeom prst="rect">
            <a:avLst/>
          </a:prstGeom>
          <a:noFill/>
        </p:spPr>
        <p:txBody>
          <a:bodyPr wrap="square" lIns="0" rIns="0" tIns="0" bIns="0" anchor="ctr">
            <a:spAutoFit/>
          </a:bodyPr>
          <a:lstStyle/>
          <a:p>
            <a:pPr algn="l">
              <a:lnSpc>
                <a:spcPct val="100000"/>
              </a:lnSpc>
            </a:pPr>
            <a:r>
              <a:rPr sz="1300" b="0">
                <a:solidFill>
                  <a:srgbClr val="23272B"/>
                </a:solidFill>
                <a:latin typeface="Arial"/>
              </a:rPr>
              <a:t>One daily ERP file: checked, reported by the bot, synced to the app in minutes</a:t>
            </a:r>
          </a:p>
        </p:txBody>
      </p:sp>
      <p:sp>
        <p:nvSpPr>
          <p:cNvPr id="36" name="Rounded Rectangle 35"/>
          <p:cNvSpPr/>
          <p:nvPr/>
        </p:nvSpPr>
        <p:spPr>
          <a:xfrm>
            <a:off x="548640" y="5321808"/>
            <a:ext cx="4343400" cy="731520"/>
          </a:xfrm>
          <a:prstGeom prst="roundRect">
            <a:avLst>
              <a:gd name="adj" fmla="val 12500"/>
            </a:avLst>
          </a:prstGeom>
          <a:solidFill>
            <a:srgbClr val="FDEBED"/>
          </a:solidFill>
          <a:ln>
            <a:noFill/>
          </a:ln>
          <a:effectLst/>
        </p:spPr>
        <p:txBody>
          <a:bodyPr rtlCol="0" anchor="ctr"/>
          <a:lstStyle/>
          <a:p/>
        </p:txBody>
      </p:sp>
      <p:sp>
        <p:nvSpPr>
          <p:cNvPr id="37" name="Oval 36"/>
          <p:cNvSpPr/>
          <p:nvPr/>
        </p:nvSpPr>
        <p:spPr>
          <a:xfrm>
            <a:off x="658368" y="5431536"/>
            <a:ext cx="512064" cy="512064"/>
          </a:xfrm>
          <a:prstGeom prst="ellipse">
            <a:avLst/>
          </a:prstGeom>
          <a:solidFill>
            <a:srgbClr val="FFFFFF"/>
          </a:solidFill>
          <a:ln>
            <a:noFill/>
          </a:ln>
          <a:effectLst/>
        </p:spPr>
        <p:txBody>
          <a:bodyPr rtlCol="0" anchor="ctr"/>
          <a:lstStyle/>
          <a:p>
            <a:pPr algn="ctr"/>
          </a:p>
        </p:txBody>
      </p:sp>
      <p:pic>
        <p:nvPicPr>
          <p:cNvPr id="38" name="Picture 37" descr="history_r.png"/>
          <p:cNvPicPr>
            <a:picLocks noChangeAspect="1"/>
          </p:cNvPicPr>
          <p:nvPr/>
        </p:nvPicPr>
        <p:blipFill>
          <a:blip r:embed="rId6"/>
          <a:stretch>
            <a:fillRect/>
          </a:stretch>
        </p:blipFill>
        <p:spPr>
          <a:xfrm>
            <a:off x="771022" y="5544190"/>
            <a:ext cx="286755" cy="286755"/>
          </a:xfrm>
          <a:prstGeom prst="rect">
            <a:avLst/>
          </a:prstGeom>
        </p:spPr>
      </p:pic>
      <p:sp>
        <p:nvSpPr>
          <p:cNvPr id="39" name="TextBox 38"/>
          <p:cNvSpPr txBox="1"/>
          <p:nvPr/>
        </p:nvSpPr>
        <p:spPr>
          <a:xfrm>
            <a:off x="1325880" y="5321808"/>
            <a:ext cx="3474720" cy="731520"/>
          </a:xfrm>
          <a:prstGeom prst="rect">
            <a:avLst/>
          </a:prstGeom>
          <a:noFill/>
        </p:spPr>
        <p:txBody>
          <a:bodyPr wrap="square" lIns="0" rIns="0" tIns="0" bIns="0" anchor="ctr">
            <a:spAutoFit/>
          </a:bodyPr>
          <a:lstStyle/>
          <a:p>
            <a:pPr algn="l">
              <a:lnSpc>
                <a:spcPct val="100000"/>
              </a:lnSpc>
            </a:pPr>
            <a:r>
              <a:rPr sz="1400" b="1">
                <a:solidFill>
                  <a:srgbClr val="23272B"/>
                </a:solidFill>
                <a:latin typeface="Arial"/>
              </a:rPr>
              <a:t>Customers quietly stop buying</a:t>
            </a:r>
          </a:p>
        </p:txBody>
      </p:sp>
      <p:sp>
        <p:nvSpPr>
          <p:cNvPr id="40" name="Right Arrow 39"/>
          <p:cNvSpPr/>
          <p:nvPr/>
        </p:nvSpPr>
        <p:spPr>
          <a:xfrm>
            <a:off x="4965192" y="5522976"/>
            <a:ext cx="384048" cy="329184"/>
          </a:xfrm>
          <a:prstGeom prst="rightArrow">
            <a:avLst/>
          </a:prstGeom>
          <a:solidFill>
            <a:srgbClr val="009343"/>
          </a:solidFill>
          <a:ln>
            <a:noFill/>
          </a:ln>
        </p:spPr>
        <p:txBody>
          <a:bodyPr rtlCol="0" anchor="ctr"/>
          <a:lstStyle/>
          <a:p>
            <a:pPr algn="ctr"/>
          </a:p>
        </p:txBody>
      </p:sp>
      <p:sp>
        <p:nvSpPr>
          <p:cNvPr id="41" name="Rounded Rectangle 40"/>
          <p:cNvSpPr/>
          <p:nvPr/>
        </p:nvSpPr>
        <p:spPr>
          <a:xfrm>
            <a:off x="5440680" y="5321808"/>
            <a:ext cx="6199632" cy="731520"/>
          </a:xfrm>
          <a:prstGeom prst="roundRect">
            <a:avLst>
              <a:gd name="adj" fmla="val 12500"/>
            </a:avLst>
          </a:prstGeom>
          <a:solidFill>
            <a:srgbClr val="E6F4EC"/>
          </a:solidFill>
          <a:ln>
            <a:noFill/>
          </a:ln>
          <a:effectLst/>
        </p:spPr>
        <p:txBody>
          <a:bodyPr rtlCol="0" anchor="ctr"/>
          <a:lstStyle/>
          <a:p/>
        </p:txBody>
      </p:sp>
      <p:sp>
        <p:nvSpPr>
          <p:cNvPr id="42" name="TextBox 41"/>
          <p:cNvSpPr txBox="1"/>
          <p:nvPr/>
        </p:nvSpPr>
        <p:spPr>
          <a:xfrm>
            <a:off x="5669280" y="5321808"/>
            <a:ext cx="5852160" cy="731520"/>
          </a:xfrm>
          <a:prstGeom prst="rect">
            <a:avLst/>
          </a:prstGeom>
          <a:noFill/>
        </p:spPr>
        <p:txBody>
          <a:bodyPr wrap="square" lIns="0" rIns="0" tIns="0" bIns="0" anchor="ctr">
            <a:spAutoFit/>
          </a:bodyPr>
          <a:lstStyle/>
          <a:p>
            <a:pPr algn="l">
              <a:lnSpc>
                <a:spcPct val="100000"/>
              </a:lnSpc>
            </a:pPr>
            <a:r>
              <a:rPr sz="1300" b="0">
                <a:solidFill>
                  <a:srgbClr val="23272B"/>
                </a:solidFill>
                <a:latin typeface="Arial"/>
              </a:rPr>
              <a:t>Each customer's order rhythm is learned; when it breaks, a call-or-visit task</a:t>
            </a:r>
          </a:p>
        </p:txBody>
      </p:sp>
      <p:cxnSp>
        <p:nvCxnSpPr>
          <p:cNvPr id="43" name="Connector 42"/>
          <p:cNvCxnSpPr/>
          <p:nvPr/>
        </p:nvCxnSpPr>
        <p:spPr>
          <a:xfrm>
            <a:off x="548640" y="6400800"/>
            <a:ext cx="11094415" cy="0"/>
          </a:xfrm>
          <a:prstGeom prst="line">
            <a:avLst/>
          </a:prstGeom>
          <a:ln w="9525">
            <a:solidFill>
              <a:srgbClr val="D9DEDB"/>
            </a:solidFill>
          </a:ln>
        </p:spPr>
      </p:cxnSp>
      <p:pic>
        <p:nvPicPr>
          <p:cNvPr id="44" name="Picture 43" descr="kad-wordmark.png"/>
          <p:cNvPicPr>
            <a:picLocks noChangeAspect="1"/>
          </p:cNvPicPr>
          <p:nvPr/>
        </p:nvPicPr>
        <p:blipFill>
          <a:blip r:embed="rId7"/>
          <a:stretch>
            <a:fillRect/>
          </a:stretch>
        </p:blipFill>
        <p:spPr>
          <a:xfrm>
            <a:off x="548640" y="6519672"/>
            <a:ext cx="759129" cy="155448"/>
          </a:xfrm>
          <a:prstGeom prst="rect">
            <a:avLst/>
          </a:prstGeom>
        </p:spPr>
      </p:pic>
      <p:sp>
        <p:nvSpPr>
          <p:cNvPr id="45" name="TextBox 44"/>
          <p:cNvSpPr txBox="1"/>
          <p:nvPr/>
        </p:nvSpPr>
        <p:spPr>
          <a:xfrm>
            <a:off x="1417320" y="6492240"/>
            <a:ext cx="6400800" cy="228600"/>
          </a:xfrm>
          <a:prstGeom prst="rect">
            <a:avLst/>
          </a:prstGeom>
          <a:noFill/>
        </p:spPr>
        <p:txBody>
          <a:bodyPr wrap="square" lIns="0" rIns="0" tIns="0" bIns="0" anchor="t">
            <a:spAutoFit/>
          </a:bodyPr>
          <a:lstStyle/>
          <a:p>
            <a:pPr algn="l">
              <a:lnSpc>
                <a:spcPct val="100000"/>
              </a:lnSpc>
            </a:pPr>
            <a:r>
              <a:rPr sz="900" b="0">
                <a:solidFill>
                  <a:srgbClr val="5F6670"/>
                </a:solidFill>
                <a:latin typeface="Arial"/>
              </a:rPr>
              <a:t>Digital Sales Platform for Castrol Distribution</a:t>
            </a:r>
          </a:p>
        </p:txBody>
      </p:sp>
      <p:sp>
        <p:nvSpPr>
          <p:cNvPr id="46" name="TextBox 45"/>
          <p:cNvSpPr txBox="1"/>
          <p:nvPr/>
        </p:nvSpPr>
        <p:spPr>
          <a:xfrm>
            <a:off x="10728655" y="6492240"/>
            <a:ext cx="914400" cy="228600"/>
          </a:xfrm>
          <a:prstGeom prst="rect">
            <a:avLst/>
          </a:prstGeom>
          <a:noFill/>
        </p:spPr>
        <p:txBody>
          <a:bodyPr wrap="square" lIns="0" rIns="0" tIns="0" bIns="0" anchor="t">
            <a:spAutoFit/>
          </a:bodyPr>
          <a:lstStyle/>
          <a:p>
            <a:pPr algn="r">
              <a:lnSpc>
                <a:spcPct val="100000"/>
              </a:lnSpc>
            </a:pPr>
            <a:r>
              <a:rPr sz="900" b="0">
                <a:solidFill>
                  <a:srgbClr val="5F6670"/>
                </a:solidFill>
                <a:latin typeface="Arial"/>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347472"/>
            <a:ext cx="592531" cy="64008"/>
          </a:xfrm>
          <a:prstGeom prst="rect">
            <a:avLst/>
          </a:prstGeom>
          <a:solidFill>
            <a:srgbClr val="009343"/>
          </a:solidFill>
          <a:ln>
            <a:noFill/>
          </a:ln>
          <a:effectLst/>
        </p:spPr>
        <p:txBody>
          <a:bodyPr rtlCol="0" anchor="ctr"/>
          <a:lstStyle/>
          <a:p/>
        </p:txBody>
      </p:sp>
      <p:sp>
        <p:nvSpPr>
          <p:cNvPr id="3" name="Rectangle 2"/>
          <p:cNvSpPr/>
          <p:nvPr/>
        </p:nvSpPr>
        <p:spPr>
          <a:xfrm>
            <a:off x="1141171" y="347472"/>
            <a:ext cx="230428" cy="64008"/>
          </a:xfrm>
          <a:prstGeom prst="rect">
            <a:avLst/>
          </a:prstGeom>
          <a:solidFill>
            <a:srgbClr val="E2001A"/>
          </a:solidFill>
          <a:ln>
            <a:noFill/>
          </a:ln>
          <a:effectLst/>
        </p:spPr>
        <p:txBody>
          <a:bodyPr rtlCol="0" anchor="ctr"/>
          <a:lstStyle/>
          <a:p/>
        </p:txBody>
      </p:sp>
      <p:sp>
        <p:nvSpPr>
          <p:cNvPr id="4" name="TextBox 3"/>
          <p:cNvSpPr txBox="1"/>
          <p:nvPr/>
        </p:nvSpPr>
        <p:spPr>
          <a:xfrm>
            <a:off x="548640" y="502920"/>
            <a:ext cx="9144000" cy="274320"/>
          </a:xfrm>
          <a:prstGeom prst="rect">
            <a:avLst/>
          </a:prstGeom>
          <a:noFill/>
        </p:spPr>
        <p:txBody>
          <a:bodyPr wrap="square" lIns="0" rIns="0" tIns="0" bIns="0" anchor="t">
            <a:spAutoFit/>
          </a:bodyPr>
          <a:lstStyle/>
          <a:p>
            <a:pPr algn="l">
              <a:lnSpc>
                <a:spcPct val="100000"/>
              </a:lnSpc>
            </a:pPr>
            <a:r>
              <a:rPr sz="1200" b="1">
                <a:solidFill>
                  <a:srgbClr val="009343"/>
                </a:solidFill>
                <a:latin typeface="Arial"/>
              </a:rPr>
              <a:t>THE PLATFORM</a:t>
            </a:r>
          </a:p>
        </p:txBody>
      </p:sp>
      <p:sp>
        <p:nvSpPr>
          <p:cNvPr id="5" name="TextBox 4"/>
          <p:cNvSpPr txBox="1"/>
          <p:nvPr/>
        </p:nvSpPr>
        <p:spPr>
          <a:xfrm>
            <a:off x="548640" y="777240"/>
            <a:ext cx="11064240" cy="914400"/>
          </a:xfrm>
          <a:prstGeom prst="rect">
            <a:avLst/>
          </a:prstGeom>
          <a:noFill/>
        </p:spPr>
        <p:txBody>
          <a:bodyPr wrap="square" lIns="0" rIns="0" tIns="0" bIns="0" anchor="t">
            <a:spAutoFit/>
          </a:bodyPr>
          <a:lstStyle/>
          <a:p>
            <a:pPr algn="l">
              <a:lnSpc>
                <a:spcPct val="95000"/>
              </a:lnSpc>
            </a:pPr>
            <a:r>
              <a:rPr sz="3000" b="1">
                <a:solidFill>
                  <a:srgbClr val="23272B"/>
                </a:solidFill>
                <a:latin typeface="Arial"/>
              </a:rPr>
              <a:t>One app from a link, an AI deputy director, and a CEO bot</a:t>
            </a:r>
          </a:p>
        </p:txBody>
      </p:sp>
      <p:sp>
        <p:nvSpPr>
          <p:cNvPr id="6" name="Rounded Rectangle 5"/>
          <p:cNvSpPr/>
          <p:nvPr/>
        </p:nvSpPr>
        <p:spPr>
          <a:xfrm>
            <a:off x="548640" y="1783080"/>
            <a:ext cx="5760720" cy="1143000"/>
          </a:xfrm>
          <a:prstGeom prst="roundRect">
            <a:avLst>
              <a:gd name="adj" fmla="val 9600"/>
            </a:avLst>
          </a:prstGeom>
          <a:solidFill>
            <a:srgbClr val="F4F5F6"/>
          </a:solidFill>
          <a:ln>
            <a:noFill/>
          </a:ln>
          <a:effectLst/>
        </p:spPr>
        <p:txBody>
          <a:bodyPr rtlCol="0" anchor="ctr"/>
          <a:lstStyle/>
          <a:p/>
        </p:txBody>
      </p:sp>
      <p:sp>
        <p:nvSpPr>
          <p:cNvPr id="7" name="Oval 6"/>
          <p:cNvSpPr/>
          <p:nvPr/>
        </p:nvSpPr>
        <p:spPr>
          <a:xfrm>
            <a:off x="777240" y="1965960"/>
            <a:ext cx="777240" cy="777240"/>
          </a:xfrm>
          <a:prstGeom prst="ellipse">
            <a:avLst/>
          </a:prstGeom>
          <a:solidFill>
            <a:srgbClr val="E6F4EC"/>
          </a:solidFill>
          <a:ln>
            <a:noFill/>
          </a:ln>
          <a:effectLst/>
        </p:spPr>
        <p:txBody>
          <a:bodyPr rtlCol="0" anchor="ctr"/>
          <a:lstStyle/>
          <a:p>
            <a:pPr algn="ctr"/>
          </a:p>
        </p:txBody>
      </p:sp>
      <p:pic>
        <p:nvPicPr>
          <p:cNvPr id="8" name="Picture 7" descr="smartphone_g.png"/>
          <p:cNvPicPr>
            <a:picLocks noChangeAspect="1"/>
          </p:cNvPicPr>
          <p:nvPr/>
        </p:nvPicPr>
        <p:blipFill>
          <a:blip r:embed="rId2"/>
          <a:stretch>
            <a:fillRect/>
          </a:stretch>
        </p:blipFill>
        <p:spPr>
          <a:xfrm>
            <a:off x="948232" y="2136952"/>
            <a:ext cx="435254" cy="435254"/>
          </a:xfrm>
          <a:prstGeom prst="rect">
            <a:avLst/>
          </a:prstGeom>
        </p:spPr>
      </p:pic>
      <p:sp>
        <p:nvSpPr>
          <p:cNvPr id="9" name="TextBox 8"/>
          <p:cNvSpPr txBox="1"/>
          <p:nvPr/>
        </p:nvSpPr>
        <p:spPr>
          <a:xfrm>
            <a:off x="1828800" y="1938528"/>
            <a:ext cx="4343400" cy="411480"/>
          </a:xfrm>
          <a:prstGeom prst="rect">
            <a:avLst/>
          </a:prstGeom>
          <a:noFill/>
        </p:spPr>
        <p:txBody>
          <a:bodyPr wrap="square" lIns="0" rIns="0" tIns="0" bIns="0" anchor="t">
            <a:spAutoFit/>
          </a:bodyPr>
          <a:lstStyle/>
          <a:p>
            <a:pPr algn="l">
              <a:lnSpc>
                <a:spcPct val="100000"/>
              </a:lnSpc>
            </a:pPr>
            <a:r>
              <a:rPr sz="1800" b="1">
                <a:solidFill>
                  <a:srgbClr val="23272B"/>
                </a:solidFill>
                <a:latin typeface="Arial"/>
              </a:rPr>
              <a:t>Field Visits app</a:t>
            </a:r>
          </a:p>
        </p:txBody>
      </p:sp>
      <p:sp>
        <p:nvSpPr>
          <p:cNvPr id="10" name="TextBox 9"/>
          <p:cNvSpPr txBox="1"/>
          <p:nvPr/>
        </p:nvSpPr>
        <p:spPr>
          <a:xfrm>
            <a:off x="1828800" y="2331720"/>
            <a:ext cx="4343400" cy="548640"/>
          </a:xfrm>
          <a:prstGeom prst="rect">
            <a:avLst/>
          </a:prstGeom>
          <a:noFill/>
        </p:spPr>
        <p:txBody>
          <a:bodyPr wrap="square" lIns="0" rIns="0" tIns="0" bIns="0" anchor="t">
            <a:spAutoFit/>
          </a:bodyPr>
          <a:lstStyle/>
          <a:p>
            <a:pPr algn="l">
              <a:lnSpc>
                <a:spcPct val="100000"/>
              </a:lnSpc>
            </a:pPr>
            <a:r>
              <a:rPr sz="1300" b="0">
                <a:solidFill>
                  <a:srgbClr val="5F6670"/>
                </a:solidFill>
                <a:latin typeface="Arial"/>
              </a:rPr>
              <a:t>Opens from a link on iPhone and Android. No app store. Works offline.</a:t>
            </a:r>
          </a:p>
        </p:txBody>
      </p:sp>
      <p:sp>
        <p:nvSpPr>
          <p:cNvPr id="11" name="Rounded Rectangle 10"/>
          <p:cNvSpPr/>
          <p:nvPr/>
        </p:nvSpPr>
        <p:spPr>
          <a:xfrm>
            <a:off x="548640" y="3063239"/>
            <a:ext cx="5760720" cy="1143000"/>
          </a:xfrm>
          <a:prstGeom prst="roundRect">
            <a:avLst>
              <a:gd name="adj" fmla="val 9600"/>
            </a:avLst>
          </a:prstGeom>
          <a:solidFill>
            <a:srgbClr val="F4F5F6"/>
          </a:solidFill>
          <a:ln>
            <a:noFill/>
          </a:ln>
          <a:effectLst/>
        </p:spPr>
        <p:txBody>
          <a:bodyPr rtlCol="0" anchor="ctr"/>
          <a:lstStyle/>
          <a:p/>
        </p:txBody>
      </p:sp>
      <p:sp>
        <p:nvSpPr>
          <p:cNvPr id="12" name="Oval 11"/>
          <p:cNvSpPr/>
          <p:nvPr/>
        </p:nvSpPr>
        <p:spPr>
          <a:xfrm>
            <a:off x="777240" y="3246120"/>
            <a:ext cx="777240" cy="777240"/>
          </a:xfrm>
          <a:prstGeom prst="ellipse">
            <a:avLst/>
          </a:prstGeom>
          <a:solidFill>
            <a:srgbClr val="E6F4EC"/>
          </a:solidFill>
          <a:ln>
            <a:noFill/>
          </a:ln>
          <a:effectLst/>
        </p:spPr>
        <p:txBody>
          <a:bodyPr rtlCol="0" anchor="ctr"/>
          <a:lstStyle/>
          <a:p>
            <a:pPr algn="ctr"/>
          </a:p>
        </p:txBody>
      </p:sp>
      <p:pic>
        <p:nvPicPr>
          <p:cNvPr id="13" name="Picture 12" descr="vaghinak_g.png"/>
          <p:cNvPicPr>
            <a:picLocks noChangeAspect="1"/>
          </p:cNvPicPr>
          <p:nvPr/>
        </p:nvPicPr>
        <p:blipFill>
          <a:blip r:embed="rId3"/>
          <a:stretch>
            <a:fillRect/>
          </a:stretch>
        </p:blipFill>
        <p:spPr>
          <a:xfrm>
            <a:off x="948232" y="3417112"/>
            <a:ext cx="435254" cy="435254"/>
          </a:xfrm>
          <a:prstGeom prst="rect">
            <a:avLst/>
          </a:prstGeom>
        </p:spPr>
      </p:pic>
      <p:sp>
        <p:nvSpPr>
          <p:cNvPr id="14" name="TextBox 13"/>
          <p:cNvSpPr txBox="1"/>
          <p:nvPr/>
        </p:nvSpPr>
        <p:spPr>
          <a:xfrm>
            <a:off x="1828800" y="3218687"/>
            <a:ext cx="4343400" cy="411480"/>
          </a:xfrm>
          <a:prstGeom prst="rect">
            <a:avLst/>
          </a:prstGeom>
          <a:noFill/>
        </p:spPr>
        <p:txBody>
          <a:bodyPr wrap="square" lIns="0" rIns="0" tIns="0" bIns="0" anchor="t">
            <a:spAutoFit/>
          </a:bodyPr>
          <a:lstStyle/>
          <a:p>
            <a:pPr algn="l">
              <a:lnSpc>
                <a:spcPct val="100000"/>
              </a:lnSpc>
            </a:pPr>
            <a:r>
              <a:rPr sz="1800" b="1">
                <a:solidFill>
                  <a:srgbClr val="23272B"/>
                </a:solidFill>
                <a:latin typeface="Arial"/>
              </a:rPr>
              <a:t>Vaghinak, AI deputy director</a:t>
            </a:r>
          </a:p>
        </p:txBody>
      </p:sp>
      <p:sp>
        <p:nvSpPr>
          <p:cNvPr id="15" name="TextBox 14"/>
          <p:cNvSpPr txBox="1"/>
          <p:nvPr/>
        </p:nvSpPr>
        <p:spPr>
          <a:xfrm>
            <a:off x="1828800" y="3611879"/>
            <a:ext cx="4343400" cy="548640"/>
          </a:xfrm>
          <a:prstGeom prst="rect">
            <a:avLst/>
          </a:prstGeom>
          <a:noFill/>
        </p:spPr>
        <p:txBody>
          <a:bodyPr wrap="square" lIns="0" rIns="0" tIns="0" bIns="0" anchor="t">
            <a:spAutoFit/>
          </a:bodyPr>
          <a:lstStyle/>
          <a:p>
            <a:pPr algn="l">
              <a:lnSpc>
                <a:spcPct val="100000"/>
              </a:lnSpc>
            </a:pPr>
            <a:r>
              <a:rPr sz="1300" b="0">
                <a:solidFill>
                  <a:srgbClr val="5F6670"/>
                </a:solidFill>
                <a:latin typeface="Arial"/>
              </a:rPr>
              <a:t>Watches the day, assigns tasks, chases deadlines, escalates.</a:t>
            </a:r>
          </a:p>
        </p:txBody>
      </p:sp>
      <p:sp>
        <p:nvSpPr>
          <p:cNvPr id="16" name="Rounded Rectangle 15"/>
          <p:cNvSpPr/>
          <p:nvPr/>
        </p:nvSpPr>
        <p:spPr>
          <a:xfrm>
            <a:off x="548640" y="4343400"/>
            <a:ext cx="5760720" cy="1143000"/>
          </a:xfrm>
          <a:prstGeom prst="roundRect">
            <a:avLst>
              <a:gd name="adj" fmla="val 9600"/>
            </a:avLst>
          </a:prstGeom>
          <a:solidFill>
            <a:srgbClr val="F4F5F6"/>
          </a:solidFill>
          <a:ln>
            <a:noFill/>
          </a:ln>
          <a:effectLst/>
        </p:spPr>
        <p:txBody>
          <a:bodyPr rtlCol="0" anchor="ctr"/>
          <a:lstStyle/>
          <a:p/>
        </p:txBody>
      </p:sp>
      <p:sp>
        <p:nvSpPr>
          <p:cNvPr id="17" name="Oval 16"/>
          <p:cNvSpPr/>
          <p:nvPr/>
        </p:nvSpPr>
        <p:spPr>
          <a:xfrm>
            <a:off x="777240" y="4526280"/>
            <a:ext cx="777240" cy="777240"/>
          </a:xfrm>
          <a:prstGeom prst="ellipse">
            <a:avLst/>
          </a:prstGeom>
          <a:solidFill>
            <a:srgbClr val="E6F4EC"/>
          </a:solidFill>
          <a:ln>
            <a:noFill/>
          </a:ln>
          <a:effectLst/>
        </p:spPr>
        <p:txBody>
          <a:bodyPr rtlCol="0" anchor="ctr"/>
          <a:lstStyle/>
          <a:p>
            <a:pPr algn="ctr"/>
          </a:p>
        </p:txBody>
      </p:sp>
      <p:pic>
        <p:nvPicPr>
          <p:cNvPr id="18" name="Picture 17" descr="bot_g.png"/>
          <p:cNvPicPr>
            <a:picLocks noChangeAspect="1"/>
          </p:cNvPicPr>
          <p:nvPr/>
        </p:nvPicPr>
        <p:blipFill>
          <a:blip r:embed="rId4"/>
          <a:stretch>
            <a:fillRect/>
          </a:stretch>
        </p:blipFill>
        <p:spPr>
          <a:xfrm>
            <a:off x="948232" y="4697272"/>
            <a:ext cx="435254" cy="435254"/>
          </a:xfrm>
          <a:prstGeom prst="rect">
            <a:avLst/>
          </a:prstGeom>
        </p:spPr>
      </p:pic>
      <p:sp>
        <p:nvSpPr>
          <p:cNvPr id="19" name="TextBox 18"/>
          <p:cNvSpPr txBox="1"/>
          <p:nvPr/>
        </p:nvSpPr>
        <p:spPr>
          <a:xfrm>
            <a:off x="1828800" y="4498848"/>
            <a:ext cx="4343400" cy="411480"/>
          </a:xfrm>
          <a:prstGeom prst="rect">
            <a:avLst/>
          </a:prstGeom>
          <a:noFill/>
        </p:spPr>
        <p:txBody>
          <a:bodyPr wrap="square" lIns="0" rIns="0" tIns="0" bIns="0" anchor="t">
            <a:spAutoFit/>
          </a:bodyPr>
          <a:lstStyle/>
          <a:p>
            <a:pPr algn="l">
              <a:lnSpc>
                <a:spcPct val="100000"/>
              </a:lnSpc>
            </a:pPr>
            <a:r>
              <a:rPr sz="1800" b="1">
                <a:solidFill>
                  <a:srgbClr val="23272B"/>
                </a:solidFill>
                <a:latin typeface="Arial"/>
              </a:rPr>
              <a:t>CEO Telegram bot</a:t>
            </a:r>
          </a:p>
        </p:txBody>
      </p:sp>
      <p:sp>
        <p:nvSpPr>
          <p:cNvPr id="20" name="TextBox 19"/>
          <p:cNvSpPr txBox="1"/>
          <p:nvPr/>
        </p:nvSpPr>
        <p:spPr>
          <a:xfrm>
            <a:off x="1828800" y="4892040"/>
            <a:ext cx="4343400" cy="548640"/>
          </a:xfrm>
          <a:prstGeom prst="rect">
            <a:avLst/>
          </a:prstGeom>
          <a:noFill/>
        </p:spPr>
        <p:txBody>
          <a:bodyPr wrap="square" lIns="0" rIns="0" tIns="0" bIns="0" anchor="t">
            <a:spAutoFit/>
          </a:bodyPr>
          <a:lstStyle/>
          <a:p>
            <a:pPr algn="l">
              <a:lnSpc>
                <a:spcPct val="100000"/>
              </a:lnSpc>
            </a:pPr>
            <a:r>
              <a:rPr sz="1300" b="0">
                <a:solidFill>
                  <a:srgbClr val="5F6670"/>
                </a:solidFill>
                <a:latin typeface="Arial"/>
              </a:rPr>
              <a:t>Checks the daily ERP file and sends management reports.</a:t>
            </a:r>
          </a:p>
        </p:txBody>
      </p:sp>
      <p:sp>
        <p:nvSpPr>
          <p:cNvPr id="21" name="Rounded Rectangle 20"/>
          <p:cNvSpPr/>
          <p:nvPr/>
        </p:nvSpPr>
        <p:spPr>
          <a:xfrm>
            <a:off x="548640" y="5669280"/>
            <a:ext cx="5760720" cy="502920"/>
          </a:xfrm>
          <a:prstGeom prst="roundRect">
            <a:avLst>
              <a:gd name="adj" fmla="val 18181"/>
            </a:avLst>
          </a:prstGeom>
          <a:solidFill>
            <a:srgbClr val="E6F4EC"/>
          </a:solidFill>
          <a:ln>
            <a:noFill/>
          </a:ln>
          <a:effectLst/>
        </p:spPr>
        <p:txBody>
          <a:bodyPr rtlCol="0" anchor="ctr"/>
          <a:lstStyle/>
          <a:p/>
        </p:txBody>
      </p:sp>
      <p:pic>
        <p:nvPicPr>
          <p:cNvPr id="22" name="Picture 21" descr="sheet_g.png"/>
          <p:cNvPicPr>
            <a:picLocks noChangeAspect="1"/>
          </p:cNvPicPr>
          <p:nvPr/>
        </p:nvPicPr>
        <p:blipFill>
          <a:blip r:embed="rId5"/>
          <a:stretch>
            <a:fillRect/>
          </a:stretch>
        </p:blipFill>
        <p:spPr>
          <a:xfrm>
            <a:off x="713232" y="5715000"/>
            <a:ext cx="411480" cy="411480"/>
          </a:xfrm>
          <a:prstGeom prst="rect">
            <a:avLst/>
          </a:prstGeom>
        </p:spPr>
      </p:pic>
      <p:sp>
        <p:nvSpPr>
          <p:cNvPr id="23" name="TextBox 22"/>
          <p:cNvSpPr txBox="1"/>
          <p:nvPr/>
        </p:nvSpPr>
        <p:spPr>
          <a:xfrm>
            <a:off x="1280160" y="5669280"/>
            <a:ext cx="4937760" cy="502920"/>
          </a:xfrm>
          <a:prstGeom prst="rect">
            <a:avLst/>
          </a:prstGeom>
          <a:noFill/>
        </p:spPr>
        <p:txBody>
          <a:bodyPr wrap="square" lIns="0" rIns="0" tIns="0" bIns="0" anchor="ctr">
            <a:spAutoFit/>
          </a:bodyPr>
          <a:lstStyle/>
          <a:p>
            <a:pPr algn="l">
              <a:lnSpc>
                <a:spcPct val="100000"/>
              </a:lnSpc>
            </a:pPr>
            <a:r>
              <a:rPr sz="1350" b="1">
                <a:solidFill>
                  <a:srgbClr val="006E32"/>
                </a:solidFill>
                <a:latin typeface="Arial"/>
              </a:rPr>
              <a:t>All fed every day from the same ERP workbook (Excel)</a:t>
            </a:r>
          </a:p>
        </p:txBody>
      </p:sp>
      <p:pic>
        <p:nvPicPr>
          <p:cNvPr id="24" name="Picture 23" descr="customer.png"/>
          <p:cNvPicPr>
            <a:picLocks noChangeAspect="1"/>
          </p:cNvPicPr>
          <p:nvPr/>
        </p:nvPicPr>
        <p:blipFill>
          <a:blip r:embed="rId6"/>
          <a:stretch>
            <a:fillRect/>
          </a:stretch>
        </p:blipFill>
        <p:spPr>
          <a:xfrm>
            <a:off x="6720840" y="1325880"/>
            <a:ext cx="2428596" cy="4983480"/>
          </a:xfrm>
          <a:prstGeom prst="rect">
            <a:avLst/>
          </a:prstGeom>
        </p:spPr>
      </p:pic>
      <p:pic>
        <p:nvPicPr>
          <p:cNvPr id="25" name="Picture 24" descr="bot.png"/>
          <p:cNvPicPr>
            <a:picLocks noChangeAspect="1"/>
          </p:cNvPicPr>
          <p:nvPr/>
        </p:nvPicPr>
        <p:blipFill>
          <a:blip r:embed="rId7"/>
          <a:stretch>
            <a:fillRect/>
          </a:stretch>
        </p:blipFill>
        <p:spPr>
          <a:xfrm>
            <a:off x="9189720" y="1325880"/>
            <a:ext cx="2428596" cy="4983480"/>
          </a:xfrm>
          <a:prstGeom prst="rect">
            <a:avLst/>
          </a:prstGeom>
        </p:spPr>
      </p:pic>
      <p:sp>
        <p:nvSpPr>
          <p:cNvPr id="26" name="TextBox 25"/>
          <p:cNvSpPr txBox="1"/>
          <p:nvPr/>
        </p:nvSpPr>
        <p:spPr>
          <a:xfrm>
            <a:off x="6720840" y="6144768"/>
            <a:ext cx="4937760" cy="228600"/>
          </a:xfrm>
          <a:prstGeom prst="rect">
            <a:avLst/>
          </a:prstGeom>
          <a:noFill/>
        </p:spPr>
        <p:txBody>
          <a:bodyPr wrap="square" lIns="0" rIns="0" tIns="0" bIns="0" anchor="t">
            <a:spAutoFit/>
          </a:bodyPr>
          <a:lstStyle/>
          <a:p>
            <a:pPr algn="ctr">
              <a:lnSpc>
                <a:spcPct val="100000"/>
              </a:lnSpc>
            </a:pPr>
            <a:r>
              <a:rPr sz="900" b="0">
                <a:solidFill>
                  <a:srgbClr val="5F6670"/>
                </a:solidFill>
                <a:latin typeface="Arial"/>
              </a:rPr>
              <a:t>Demo data</a:t>
            </a:r>
          </a:p>
        </p:txBody>
      </p:sp>
      <p:cxnSp>
        <p:nvCxnSpPr>
          <p:cNvPr id="27" name="Connector 26"/>
          <p:cNvCxnSpPr/>
          <p:nvPr/>
        </p:nvCxnSpPr>
        <p:spPr>
          <a:xfrm>
            <a:off x="548640" y="6400800"/>
            <a:ext cx="11094415" cy="0"/>
          </a:xfrm>
          <a:prstGeom prst="line">
            <a:avLst/>
          </a:prstGeom>
          <a:ln w="9525">
            <a:solidFill>
              <a:srgbClr val="D9DEDB"/>
            </a:solidFill>
          </a:ln>
        </p:spPr>
      </p:cxnSp>
      <p:pic>
        <p:nvPicPr>
          <p:cNvPr id="28" name="Picture 27" descr="kad-wordmark.png"/>
          <p:cNvPicPr>
            <a:picLocks noChangeAspect="1"/>
          </p:cNvPicPr>
          <p:nvPr/>
        </p:nvPicPr>
        <p:blipFill>
          <a:blip r:embed="rId8"/>
          <a:stretch>
            <a:fillRect/>
          </a:stretch>
        </p:blipFill>
        <p:spPr>
          <a:xfrm>
            <a:off x="548640" y="6519672"/>
            <a:ext cx="759129" cy="155448"/>
          </a:xfrm>
          <a:prstGeom prst="rect">
            <a:avLst/>
          </a:prstGeom>
        </p:spPr>
      </p:pic>
      <p:sp>
        <p:nvSpPr>
          <p:cNvPr id="29" name="TextBox 28"/>
          <p:cNvSpPr txBox="1"/>
          <p:nvPr/>
        </p:nvSpPr>
        <p:spPr>
          <a:xfrm>
            <a:off x="1417320" y="6492240"/>
            <a:ext cx="6400800" cy="228600"/>
          </a:xfrm>
          <a:prstGeom prst="rect">
            <a:avLst/>
          </a:prstGeom>
          <a:noFill/>
        </p:spPr>
        <p:txBody>
          <a:bodyPr wrap="square" lIns="0" rIns="0" tIns="0" bIns="0" anchor="t">
            <a:spAutoFit/>
          </a:bodyPr>
          <a:lstStyle/>
          <a:p>
            <a:pPr algn="l">
              <a:lnSpc>
                <a:spcPct val="100000"/>
              </a:lnSpc>
            </a:pPr>
            <a:r>
              <a:rPr sz="900" b="0">
                <a:solidFill>
                  <a:srgbClr val="5F6670"/>
                </a:solidFill>
                <a:latin typeface="Arial"/>
              </a:rPr>
              <a:t>Digital Sales Platform for Castrol Distribution</a:t>
            </a:r>
          </a:p>
        </p:txBody>
      </p:sp>
      <p:sp>
        <p:nvSpPr>
          <p:cNvPr id="30" name="TextBox 29"/>
          <p:cNvSpPr txBox="1"/>
          <p:nvPr/>
        </p:nvSpPr>
        <p:spPr>
          <a:xfrm>
            <a:off x="10728655" y="6492240"/>
            <a:ext cx="914400" cy="228600"/>
          </a:xfrm>
          <a:prstGeom prst="rect">
            <a:avLst/>
          </a:prstGeom>
          <a:noFill/>
        </p:spPr>
        <p:txBody>
          <a:bodyPr wrap="square" lIns="0" rIns="0" tIns="0" bIns="0" anchor="t">
            <a:spAutoFit/>
          </a:bodyPr>
          <a:lstStyle/>
          <a:p>
            <a:pPr algn="r">
              <a:lnSpc>
                <a:spcPct val="100000"/>
              </a:lnSpc>
            </a:pPr>
            <a:r>
              <a:rPr sz="900" b="0">
                <a:solidFill>
                  <a:srgbClr val="5F6670"/>
                </a:solidFill>
                <a:latin typeface="Arial"/>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347472"/>
            <a:ext cx="592531" cy="64008"/>
          </a:xfrm>
          <a:prstGeom prst="rect">
            <a:avLst/>
          </a:prstGeom>
          <a:solidFill>
            <a:srgbClr val="009343"/>
          </a:solidFill>
          <a:ln>
            <a:noFill/>
          </a:ln>
          <a:effectLst/>
        </p:spPr>
        <p:txBody>
          <a:bodyPr rtlCol="0" anchor="ctr"/>
          <a:lstStyle/>
          <a:p/>
        </p:txBody>
      </p:sp>
      <p:sp>
        <p:nvSpPr>
          <p:cNvPr id="3" name="Rectangle 2"/>
          <p:cNvSpPr/>
          <p:nvPr/>
        </p:nvSpPr>
        <p:spPr>
          <a:xfrm>
            <a:off x="1141171" y="347472"/>
            <a:ext cx="230428" cy="64008"/>
          </a:xfrm>
          <a:prstGeom prst="rect">
            <a:avLst/>
          </a:prstGeom>
          <a:solidFill>
            <a:srgbClr val="E2001A"/>
          </a:solidFill>
          <a:ln>
            <a:noFill/>
          </a:ln>
          <a:effectLst/>
        </p:spPr>
        <p:txBody>
          <a:bodyPr rtlCol="0" anchor="ctr"/>
          <a:lstStyle/>
          <a:p/>
        </p:txBody>
      </p:sp>
      <p:sp>
        <p:nvSpPr>
          <p:cNvPr id="4" name="TextBox 3"/>
          <p:cNvSpPr txBox="1"/>
          <p:nvPr/>
        </p:nvSpPr>
        <p:spPr>
          <a:xfrm>
            <a:off x="548640" y="502920"/>
            <a:ext cx="9144000" cy="274320"/>
          </a:xfrm>
          <a:prstGeom prst="rect">
            <a:avLst/>
          </a:prstGeom>
          <a:noFill/>
        </p:spPr>
        <p:txBody>
          <a:bodyPr wrap="square" lIns="0" rIns="0" tIns="0" bIns="0" anchor="t">
            <a:spAutoFit/>
          </a:bodyPr>
          <a:lstStyle/>
          <a:p>
            <a:pPr algn="l">
              <a:lnSpc>
                <a:spcPct val="100000"/>
              </a:lnSpc>
            </a:pPr>
            <a:r>
              <a:rPr sz="1200" b="1">
                <a:solidFill>
                  <a:srgbClr val="009343"/>
                </a:solidFill>
                <a:latin typeface="Arial"/>
              </a:rPr>
              <a:t>HOW IT WORKS</a:t>
            </a:r>
          </a:p>
        </p:txBody>
      </p:sp>
      <p:sp>
        <p:nvSpPr>
          <p:cNvPr id="5" name="TextBox 4"/>
          <p:cNvSpPr txBox="1"/>
          <p:nvPr/>
        </p:nvSpPr>
        <p:spPr>
          <a:xfrm>
            <a:off x="548640" y="777240"/>
            <a:ext cx="11064240" cy="914400"/>
          </a:xfrm>
          <a:prstGeom prst="rect">
            <a:avLst/>
          </a:prstGeom>
          <a:noFill/>
        </p:spPr>
        <p:txBody>
          <a:bodyPr wrap="square" lIns="0" rIns="0" tIns="0" bIns="0" anchor="t">
            <a:spAutoFit/>
          </a:bodyPr>
          <a:lstStyle/>
          <a:p>
            <a:pPr algn="l">
              <a:lnSpc>
                <a:spcPct val="95000"/>
              </a:lnSpc>
            </a:pPr>
            <a:r>
              <a:rPr sz="3000" b="1">
                <a:solidFill>
                  <a:srgbClr val="23272B"/>
                </a:solidFill>
                <a:latin typeface="Arial"/>
              </a:rPr>
              <a:t>One daily file feeds the whole team</a:t>
            </a:r>
          </a:p>
        </p:txBody>
      </p:sp>
      <p:sp>
        <p:nvSpPr>
          <p:cNvPr id="6" name="Rounded Rectangle 5"/>
          <p:cNvSpPr/>
          <p:nvPr/>
        </p:nvSpPr>
        <p:spPr>
          <a:xfrm>
            <a:off x="548640" y="1920240"/>
            <a:ext cx="2377440" cy="2103120"/>
          </a:xfrm>
          <a:prstGeom prst="roundRect">
            <a:avLst>
              <a:gd name="adj" fmla="val 5217"/>
            </a:avLst>
          </a:prstGeom>
          <a:solidFill>
            <a:srgbClr val="FFFFFF"/>
          </a:solidFill>
          <a:ln w="19050">
            <a:solidFill>
              <a:srgbClr val="009343"/>
            </a:solidFill>
          </a:ln>
          <a:effectLst/>
        </p:spPr>
        <p:txBody>
          <a:bodyPr rtlCol="0" anchor="ctr"/>
          <a:lstStyle/>
          <a:p/>
        </p:txBody>
      </p:sp>
      <p:sp>
        <p:nvSpPr>
          <p:cNvPr id="7" name="Oval 6"/>
          <p:cNvSpPr/>
          <p:nvPr/>
        </p:nvSpPr>
        <p:spPr>
          <a:xfrm>
            <a:off x="777240" y="2130552"/>
            <a:ext cx="685800" cy="685800"/>
          </a:xfrm>
          <a:prstGeom prst="ellipse">
            <a:avLst/>
          </a:prstGeom>
          <a:solidFill>
            <a:srgbClr val="E6F4EC"/>
          </a:solidFill>
          <a:ln>
            <a:noFill/>
          </a:ln>
          <a:effectLst/>
        </p:spPr>
        <p:txBody>
          <a:bodyPr rtlCol="0" anchor="ctr"/>
          <a:lstStyle/>
          <a:p>
            <a:pPr algn="ctr"/>
          </a:p>
        </p:txBody>
      </p:sp>
      <p:pic>
        <p:nvPicPr>
          <p:cNvPr id="8" name="Picture 7" descr="sheet_g.png"/>
          <p:cNvPicPr>
            <a:picLocks noChangeAspect="1"/>
          </p:cNvPicPr>
          <p:nvPr/>
        </p:nvPicPr>
        <p:blipFill>
          <a:blip r:embed="rId2"/>
          <a:stretch>
            <a:fillRect/>
          </a:stretch>
        </p:blipFill>
        <p:spPr>
          <a:xfrm>
            <a:off x="928115" y="2281428"/>
            <a:ext cx="384048" cy="384048"/>
          </a:xfrm>
          <a:prstGeom prst="rect">
            <a:avLst/>
          </a:prstGeom>
        </p:spPr>
      </p:pic>
      <p:sp>
        <p:nvSpPr>
          <p:cNvPr id="9" name="TextBox 8"/>
          <p:cNvSpPr txBox="1"/>
          <p:nvPr/>
        </p:nvSpPr>
        <p:spPr>
          <a:xfrm>
            <a:off x="1572768" y="2286000"/>
            <a:ext cx="1280160" cy="365760"/>
          </a:xfrm>
          <a:prstGeom prst="rect">
            <a:avLst/>
          </a:prstGeom>
          <a:noFill/>
        </p:spPr>
        <p:txBody>
          <a:bodyPr wrap="square" lIns="0" rIns="0" tIns="0" bIns="0" anchor="t">
            <a:spAutoFit/>
          </a:bodyPr>
          <a:lstStyle/>
          <a:p>
            <a:pPr algn="l">
              <a:lnSpc>
                <a:spcPct val="100000"/>
              </a:lnSpc>
            </a:pPr>
            <a:r>
              <a:rPr sz="1100" b="1">
                <a:solidFill>
                  <a:srgbClr val="009343"/>
                </a:solidFill>
                <a:latin typeface="Arial"/>
              </a:rPr>
              <a:t>STEP 1</a:t>
            </a:r>
          </a:p>
        </p:txBody>
      </p:sp>
      <p:sp>
        <p:nvSpPr>
          <p:cNvPr id="10" name="TextBox 9"/>
          <p:cNvSpPr txBox="1"/>
          <p:nvPr/>
        </p:nvSpPr>
        <p:spPr>
          <a:xfrm>
            <a:off x="777240" y="2926080"/>
            <a:ext cx="2011680" cy="411480"/>
          </a:xfrm>
          <a:prstGeom prst="rect">
            <a:avLst/>
          </a:prstGeom>
          <a:noFill/>
        </p:spPr>
        <p:txBody>
          <a:bodyPr wrap="square" lIns="0" rIns="0" tIns="0" bIns="0" anchor="t">
            <a:spAutoFit/>
          </a:bodyPr>
          <a:lstStyle/>
          <a:p>
            <a:pPr algn="l">
              <a:lnSpc>
                <a:spcPct val="100000"/>
              </a:lnSpc>
            </a:pPr>
            <a:r>
              <a:rPr sz="1800" b="1">
                <a:solidFill>
                  <a:srgbClr val="23272B"/>
                </a:solidFill>
                <a:latin typeface="Arial"/>
              </a:rPr>
              <a:t>ERP workbook</a:t>
            </a:r>
          </a:p>
        </p:txBody>
      </p:sp>
      <p:sp>
        <p:nvSpPr>
          <p:cNvPr id="11" name="TextBox 10"/>
          <p:cNvSpPr txBox="1"/>
          <p:nvPr/>
        </p:nvSpPr>
        <p:spPr>
          <a:xfrm>
            <a:off x="777240" y="3310128"/>
            <a:ext cx="2011680" cy="640080"/>
          </a:xfrm>
          <a:prstGeom prst="rect">
            <a:avLst/>
          </a:prstGeom>
          <a:noFill/>
        </p:spPr>
        <p:txBody>
          <a:bodyPr wrap="square" lIns="0" rIns="0" tIns="0" bIns="0" anchor="t">
            <a:spAutoFit/>
          </a:bodyPr>
          <a:lstStyle/>
          <a:p>
            <a:pPr algn="l">
              <a:lnSpc>
                <a:spcPct val="100000"/>
              </a:lnSpc>
            </a:pPr>
            <a:r>
              <a:rPr sz="1250" b="0">
                <a:solidFill>
                  <a:srgbClr val="5F6670"/>
                </a:solidFill>
                <a:latin typeface="Arial"/>
              </a:rPr>
              <a:t>Excel, updated daily by accounting</a:t>
            </a:r>
          </a:p>
        </p:txBody>
      </p:sp>
      <p:sp>
        <p:nvSpPr>
          <p:cNvPr id="12" name="Right Arrow 11"/>
          <p:cNvSpPr/>
          <p:nvPr/>
        </p:nvSpPr>
        <p:spPr>
          <a:xfrm>
            <a:off x="3017520" y="2788920"/>
            <a:ext cx="338327" cy="384048"/>
          </a:xfrm>
          <a:prstGeom prst="rightArrow">
            <a:avLst/>
          </a:prstGeom>
          <a:solidFill>
            <a:srgbClr val="009343"/>
          </a:solidFill>
          <a:ln>
            <a:noFill/>
          </a:ln>
        </p:spPr>
        <p:txBody>
          <a:bodyPr rtlCol="0" anchor="ctr"/>
          <a:lstStyle/>
          <a:p>
            <a:pPr algn="ctr"/>
          </a:p>
        </p:txBody>
      </p:sp>
      <p:sp>
        <p:nvSpPr>
          <p:cNvPr id="13" name="Rounded Rectangle 12"/>
          <p:cNvSpPr/>
          <p:nvPr/>
        </p:nvSpPr>
        <p:spPr>
          <a:xfrm>
            <a:off x="3447288" y="1920240"/>
            <a:ext cx="2377440" cy="2103120"/>
          </a:xfrm>
          <a:prstGeom prst="roundRect">
            <a:avLst>
              <a:gd name="adj" fmla="val 5217"/>
            </a:avLst>
          </a:prstGeom>
          <a:solidFill>
            <a:srgbClr val="FFFFFF"/>
          </a:solidFill>
          <a:ln w="19050">
            <a:solidFill>
              <a:srgbClr val="009343"/>
            </a:solidFill>
          </a:ln>
          <a:effectLst/>
        </p:spPr>
        <p:txBody>
          <a:bodyPr rtlCol="0" anchor="ctr"/>
          <a:lstStyle/>
          <a:p/>
        </p:txBody>
      </p:sp>
      <p:sp>
        <p:nvSpPr>
          <p:cNvPr id="14" name="Oval 13"/>
          <p:cNvSpPr/>
          <p:nvPr/>
        </p:nvSpPr>
        <p:spPr>
          <a:xfrm>
            <a:off x="3675887" y="2130552"/>
            <a:ext cx="685800" cy="685800"/>
          </a:xfrm>
          <a:prstGeom prst="ellipse">
            <a:avLst/>
          </a:prstGeom>
          <a:solidFill>
            <a:srgbClr val="E6F4EC"/>
          </a:solidFill>
          <a:ln>
            <a:noFill/>
          </a:ln>
          <a:effectLst/>
        </p:spPr>
        <p:txBody>
          <a:bodyPr rtlCol="0" anchor="ctr"/>
          <a:lstStyle/>
          <a:p>
            <a:pPr algn="ctr"/>
          </a:p>
        </p:txBody>
      </p:sp>
      <p:pic>
        <p:nvPicPr>
          <p:cNvPr id="15" name="Picture 14" descr="bot_g.png"/>
          <p:cNvPicPr>
            <a:picLocks noChangeAspect="1"/>
          </p:cNvPicPr>
          <p:nvPr/>
        </p:nvPicPr>
        <p:blipFill>
          <a:blip r:embed="rId3"/>
          <a:stretch>
            <a:fillRect/>
          </a:stretch>
        </p:blipFill>
        <p:spPr>
          <a:xfrm>
            <a:off x="3826763" y="2281428"/>
            <a:ext cx="384048" cy="384048"/>
          </a:xfrm>
          <a:prstGeom prst="rect">
            <a:avLst/>
          </a:prstGeom>
        </p:spPr>
      </p:pic>
      <p:sp>
        <p:nvSpPr>
          <p:cNvPr id="16" name="TextBox 15"/>
          <p:cNvSpPr txBox="1"/>
          <p:nvPr/>
        </p:nvSpPr>
        <p:spPr>
          <a:xfrm>
            <a:off x="4471416" y="2286000"/>
            <a:ext cx="1280160" cy="365760"/>
          </a:xfrm>
          <a:prstGeom prst="rect">
            <a:avLst/>
          </a:prstGeom>
          <a:noFill/>
        </p:spPr>
        <p:txBody>
          <a:bodyPr wrap="square" lIns="0" rIns="0" tIns="0" bIns="0" anchor="t">
            <a:spAutoFit/>
          </a:bodyPr>
          <a:lstStyle/>
          <a:p>
            <a:pPr algn="l">
              <a:lnSpc>
                <a:spcPct val="100000"/>
              </a:lnSpc>
            </a:pPr>
            <a:r>
              <a:rPr sz="1100" b="1">
                <a:solidFill>
                  <a:srgbClr val="009343"/>
                </a:solidFill>
                <a:latin typeface="Arial"/>
              </a:rPr>
              <a:t>STEP 2</a:t>
            </a:r>
          </a:p>
        </p:txBody>
      </p:sp>
      <p:sp>
        <p:nvSpPr>
          <p:cNvPr id="17" name="TextBox 16"/>
          <p:cNvSpPr txBox="1"/>
          <p:nvPr/>
        </p:nvSpPr>
        <p:spPr>
          <a:xfrm>
            <a:off x="3675887" y="2926080"/>
            <a:ext cx="2011680" cy="411480"/>
          </a:xfrm>
          <a:prstGeom prst="rect">
            <a:avLst/>
          </a:prstGeom>
          <a:noFill/>
        </p:spPr>
        <p:txBody>
          <a:bodyPr wrap="square" lIns="0" rIns="0" tIns="0" bIns="0" anchor="t">
            <a:spAutoFit/>
          </a:bodyPr>
          <a:lstStyle/>
          <a:p>
            <a:pPr algn="l">
              <a:lnSpc>
                <a:spcPct val="100000"/>
              </a:lnSpc>
            </a:pPr>
            <a:r>
              <a:rPr sz="1800" b="1">
                <a:solidFill>
                  <a:srgbClr val="23272B"/>
                </a:solidFill>
                <a:latin typeface="Arial"/>
              </a:rPr>
              <a:t>CEO bot</a:t>
            </a:r>
          </a:p>
        </p:txBody>
      </p:sp>
      <p:sp>
        <p:nvSpPr>
          <p:cNvPr id="18" name="TextBox 17"/>
          <p:cNvSpPr txBox="1"/>
          <p:nvPr/>
        </p:nvSpPr>
        <p:spPr>
          <a:xfrm>
            <a:off x="3675887" y="3310128"/>
            <a:ext cx="2011680" cy="640080"/>
          </a:xfrm>
          <a:prstGeom prst="rect">
            <a:avLst/>
          </a:prstGeom>
          <a:noFill/>
        </p:spPr>
        <p:txBody>
          <a:bodyPr wrap="square" lIns="0" rIns="0" tIns="0" bIns="0" anchor="t">
            <a:spAutoFit/>
          </a:bodyPr>
          <a:lstStyle/>
          <a:p>
            <a:pPr algn="l">
              <a:lnSpc>
                <a:spcPct val="100000"/>
              </a:lnSpc>
            </a:pPr>
            <a:r>
              <a:rPr sz="1250" b="0">
                <a:solidFill>
                  <a:srgbClr val="5F6670"/>
                </a:solidFill>
                <a:latin typeface="Arial"/>
              </a:rPr>
              <a:t>Checks the file, builds the reports</a:t>
            </a:r>
          </a:p>
        </p:txBody>
      </p:sp>
      <p:sp>
        <p:nvSpPr>
          <p:cNvPr id="19" name="Right Arrow 18"/>
          <p:cNvSpPr/>
          <p:nvPr/>
        </p:nvSpPr>
        <p:spPr>
          <a:xfrm>
            <a:off x="5916168" y="2788920"/>
            <a:ext cx="338327" cy="384048"/>
          </a:xfrm>
          <a:prstGeom prst="rightArrow">
            <a:avLst/>
          </a:prstGeom>
          <a:solidFill>
            <a:srgbClr val="009343"/>
          </a:solidFill>
          <a:ln>
            <a:noFill/>
          </a:ln>
        </p:spPr>
        <p:txBody>
          <a:bodyPr rtlCol="0" anchor="ctr"/>
          <a:lstStyle/>
          <a:p>
            <a:pPr algn="ctr"/>
          </a:p>
        </p:txBody>
      </p:sp>
      <p:sp>
        <p:nvSpPr>
          <p:cNvPr id="20" name="Rounded Rectangle 19"/>
          <p:cNvSpPr/>
          <p:nvPr/>
        </p:nvSpPr>
        <p:spPr>
          <a:xfrm>
            <a:off x="6345936" y="1920240"/>
            <a:ext cx="2377440" cy="2103120"/>
          </a:xfrm>
          <a:prstGeom prst="roundRect">
            <a:avLst>
              <a:gd name="adj" fmla="val 5217"/>
            </a:avLst>
          </a:prstGeom>
          <a:solidFill>
            <a:srgbClr val="FFFFFF"/>
          </a:solidFill>
          <a:ln w="19050">
            <a:solidFill>
              <a:srgbClr val="009343"/>
            </a:solidFill>
          </a:ln>
          <a:effectLst/>
        </p:spPr>
        <p:txBody>
          <a:bodyPr rtlCol="0" anchor="ctr"/>
          <a:lstStyle/>
          <a:p/>
        </p:txBody>
      </p:sp>
      <p:sp>
        <p:nvSpPr>
          <p:cNvPr id="21" name="Oval 20"/>
          <p:cNvSpPr/>
          <p:nvPr/>
        </p:nvSpPr>
        <p:spPr>
          <a:xfrm>
            <a:off x="6574536" y="2130552"/>
            <a:ext cx="685800" cy="685800"/>
          </a:xfrm>
          <a:prstGeom prst="ellipse">
            <a:avLst/>
          </a:prstGeom>
          <a:solidFill>
            <a:srgbClr val="E6F4EC"/>
          </a:solidFill>
          <a:ln>
            <a:noFill/>
          </a:ln>
          <a:effectLst/>
        </p:spPr>
        <p:txBody>
          <a:bodyPr rtlCol="0" anchor="ctr"/>
          <a:lstStyle/>
          <a:p>
            <a:pPr algn="ctr"/>
          </a:p>
        </p:txBody>
      </p:sp>
      <p:pic>
        <p:nvPicPr>
          <p:cNvPr id="22" name="Picture 21" descr="repeat_g.png"/>
          <p:cNvPicPr>
            <a:picLocks noChangeAspect="1"/>
          </p:cNvPicPr>
          <p:nvPr/>
        </p:nvPicPr>
        <p:blipFill>
          <a:blip r:embed="rId4"/>
          <a:stretch>
            <a:fillRect/>
          </a:stretch>
        </p:blipFill>
        <p:spPr>
          <a:xfrm>
            <a:off x="6725412" y="2281428"/>
            <a:ext cx="384048" cy="384048"/>
          </a:xfrm>
          <a:prstGeom prst="rect">
            <a:avLst/>
          </a:prstGeom>
        </p:spPr>
      </p:pic>
      <p:sp>
        <p:nvSpPr>
          <p:cNvPr id="23" name="TextBox 22"/>
          <p:cNvSpPr txBox="1"/>
          <p:nvPr/>
        </p:nvSpPr>
        <p:spPr>
          <a:xfrm>
            <a:off x="7370063" y="2286000"/>
            <a:ext cx="1280160" cy="365760"/>
          </a:xfrm>
          <a:prstGeom prst="rect">
            <a:avLst/>
          </a:prstGeom>
          <a:noFill/>
        </p:spPr>
        <p:txBody>
          <a:bodyPr wrap="square" lIns="0" rIns="0" tIns="0" bIns="0" anchor="t">
            <a:spAutoFit/>
          </a:bodyPr>
          <a:lstStyle/>
          <a:p>
            <a:pPr algn="l">
              <a:lnSpc>
                <a:spcPct val="100000"/>
              </a:lnSpc>
            </a:pPr>
            <a:r>
              <a:rPr sz="1100" b="1">
                <a:solidFill>
                  <a:srgbClr val="009343"/>
                </a:solidFill>
                <a:latin typeface="Arial"/>
              </a:rPr>
              <a:t>STEP 3</a:t>
            </a:r>
          </a:p>
        </p:txBody>
      </p:sp>
      <p:sp>
        <p:nvSpPr>
          <p:cNvPr id="24" name="TextBox 23"/>
          <p:cNvSpPr txBox="1"/>
          <p:nvPr/>
        </p:nvSpPr>
        <p:spPr>
          <a:xfrm>
            <a:off x="6574536" y="2926080"/>
            <a:ext cx="2011680" cy="411480"/>
          </a:xfrm>
          <a:prstGeom prst="rect">
            <a:avLst/>
          </a:prstGeom>
          <a:noFill/>
        </p:spPr>
        <p:txBody>
          <a:bodyPr wrap="square" lIns="0" rIns="0" tIns="0" bIns="0" anchor="t">
            <a:spAutoFit/>
          </a:bodyPr>
          <a:lstStyle/>
          <a:p>
            <a:pPr algn="l">
              <a:lnSpc>
                <a:spcPct val="100000"/>
              </a:lnSpc>
            </a:pPr>
            <a:r>
              <a:rPr sz="1800" b="1">
                <a:solidFill>
                  <a:srgbClr val="23272B"/>
                </a:solidFill>
                <a:latin typeface="Arial"/>
              </a:rPr>
              <a:t>ERP sync</a:t>
            </a:r>
          </a:p>
        </p:txBody>
      </p:sp>
      <p:sp>
        <p:nvSpPr>
          <p:cNvPr id="25" name="TextBox 24"/>
          <p:cNvSpPr txBox="1"/>
          <p:nvPr/>
        </p:nvSpPr>
        <p:spPr>
          <a:xfrm>
            <a:off x="6574536" y="3310128"/>
            <a:ext cx="2011680" cy="640080"/>
          </a:xfrm>
          <a:prstGeom prst="rect">
            <a:avLst/>
          </a:prstGeom>
          <a:noFill/>
        </p:spPr>
        <p:txBody>
          <a:bodyPr wrap="square" lIns="0" rIns="0" tIns="0" bIns="0" anchor="t">
            <a:spAutoFit/>
          </a:bodyPr>
          <a:lstStyle/>
          <a:p>
            <a:pPr algn="l">
              <a:lnSpc>
                <a:spcPct val="100000"/>
              </a:lnSpc>
            </a:pPr>
            <a:r>
              <a:rPr sz="1250" b="0">
                <a:solidFill>
                  <a:srgbClr val="5F6670"/>
                </a:solidFill>
                <a:latin typeface="Arial"/>
              </a:rPr>
              <a:t>Debt, sales, prices, stock and plans</a:t>
            </a:r>
          </a:p>
        </p:txBody>
      </p:sp>
      <p:sp>
        <p:nvSpPr>
          <p:cNvPr id="26" name="Right Arrow 25"/>
          <p:cNvSpPr/>
          <p:nvPr/>
        </p:nvSpPr>
        <p:spPr>
          <a:xfrm>
            <a:off x="8814815" y="2788920"/>
            <a:ext cx="338327" cy="384048"/>
          </a:xfrm>
          <a:prstGeom prst="rightArrow">
            <a:avLst/>
          </a:prstGeom>
          <a:solidFill>
            <a:srgbClr val="009343"/>
          </a:solidFill>
          <a:ln>
            <a:noFill/>
          </a:ln>
        </p:spPr>
        <p:txBody>
          <a:bodyPr rtlCol="0" anchor="ctr"/>
          <a:lstStyle/>
          <a:p>
            <a:pPr algn="ctr"/>
          </a:p>
        </p:txBody>
      </p:sp>
      <p:sp>
        <p:nvSpPr>
          <p:cNvPr id="27" name="Rounded Rectangle 26"/>
          <p:cNvSpPr/>
          <p:nvPr/>
        </p:nvSpPr>
        <p:spPr>
          <a:xfrm>
            <a:off x="9244584" y="1920240"/>
            <a:ext cx="2377440" cy="2103120"/>
          </a:xfrm>
          <a:prstGeom prst="roundRect">
            <a:avLst>
              <a:gd name="adj" fmla="val 5217"/>
            </a:avLst>
          </a:prstGeom>
          <a:solidFill>
            <a:srgbClr val="009343"/>
          </a:solidFill>
          <a:ln>
            <a:noFill/>
          </a:ln>
          <a:effectLst/>
        </p:spPr>
        <p:txBody>
          <a:bodyPr rtlCol="0" anchor="ctr"/>
          <a:lstStyle/>
          <a:p/>
        </p:txBody>
      </p:sp>
      <p:sp>
        <p:nvSpPr>
          <p:cNvPr id="28" name="Oval 27"/>
          <p:cNvSpPr/>
          <p:nvPr/>
        </p:nvSpPr>
        <p:spPr>
          <a:xfrm>
            <a:off x="9473184" y="2130552"/>
            <a:ext cx="685800" cy="685800"/>
          </a:xfrm>
          <a:prstGeom prst="ellipse">
            <a:avLst/>
          </a:prstGeom>
          <a:solidFill>
            <a:srgbClr val="FFFFFF"/>
          </a:solidFill>
          <a:ln>
            <a:noFill/>
          </a:ln>
          <a:effectLst/>
        </p:spPr>
        <p:txBody>
          <a:bodyPr rtlCol="0" anchor="ctr"/>
          <a:lstStyle/>
          <a:p>
            <a:pPr algn="ctr"/>
          </a:p>
        </p:txBody>
      </p:sp>
      <p:pic>
        <p:nvPicPr>
          <p:cNvPr id="29" name="Picture 28" descr="smartphone_g.png"/>
          <p:cNvPicPr>
            <a:picLocks noChangeAspect="1"/>
          </p:cNvPicPr>
          <p:nvPr/>
        </p:nvPicPr>
        <p:blipFill>
          <a:blip r:embed="rId5"/>
          <a:stretch>
            <a:fillRect/>
          </a:stretch>
        </p:blipFill>
        <p:spPr>
          <a:xfrm>
            <a:off x="9624059" y="2281428"/>
            <a:ext cx="384048" cy="384048"/>
          </a:xfrm>
          <a:prstGeom prst="rect">
            <a:avLst/>
          </a:prstGeom>
        </p:spPr>
      </p:pic>
      <p:sp>
        <p:nvSpPr>
          <p:cNvPr id="30" name="TextBox 29"/>
          <p:cNvSpPr txBox="1"/>
          <p:nvPr/>
        </p:nvSpPr>
        <p:spPr>
          <a:xfrm>
            <a:off x="10268712" y="2286000"/>
            <a:ext cx="1280160" cy="365760"/>
          </a:xfrm>
          <a:prstGeom prst="rect">
            <a:avLst/>
          </a:prstGeom>
          <a:noFill/>
        </p:spPr>
        <p:txBody>
          <a:bodyPr wrap="square" lIns="0" rIns="0" tIns="0" bIns="0" anchor="t">
            <a:spAutoFit/>
          </a:bodyPr>
          <a:lstStyle/>
          <a:p>
            <a:pPr algn="l">
              <a:lnSpc>
                <a:spcPct val="100000"/>
              </a:lnSpc>
            </a:pPr>
            <a:r>
              <a:rPr sz="1100" b="1">
                <a:solidFill>
                  <a:srgbClr val="FFFFFF"/>
                </a:solidFill>
                <a:latin typeface="Arial"/>
              </a:rPr>
              <a:t>STEP 4</a:t>
            </a:r>
          </a:p>
        </p:txBody>
      </p:sp>
      <p:sp>
        <p:nvSpPr>
          <p:cNvPr id="31" name="TextBox 30"/>
          <p:cNvSpPr txBox="1"/>
          <p:nvPr/>
        </p:nvSpPr>
        <p:spPr>
          <a:xfrm>
            <a:off x="9473184" y="2926080"/>
            <a:ext cx="2011680" cy="411480"/>
          </a:xfrm>
          <a:prstGeom prst="rect">
            <a:avLst/>
          </a:prstGeom>
          <a:noFill/>
        </p:spPr>
        <p:txBody>
          <a:bodyPr wrap="square" lIns="0" rIns="0" tIns="0" bIns="0" anchor="t">
            <a:spAutoFit/>
          </a:bodyPr>
          <a:lstStyle/>
          <a:p>
            <a:pPr algn="l">
              <a:lnSpc>
                <a:spcPct val="100000"/>
              </a:lnSpc>
            </a:pPr>
            <a:r>
              <a:rPr sz="1800" b="1">
                <a:solidFill>
                  <a:srgbClr val="FFFFFF"/>
                </a:solidFill>
                <a:latin typeface="Arial"/>
              </a:rPr>
              <a:t>Field Visits app</a:t>
            </a:r>
          </a:p>
        </p:txBody>
      </p:sp>
      <p:sp>
        <p:nvSpPr>
          <p:cNvPr id="32" name="TextBox 31"/>
          <p:cNvSpPr txBox="1"/>
          <p:nvPr/>
        </p:nvSpPr>
        <p:spPr>
          <a:xfrm>
            <a:off x="9473184" y="3310128"/>
            <a:ext cx="2011680" cy="640080"/>
          </a:xfrm>
          <a:prstGeom prst="rect">
            <a:avLst/>
          </a:prstGeom>
          <a:noFill/>
        </p:spPr>
        <p:txBody>
          <a:bodyPr wrap="square" lIns="0" rIns="0" tIns="0" bIns="0" anchor="t">
            <a:spAutoFit/>
          </a:bodyPr>
          <a:lstStyle/>
          <a:p>
            <a:pPr algn="l">
              <a:lnSpc>
                <a:spcPct val="100000"/>
              </a:lnSpc>
            </a:pPr>
            <a:r>
              <a:rPr sz="1250" b="0">
                <a:solidFill>
                  <a:srgbClr val="FFFFFF"/>
                </a:solidFill>
                <a:latin typeface="Arial"/>
              </a:rPr>
              <a:t>Reps, managers, warehouse, accounting</a:t>
            </a:r>
          </a:p>
        </p:txBody>
      </p:sp>
      <p:sp>
        <p:nvSpPr>
          <p:cNvPr id="33" name="Down Arrow 32"/>
          <p:cNvSpPr/>
          <p:nvPr/>
        </p:nvSpPr>
        <p:spPr>
          <a:xfrm>
            <a:off x="4453128" y="4114800"/>
            <a:ext cx="365760" cy="411480"/>
          </a:xfrm>
          <a:prstGeom prst="downArrow">
            <a:avLst/>
          </a:prstGeom>
          <a:solidFill>
            <a:srgbClr val="9ED3B3"/>
          </a:solidFill>
          <a:ln>
            <a:noFill/>
          </a:ln>
        </p:spPr>
        <p:txBody>
          <a:bodyPr rtlCol="0" anchor="ctr"/>
          <a:lstStyle/>
          <a:p>
            <a:pPr algn="ctr"/>
          </a:p>
        </p:txBody>
      </p:sp>
      <p:sp>
        <p:nvSpPr>
          <p:cNvPr id="34" name="Rounded Rectangle 33"/>
          <p:cNvSpPr/>
          <p:nvPr/>
        </p:nvSpPr>
        <p:spPr>
          <a:xfrm>
            <a:off x="3127248" y="4617720"/>
            <a:ext cx="3017520" cy="777240"/>
          </a:xfrm>
          <a:prstGeom prst="roundRect">
            <a:avLst>
              <a:gd name="adj" fmla="val 14117"/>
            </a:avLst>
          </a:prstGeom>
          <a:solidFill>
            <a:srgbClr val="E6F4EC"/>
          </a:solidFill>
          <a:ln>
            <a:noFill/>
          </a:ln>
          <a:effectLst/>
        </p:spPr>
        <p:txBody>
          <a:bodyPr rtlCol="0" anchor="ctr"/>
          <a:lstStyle/>
          <a:p/>
        </p:txBody>
      </p:sp>
      <p:sp>
        <p:nvSpPr>
          <p:cNvPr id="35" name="Oval 34"/>
          <p:cNvSpPr/>
          <p:nvPr/>
        </p:nvSpPr>
        <p:spPr>
          <a:xfrm>
            <a:off x="3264408" y="4745736"/>
            <a:ext cx="512064" cy="512064"/>
          </a:xfrm>
          <a:prstGeom prst="ellipse">
            <a:avLst/>
          </a:prstGeom>
          <a:solidFill>
            <a:srgbClr val="FFFFFF"/>
          </a:solidFill>
          <a:ln>
            <a:noFill/>
          </a:ln>
          <a:effectLst/>
        </p:spPr>
        <p:txBody>
          <a:bodyPr rtlCol="0" anchor="ctr"/>
          <a:lstStyle/>
          <a:p>
            <a:pPr algn="ctr"/>
          </a:p>
        </p:txBody>
      </p:sp>
      <p:pic>
        <p:nvPicPr>
          <p:cNvPr id="36" name="Picture 35" descr="send_g.png"/>
          <p:cNvPicPr>
            <a:picLocks noChangeAspect="1"/>
          </p:cNvPicPr>
          <p:nvPr/>
        </p:nvPicPr>
        <p:blipFill>
          <a:blip r:embed="rId6"/>
          <a:stretch>
            <a:fillRect/>
          </a:stretch>
        </p:blipFill>
        <p:spPr>
          <a:xfrm>
            <a:off x="3377062" y="4858390"/>
            <a:ext cx="286755" cy="286755"/>
          </a:xfrm>
          <a:prstGeom prst="rect">
            <a:avLst/>
          </a:prstGeom>
        </p:spPr>
      </p:pic>
      <p:sp>
        <p:nvSpPr>
          <p:cNvPr id="37" name="TextBox 36"/>
          <p:cNvSpPr txBox="1"/>
          <p:nvPr/>
        </p:nvSpPr>
        <p:spPr>
          <a:xfrm>
            <a:off x="3904487" y="4617720"/>
            <a:ext cx="2148840" cy="777240"/>
          </a:xfrm>
          <a:prstGeom prst="rect">
            <a:avLst/>
          </a:prstGeom>
          <a:noFill/>
        </p:spPr>
        <p:txBody>
          <a:bodyPr wrap="square" lIns="0" rIns="0" tIns="0" bIns="0" anchor="ctr">
            <a:spAutoFit/>
          </a:bodyPr>
          <a:lstStyle/>
          <a:p>
            <a:pPr algn="l">
              <a:lnSpc>
                <a:spcPct val="100000"/>
              </a:lnSpc>
            </a:pPr>
            <a:r>
              <a:rPr sz="1300" b="1">
                <a:solidFill>
                  <a:srgbClr val="006E32"/>
                </a:solidFill>
                <a:latin typeface="Arial"/>
              </a:rPr>
              <a:t>Daily reports to management on Telegram</a:t>
            </a:r>
          </a:p>
        </p:txBody>
      </p:sp>
      <p:sp>
        <p:nvSpPr>
          <p:cNvPr id="38" name="Up-Down Arrow 37"/>
          <p:cNvSpPr/>
          <p:nvPr/>
        </p:nvSpPr>
        <p:spPr>
          <a:xfrm>
            <a:off x="10250424" y="4114800"/>
            <a:ext cx="365760" cy="411480"/>
          </a:xfrm>
          <a:prstGeom prst="upDownArrow">
            <a:avLst/>
          </a:prstGeom>
          <a:solidFill>
            <a:srgbClr val="9ED3B3"/>
          </a:solidFill>
          <a:ln>
            <a:noFill/>
          </a:ln>
        </p:spPr>
        <p:txBody>
          <a:bodyPr rtlCol="0" anchor="ctr"/>
          <a:lstStyle/>
          <a:p>
            <a:pPr algn="ctr"/>
          </a:p>
        </p:txBody>
      </p:sp>
      <p:sp>
        <p:nvSpPr>
          <p:cNvPr id="39" name="Rounded Rectangle 38"/>
          <p:cNvSpPr/>
          <p:nvPr/>
        </p:nvSpPr>
        <p:spPr>
          <a:xfrm>
            <a:off x="7507223" y="4617720"/>
            <a:ext cx="4114800" cy="1234440"/>
          </a:xfrm>
          <a:prstGeom prst="roundRect">
            <a:avLst>
              <a:gd name="adj" fmla="val 8888"/>
            </a:avLst>
          </a:prstGeom>
          <a:solidFill>
            <a:srgbClr val="F4F5F6"/>
          </a:solidFill>
          <a:ln>
            <a:noFill/>
          </a:ln>
          <a:effectLst/>
        </p:spPr>
        <p:txBody>
          <a:bodyPr rtlCol="0" anchor="ctr"/>
          <a:lstStyle/>
          <a:p/>
        </p:txBody>
      </p:sp>
      <p:sp>
        <p:nvSpPr>
          <p:cNvPr id="40" name="TextBox 39"/>
          <p:cNvSpPr txBox="1"/>
          <p:nvPr/>
        </p:nvSpPr>
        <p:spPr>
          <a:xfrm>
            <a:off x="7690104" y="4709160"/>
            <a:ext cx="3840480" cy="274320"/>
          </a:xfrm>
          <a:prstGeom prst="rect">
            <a:avLst/>
          </a:prstGeom>
          <a:noFill/>
        </p:spPr>
        <p:txBody>
          <a:bodyPr wrap="square" lIns="0" rIns="0" tIns="0" bIns="0" anchor="t">
            <a:spAutoFit/>
          </a:bodyPr>
          <a:lstStyle/>
          <a:p>
            <a:pPr algn="l">
              <a:lnSpc>
                <a:spcPct val="100000"/>
              </a:lnSpc>
            </a:pPr>
            <a:r>
              <a:rPr sz="1100" b="1">
                <a:solidFill>
                  <a:srgbClr val="5F6670"/>
                </a:solidFill>
                <a:latin typeface="Arial"/>
              </a:rPr>
              <a:t>CAPTURED IN THE APP</a:t>
            </a:r>
          </a:p>
        </p:txBody>
      </p:sp>
      <p:sp>
        <p:nvSpPr>
          <p:cNvPr id="41" name="Rounded Rectangle 40"/>
          <p:cNvSpPr/>
          <p:nvPr/>
        </p:nvSpPr>
        <p:spPr>
          <a:xfrm>
            <a:off x="7690104" y="5029200"/>
            <a:ext cx="1325880" cy="329184"/>
          </a:xfrm>
          <a:prstGeom prst="roundRect">
            <a:avLst>
              <a:gd name="adj" fmla="val 50000"/>
            </a:avLst>
          </a:prstGeom>
          <a:solidFill>
            <a:srgbClr val="FFFFFF"/>
          </a:solidFill>
          <a:ln w="9525">
            <a:solidFill>
              <a:srgbClr val="D9DEDB"/>
            </a:solidFill>
          </a:ln>
          <a:effectLst/>
        </p:spPr>
        <p:txBody>
          <a:bodyPr rtlCol="0" anchor="ctr"/>
          <a:lstStyle/>
          <a:p/>
        </p:txBody>
      </p:sp>
      <p:sp>
        <p:nvSpPr>
          <p:cNvPr id="42" name="TextBox 41"/>
          <p:cNvSpPr txBox="1"/>
          <p:nvPr/>
        </p:nvSpPr>
        <p:spPr>
          <a:xfrm>
            <a:off x="7690104" y="5029200"/>
            <a:ext cx="1325880" cy="329184"/>
          </a:xfrm>
          <a:prstGeom prst="rect">
            <a:avLst/>
          </a:prstGeom>
          <a:noFill/>
        </p:spPr>
        <p:txBody>
          <a:bodyPr wrap="square" lIns="0" rIns="0" tIns="0" bIns="0" anchor="ctr">
            <a:spAutoFit/>
          </a:bodyPr>
          <a:lstStyle/>
          <a:p>
            <a:pPr algn="ctr">
              <a:lnSpc>
                <a:spcPct val="100000"/>
              </a:lnSpc>
            </a:pPr>
            <a:r>
              <a:rPr sz="1150" b="1">
                <a:solidFill>
                  <a:srgbClr val="23272B"/>
                </a:solidFill>
                <a:latin typeface="Arial"/>
              </a:rPr>
              <a:t>GPS visits</a:t>
            </a:r>
          </a:p>
        </p:txBody>
      </p:sp>
      <p:sp>
        <p:nvSpPr>
          <p:cNvPr id="43" name="Rounded Rectangle 42"/>
          <p:cNvSpPr/>
          <p:nvPr/>
        </p:nvSpPr>
        <p:spPr>
          <a:xfrm>
            <a:off x="9107424" y="5029200"/>
            <a:ext cx="1920240" cy="329184"/>
          </a:xfrm>
          <a:prstGeom prst="roundRect">
            <a:avLst>
              <a:gd name="adj" fmla="val 50000"/>
            </a:avLst>
          </a:prstGeom>
          <a:solidFill>
            <a:srgbClr val="FFFFFF"/>
          </a:solidFill>
          <a:ln w="9525">
            <a:solidFill>
              <a:srgbClr val="D9DEDB"/>
            </a:solidFill>
          </a:ln>
          <a:effectLst/>
        </p:spPr>
        <p:txBody>
          <a:bodyPr rtlCol="0" anchor="ctr"/>
          <a:lstStyle/>
          <a:p/>
        </p:txBody>
      </p:sp>
      <p:sp>
        <p:nvSpPr>
          <p:cNvPr id="44" name="TextBox 43"/>
          <p:cNvSpPr txBox="1"/>
          <p:nvPr/>
        </p:nvSpPr>
        <p:spPr>
          <a:xfrm>
            <a:off x="9107424" y="5029200"/>
            <a:ext cx="1920240" cy="329184"/>
          </a:xfrm>
          <a:prstGeom prst="rect">
            <a:avLst/>
          </a:prstGeom>
          <a:noFill/>
        </p:spPr>
        <p:txBody>
          <a:bodyPr wrap="square" lIns="0" rIns="0" tIns="0" bIns="0" anchor="ctr">
            <a:spAutoFit/>
          </a:bodyPr>
          <a:lstStyle/>
          <a:p>
            <a:pPr algn="ctr">
              <a:lnSpc>
                <a:spcPct val="100000"/>
              </a:lnSpc>
            </a:pPr>
            <a:r>
              <a:rPr sz="1150" b="1">
                <a:solidFill>
                  <a:srgbClr val="23272B"/>
                </a:solidFill>
                <a:latin typeface="Arial"/>
              </a:rPr>
              <a:t>Photos &amp; shelf audit</a:t>
            </a:r>
          </a:p>
        </p:txBody>
      </p:sp>
      <p:sp>
        <p:nvSpPr>
          <p:cNvPr id="45" name="Rounded Rectangle 44"/>
          <p:cNvSpPr/>
          <p:nvPr/>
        </p:nvSpPr>
        <p:spPr>
          <a:xfrm>
            <a:off x="7690104" y="5422392"/>
            <a:ext cx="1325880" cy="329184"/>
          </a:xfrm>
          <a:prstGeom prst="roundRect">
            <a:avLst>
              <a:gd name="adj" fmla="val 50000"/>
            </a:avLst>
          </a:prstGeom>
          <a:solidFill>
            <a:srgbClr val="FFFFFF"/>
          </a:solidFill>
          <a:ln w="9525">
            <a:solidFill>
              <a:srgbClr val="D9DEDB"/>
            </a:solidFill>
          </a:ln>
          <a:effectLst/>
        </p:spPr>
        <p:txBody>
          <a:bodyPr rtlCol="0" anchor="ctr"/>
          <a:lstStyle/>
          <a:p/>
        </p:txBody>
      </p:sp>
      <p:sp>
        <p:nvSpPr>
          <p:cNvPr id="46" name="TextBox 45"/>
          <p:cNvSpPr txBox="1"/>
          <p:nvPr/>
        </p:nvSpPr>
        <p:spPr>
          <a:xfrm>
            <a:off x="7690104" y="5422392"/>
            <a:ext cx="1325880" cy="329184"/>
          </a:xfrm>
          <a:prstGeom prst="rect">
            <a:avLst/>
          </a:prstGeom>
          <a:noFill/>
        </p:spPr>
        <p:txBody>
          <a:bodyPr wrap="square" lIns="0" rIns="0" tIns="0" bIns="0" anchor="ctr">
            <a:spAutoFit/>
          </a:bodyPr>
          <a:lstStyle/>
          <a:p>
            <a:pPr algn="ctr">
              <a:lnSpc>
                <a:spcPct val="100000"/>
              </a:lnSpc>
            </a:pPr>
            <a:r>
              <a:rPr sz="1150" b="1">
                <a:solidFill>
                  <a:srgbClr val="23272B"/>
                </a:solidFill>
                <a:latin typeface="Arial"/>
              </a:rPr>
              <a:t>Orders</a:t>
            </a:r>
          </a:p>
        </p:txBody>
      </p:sp>
      <p:sp>
        <p:nvSpPr>
          <p:cNvPr id="47" name="Rounded Rectangle 46"/>
          <p:cNvSpPr/>
          <p:nvPr/>
        </p:nvSpPr>
        <p:spPr>
          <a:xfrm>
            <a:off x="9107424" y="5422392"/>
            <a:ext cx="1920240" cy="329184"/>
          </a:xfrm>
          <a:prstGeom prst="roundRect">
            <a:avLst>
              <a:gd name="adj" fmla="val 50000"/>
            </a:avLst>
          </a:prstGeom>
          <a:solidFill>
            <a:srgbClr val="FFFFFF"/>
          </a:solidFill>
          <a:ln w="9525">
            <a:solidFill>
              <a:srgbClr val="D9DEDB"/>
            </a:solidFill>
          </a:ln>
          <a:effectLst/>
        </p:spPr>
        <p:txBody>
          <a:bodyPr rtlCol="0" anchor="ctr"/>
          <a:lstStyle/>
          <a:p/>
        </p:txBody>
      </p:sp>
      <p:sp>
        <p:nvSpPr>
          <p:cNvPr id="48" name="TextBox 47"/>
          <p:cNvSpPr txBox="1"/>
          <p:nvPr/>
        </p:nvSpPr>
        <p:spPr>
          <a:xfrm>
            <a:off x="9107424" y="5422392"/>
            <a:ext cx="1920240" cy="329184"/>
          </a:xfrm>
          <a:prstGeom prst="rect">
            <a:avLst/>
          </a:prstGeom>
          <a:noFill/>
        </p:spPr>
        <p:txBody>
          <a:bodyPr wrap="square" lIns="0" rIns="0" tIns="0" bIns="0" anchor="ctr">
            <a:spAutoFit/>
          </a:bodyPr>
          <a:lstStyle/>
          <a:p>
            <a:pPr algn="ctr">
              <a:lnSpc>
                <a:spcPct val="100000"/>
              </a:lnSpc>
            </a:pPr>
            <a:r>
              <a:rPr sz="1150" b="1">
                <a:solidFill>
                  <a:srgbClr val="23272B"/>
                </a:solidFill>
                <a:latin typeface="Arial"/>
              </a:rPr>
              <a:t>Payments</a:t>
            </a:r>
          </a:p>
        </p:txBody>
      </p:sp>
      <p:sp>
        <p:nvSpPr>
          <p:cNvPr id="49" name="TextBox 48"/>
          <p:cNvSpPr txBox="1"/>
          <p:nvPr/>
        </p:nvSpPr>
        <p:spPr>
          <a:xfrm>
            <a:off x="548640" y="5989320"/>
            <a:ext cx="5852160" cy="320040"/>
          </a:xfrm>
          <a:prstGeom prst="rect">
            <a:avLst/>
          </a:prstGeom>
          <a:noFill/>
        </p:spPr>
        <p:txBody>
          <a:bodyPr wrap="square" lIns="0" rIns="0" tIns="0" bIns="0" anchor="t">
            <a:spAutoFit/>
          </a:bodyPr>
          <a:lstStyle/>
          <a:p>
            <a:pPr algn="l">
              <a:lnSpc>
                <a:spcPct val="100000"/>
              </a:lnSpc>
            </a:pPr>
            <a:r>
              <a:rPr sz="1150" b="0">
                <a:solidFill>
                  <a:srgbClr val="5F6670"/>
                </a:solidFill>
                <a:latin typeface="Arial"/>
              </a:rPr>
              <a:t>Matched by ERP ID, never by name. Excel stays the source of truth.</a:t>
            </a:r>
          </a:p>
        </p:txBody>
      </p:sp>
      <p:cxnSp>
        <p:nvCxnSpPr>
          <p:cNvPr id="50" name="Connector 49"/>
          <p:cNvCxnSpPr/>
          <p:nvPr/>
        </p:nvCxnSpPr>
        <p:spPr>
          <a:xfrm>
            <a:off x="548640" y="6400800"/>
            <a:ext cx="11094415" cy="0"/>
          </a:xfrm>
          <a:prstGeom prst="line">
            <a:avLst/>
          </a:prstGeom>
          <a:ln w="9525">
            <a:solidFill>
              <a:srgbClr val="D9DEDB"/>
            </a:solidFill>
          </a:ln>
        </p:spPr>
      </p:cxnSp>
      <p:pic>
        <p:nvPicPr>
          <p:cNvPr id="51" name="Picture 50" descr="kad-wordmark.png"/>
          <p:cNvPicPr>
            <a:picLocks noChangeAspect="1"/>
          </p:cNvPicPr>
          <p:nvPr/>
        </p:nvPicPr>
        <p:blipFill>
          <a:blip r:embed="rId7"/>
          <a:stretch>
            <a:fillRect/>
          </a:stretch>
        </p:blipFill>
        <p:spPr>
          <a:xfrm>
            <a:off x="548640" y="6519672"/>
            <a:ext cx="759129" cy="155448"/>
          </a:xfrm>
          <a:prstGeom prst="rect">
            <a:avLst/>
          </a:prstGeom>
        </p:spPr>
      </p:pic>
      <p:sp>
        <p:nvSpPr>
          <p:cNvPr id="52" name="TextBox 51"/>
          <p:cNvSpPr txBox="1"/>
          <p:nvPr/>
        </p:nvSpPr>
        <p:spPr>
          <a:xfrm>
            <a:off x="1417320" y="6492240"/>
            <a:ext cx="6400800" cy="228600"/>
          </a:xfrm>
          <a:prstGeom prst="rect">
            <a:avLst/>
          </a:prstGeom>
          <a:noFill/>
        </p:spPr>
        <p:txBody>
          <a:bodyPr wrap="square" lIns="0" rIns="0" tIns="0" bIns="0" anchor="t">
            <a:spAutoFit/>
          </a:bodyPr>
          <a:lstStyle/>
          <a:p>
            <a:pPr algn="l">
              <a:lnSpc>
                <a:spcPct val="100000"/>
              </a:lnSpc>
            </a:pPr>
            <a:r>
              <a:rPr sz="900" b="0">
                <a:solidFill>
                  <a:srgbClr val="5F6670"/>
                </a:solidFill>
                <a:latin typeface="Arial"/>
              </a:rPr>
              <a:t>Digital Sales Platform for Castrol Distribution</a:t>
            </a:r>
          </a:p>
        </p:txBody>
      </p:sp>
      <p:sp>
        <p:nvSpPr>
          <p:cNvPr id="53" name="TextBox 52"/>
          <p:cNvSpPr txBox="1"/>
          <p:nvPr/>
        </p:nvSpPr>
        <p:spPr>
          <a:xfrm>
            <a:off x="10728655" y="6492240"/>
            <a:ext cx="914400" cy="228600"/>
          </a:xfrm>
          <a:prstGeom prst="rect">
            <a:avLst/>
          </a:prstGeom>
          <a:noFill/>
        </p:spPr>
        <p:txBody>
          <a:bodyPr wrap="square" lIns="0" rIns="0" tIns="0" bIns="0" anchor="t">
            <a:spAutoFit/>
          </a:bodyPr>
          <a:lstStyle/>
          <a:p>
            <a:pPr algn="r">
              <a:lnSpc>
                <a:spcPct val="100000"/>
              </a:lnSpc>
            </a:pPr>
            <a:r>
              <a:rPr sz="900" b="0">
                <a:solidFill>
                  <a:srgbClr val="5F6670"/>
                </a:solidFill>
                <a:latin typeface="Arial"/>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347472"/>
            <a:ext cx="592531" cy="64008"/>
          </a:xfrm>
          <a:prstGeom prst="rect">
            <a:avLst/>
          </a:prstGeom>
          <a:solidFill>
            <a:srgbClr val="009343"/>
          </a:solidFill>
          <a:ln>
            <a:noFill/>
          </a:ln>
          <a:effectLst/>
        </p:spPr>
        <p:txBody>
          <a:bodyPr rtlCol="0" anchor="ctr"/>
          <a:lstStyle/>
          <a:p/>
        </p:txBody>
      </p:sp>
      <p:sp>
        <p:nvSpPr>
          <p:cNvPr id="3" name="Rectangle 2"/>
          <p:cNvSpPr/>
          <p:nvPr/>
        </p:nvSpPr>
        <p:spPr>
          <a:xfrm>
            <a:off x="1141171" y="347472"/>
            <a:ext cx="230428" cy="64008"/>
          </a:xfrm>
          <a:prstGeom prst="rect">
            <a:avLst/>
          </a:prstGeom>
          <a:solidFill>
            <a:srgbClr val="E2001A"/>
          </a:solidFill>
          <a:ln>
            <a:noFill/>
          </a:ln>
          <a:effectLst/>
        </p:spPr>
        <p:txBody>
          <a:bodyPr rtlCol="0" anchor="ctr"/>
          <a:lstStyle/>
          <a:p/>
        </p:txBody>
      </p:sp>
      <p:sp>
        <p:nvSpPr>
          <p:cNvPr id="4" name="TextBox 3"/>
          <p:cNvSpPr txBox="1"/>
          <p:nvPr/>
        </p:nvSpPr>
        <p:spPr>
          <a:xfrm>
            <a:off x="548640" y="502920"/>
            <a:ext cx="9144000" cy="274320"/>
          </a:xfrm>
          <a:prstGeom prst="rect">
            <a:avLst/>
          </a:prstGeom>
          <a:noFill/>
        </p:spPr>
        <p:txBody>
          <a:bodyPr wrap="square" lIns="0" rIns="0" tIns="0" bIns="0" anchor="t">
            <a:spAutoFit/>
          </a:bodyPr>
          <a:lstStyle/>
          <a:p>
            <a:pPr algn="l">
              <a:lnSpc>
                <a:spcPct val="100000"/>
              </a:lnSpc>
            </a:pPr>
            <a:r>
              <a:rPr sz="1200" b="1">
                <a:solidFill>
                  <a:srgbClr val="009343"/>
                </a:solidFill>
                <a:latin typeface="Arial"/>
              </a:rPr>
              <a:t>FIELD EXECUTION</a:t>
            </a:r>
          </a:p>
        </p:txBody>
      </p:sp>
      <p:sp>
        <p:nvSpPr>
          <p:cNvPr id="5" name="TextBox 4"/>
          <p:cNvSpPr txBox="1"/>
          <p:nvPr/>
        </p:nvSpPr>
        <p:spPr>
          <a:xfrm>
            <a:off x="548640" y="777240"/>
            <a:ext cx="11064240" cy="914400"/>
          </a:xfrm>
          <a:prstGeom prst="rect">
            <a:avLst/>
          </a:prstGeom>
          <a:noFill/>
        </p:spPr>
        <p:txBody>
          <a:bodyPr wrap="square" lIns="0" rIns="0" tIns="0" bIns="0" anchor="t">
            <a:spAutoFit/>
          </a:bodyPr>
          <a:lstStyle/>
          <a:p>
            <a:pPr algn="l">
              <a:lnSpc>
                <a:spcPct val="95000"/>
              </a:lnSpc>
            </a:pPr>
            <a:r>
              <a:rPr sz="3000" b="1">
                <a:solidFill>
                  <a:srgbClr val="23272B"/>
                </a:solidFill>
                <a:latin typeface="Arial"/>
              </a:rPr>
              <a:t>Every visit is verified: GPS check-in, photo and shelf audit</a:t>
            </a:r>
          </a:p>
        </p:txBody>
      </p:sp>
      <p:pic>
        <p:nvPicPr>
          <p:cNvPr id="6" name="Picture 5" descr="checkin.png"/>
          <p:cNvPicPr>
            <a:picLocks noChangeAspect="1"/>
          </p:cNvPicPr>
          <p:nvPr/>
        </p:nvPicPr>
        <p:blipFill>
          <a:blip r:embed="rId2"/>
          <a:stretch>
            <a:fillRect/>
          </a:stretch>
        </p:blipFill>
        <p:spPr>
          <a:xfrm>
            <a:off x="960120" y="1600200"/>
            <a:ext cx="1893859" cy="3886200"/>
          </a:xfrm>
          <a:prstGeom prst="rect">
            <a:avLst/>
          </a:prstGeom>
        </p:spPr>
      </p:pic>
      <p:sp>
        <p:nvSpPr>
          <p:cNvPr id="7" name="TextBox 6"/>
          <p:cNvSpPr txBox="1"/>
          <p:nvPr/>
        </p:nvSpPr>
        <p:spPr>
          <a:xfrm>
            <a:off x="306849" y="5486400"/>
            <a:ext cx="3200400" cy="320040"/>
          </a:xfrm>
          <a:prstGeom prst="rect">
            <a:avLst/>
          </a:prstGeom>
          <a:noFill/>
        </p:spPr>
        <p:txBody>
          <a:bodyPr wrap="square" lIns="0" rIns="0" tIns="0" bIns="0" anchor="t">
            <a:spAutoFit/>
          </a:bodyPr>
          <a:lstStyle/>
          <a:p>
            <a:pPr algn="ctr">
              <a:lnSpc>
                <a:spcPct val="100000"/>
              </a:lnSpc>
            </a:pPr>
            <a:r>
              <a:rPr sz="1600" b="1">
                <a:solidFill>
                  <a:srgbClr val="23272B"/>
                </a:solidFill>
                <a:latin typeface="Arial"/>
              </a:rPr>
              <a:t>GPS check-in + photo</a:t>
            </a:r>
          </a:p>
        </p:txBody>
      </p:sp>
      <p:sp>
        <p:nvSpPr>
          <p:cNvPr id="8" name="TextBox 7"/>
          <p:cNvSpPr txBox="1"/>
          <p:nvPr/>
        </p:nvSpPr>
        <p:spPr>
          <a:xfrm>
            <a:off x="306849" y="5806440"/>
            <a:ext cx="3200400" cy="502920"/>
          </a:xfrm>
          <a:prstGeom prst="rect">
            <a:avLst/>
          </a:prstGeom>
          <a:noFill/>
        </p:spPr>
        <p:txBody>
          <a:bodyPr wrap="square" lIns="0" rIns="0" tIns="0" bIns="0" anchor="t">
            <a:spAutoFit/>
          </a:bodyPr>
          <a:lstStyle/>
          <a:p>
            <a:pPr algn="ctr">
              <a:lnSpc>
                <a:spcPct val="100000"/>
              </a:lnSpc>
            </a:pPr>
            <a:r>
              <a:rPr sz="1250" b="0">
                <a:solidFill>
                  <a:srgbClr val="5F6670"/>
                </a:solidFill>
                <a:latin typeface="Arial"/>
              </a:rPr>
              <a:t>Accepted only within 300 m of the outlet.</a:t>
            </a:r>
          </a:p>
        </p:txBody>
      </p:sp>
      <p:pic>
        <p:nvPicPr>
          <p:cNvPr id="9" name="Picture 8" descr="shelf_audit.png"/>
          <p:cNvPicPr>
            <a:picLocks noChangeAspect="1"/>
          </p:cNvPicPr>
          <p:nvPr/>
        </p:nvPicPr>
        <p:blipFill>
          <a:blip r:embed="rId3"/>
          <a:stretch>
            <a:fillRect/>
          </a:stretch>
        </p:blipFill>
        <p:spPr>
          <a:xfrm>
            <a:off x="4800600" y="1783080"/>
            <a:ext cx="1650609" cy="3520440"/>
          </a:xfrm>
          <a:prstGeom prst="rect">
            <a:avLst/>
          </a:prstGeom>
        </p:spPr>
      </p:pic>
      <p:sp>
        <p:nvSpPr>
          <p:cNvPr id="10" name="TextBox 9"/>
          <p:cNvSpPr txBox="1"/>
          <p:nvPr/>
        </p:nvSpPr>
        <p:spPr>
          <a:xfrm>
            <a:off x="3979984" y="5486400"/>
            <a:ext cx="3200400" cy="320040"/>
          </a:xfrm>
          <a:prstGeom prst="rect">
            <a:avLst/>
          </a:prstGeom>
          <a:noFill/>
        </p:spPr>
        <p:txBody>
          <a:bodyPr wrap="square" lIns="0" rIns="0" tIns="0" bIns="0" anchor="t">
            <a:spAutoFit/>
          </a:bodyPr>
          <a:lstStyle/>
          <a:p>
            <a:pPr algn="ctr">
              <a:lnSpc>
                <a:spcPct val="100000"/>
              </a:lnSpc>
            </a:pPr>
            <a:r>
              <a:rPr sz="1600" b="1">
                <a:solidFill>
                  <a:srgbClr val="23272B"/>
                </a:solidFill>
                <a:latin typeface="Arial"/>
              </a:rPr>
              <a:t>Shelf audit at every visit</a:t>
            </a:r>
          </a:p>
        </p:txBody>
      </p:sp>
      <p:sp>
        <p:nvSpPr>
          <p:cNvPr id="11" name="TextBox 10"/>
          <p:cNvSpPr txBox="1"/>
          <p:nvPr/>
        </p:nvSpPr>
        <p:spPr>
          <a:xfrm>
            <a:off x="3979984" y="5806440"/>
            <a:ext cx="3200400" cy="502920"/>
          </a:xfrm>
          <a:prstGeom prst="rect">
            <a:avLst/>
          </a:prstGeom>
          <a:noFill/>
        </p:spPr>
        <p:txBody>
          <a:bodyPr wrap="square" lIns="0" rIns="0" tIns="0" bIns="0" anchor="t">
            <a:spAutoFit/>
          </a:bodyPr>
          <a:lstStyle/>
          <a:p>
            <a:pPr algn="ctr">
              <a:lnSpc>
                <a:spcPct val="100000"/>
              </a:lnSpc>
            </a:pPr>
            <a:r>
              <a:rPr sz="1250" b="0">
                <a:solidFill>
                  <a:srgbClr val="5F6670"/>
                </a:solidFill>
                <a:latin typeface="Arial"/>
              </a:rPr>
              <a:t>Castrol available, full range, fake or parallel import.</a:t>
            </a:r>
          </a:p>
        </p:txBody>
      </p:sp>
      <p:pic>
        <p:nvPicPr>
          <p:cNvPr id="12" name="Picture 11" descr="map.png"/>
          <p:cNvPicPr>
            <a:picLocks noChangeAspect="1"/>
          </p:cNvPicPr>
          <p:nvPr/>
        </p:nvPicPr>
        <p:blipFill>
          <a:blip r:embed="rId4"/>
          <a:stretch>
            <a:fillRect/>
          </a:stretch>
        </p:blipFill>
        <p:spPr>
          <a:xfrm>
            <a:off x="8458200" y="1600200"/>
            <a:ext cx="1893859" cy="3886200"/>
          </a:xfrm>
          <a:prstGeom prst="rect">
            <a:avLst/>
          </a:prstGeom>
        </p:spPr>
      </p:pic>
      <p:sp>
        <p:nvSpPr>
          <p:cNvPr id="13" name="TextBox 12"/>
          <p:cNvSpPr txBox="1"/>
          <p:nvPr/>
        </p:nvSpPr>
        <p:spPr>
          <a:xfrm>
            <a:off x="7804929" y="5486400"/>
            <a:ext cx="3200400" cy="320040"/>
          </a:xfrm>
          <a:prstGeom prst="rect">
            <a:avLst/>
          </a:prstGeom>
          <a:noFill/>
        </p:spPr>
        <p:txBody>
          <a:bodyPr wrap="square" lIns="0" rIns="0" tIns="0" bIns="0" anchor="t">
            <a:spAutoFit/>
          </a:bodyPr>
          <a:lstStyle/>
          <a:p>
            <a:pPr algn="ctr">
              <a:lnSpc>
                <a:spcPct val="100000"/>
              </a:lnSpc>
            </a:pPr>
            <a:r>
              <a:rPr sz="1600" b="1">
                <a:solidFill>
                  <a:srgbClr val="23272B"/>
                </a:solidFill>
                <a:latin typeface="Arial"/>
              </a:rPr>
              <a:t>Customer map &amp; CRM</a:t>
            </a:r>
          </a:p>
        </p:txBody>
      </p:sp>
      <p:sp>
        <p:nvSpPr>
          <p:cNvPr id="14" name="TextBox 13"/>
          <p:cNvSpPr txBox="1"/>
          <p:nvPr/>
        </p:nvSpPr>
        <p:spPr>
          <a:xfrm>
            <a:off x="7804929" y="5806440"/>
            <a:ext cx="3200400" cy="502920"/>
          </a:xfrm>
          <a:prstGeom prst="rect">
            <a:avLst/>
          </a:prstGeom>
          <a:noFill/>
        </p:spPr>
        <p:txBody>
          <a:bodyPr wrap="square" lIns="0" rIns="0" tIns="0" bIns="0" anchor="t">
            <a:spAutoFit/>
          </a:bodyPr>
          <a:lstStyle/>
          <a:p>
            <a:pPr algn="ctr">
              <a:lnSpc>
                <a:spcPct val="100000"/>
              </a:lnSpc>
            </a:pPr>
            <a:r>
              <a:rPr sz="1250" b="0">
                <a:solidFill>
                  <a:srgbClr val="5F6670"/>
                </a:solidFill>
                <a:latin typeface="Arial"/>
              </a:rPr>
              <a:t>Every outlet with visit status, debt and plan.</a:t>
            </a:r>
          </a:p>
        </p:txBody>
      </p:sp>
      <p:cxnSp>
        <p:nvCxnSpPr>
          <p:cNvPr id="15" name="Connector 14"/>
          <p:cNvCxnSpPr/>
          <p:nvPr/>
        </p:nvCxnSpPr>
        <p:spPr>
          <a:xfrm>
            <a:off x="548640" y="6400800"/>
            <a:ext cx="11094415" cy="0"/>
          </a:xfrm>
          <a:prstGeom prst="line">
            <a:avLst/>
          </a:prstGeom>
          <a:ln w="9525">
            <a:solidFill>
              <a:srgbClr val="D9DEDB"/>
            </a:solidFill>
          </a:ln>
        </p:spPr>
      </p:cxnSp>
      <p:pic>
        <p:nvPicPr>
          <p:cNvPr id="16" name="Picture 15" descr="kad-wordmark.png"/>
          <p:cNvPicPr>
            <a:picLocks noChangeAspect="1"/>
          </p:cNvPicPr>
          <p:nvPr/>
        </p:nvPicPr>
        <p:blipFill>
          <a:blip r:embed="rId5"/>
          <a:stretch>
            <a:fillRect/>
          </a:stretch>
        </p:blipFill>
        <p:spPr>
          <a:xfrm>
            <a:off x="548640" y="6519672"/>
            <a:ext cx="759129" cy="155448"/>
          </a:xfrm>
          <a:prstGeom prst="rect">
            <a:avLst/>
          </a:prstGeom>
        </p:spPr>
      </p:pic>
      <p:sp>
        <p:nvSpPr>
          <p:cNvPr id="17" name="TextBox 16"/>
          <p:cNvSpPr txBox="1"/>
          <p:nvPr/>
        </p:nvSpPr>
        <p:spPr>
          <a:xfrm>
            <a:off x="1417320" y="6492240"/>
            <a:ext cx="6400800" cy="228600"/>
          </a:xfrm>
          <a:prstGeom prst="rect">
            <a:avLst/>
          </a:prstGeom>
          <a:noFill/>
        </p:spPr>
        <p:txBody>
          <a:bodyPr wrap="square" lIns="0" rIns="0" tIns="0" bIns="0" anchor="t">
            <a:spAutoFit/>
          </a:bodyPr>
          <a:lstStyle/>
          <a:p>
            <a:pPr algn="l">
              <a:lnSpc>
                <a:spcPct val="100000"/>
              </a:lnSpc>
            </a:pPr>
            <a:r>
              <a:rPr sz="900" b="0">
                <a:solidFill>
                  <a:srgbClr val="5F6670"/>
                </a:solidFill>
                <a:latin typeface="Arial"/>
              </a:rPr>
              <a:t>Digital Sales Platform for Castrol Distribution</a:t>
            </a:r>
          </a:p>
        </p:txBody>
      </p:sp>
      <p:sp>
        <p:nvSpPr>
          <p:cNvPr id="18" name="TextBox 17"/>
          <p:cNvSpPr txBox="1"/>
          <p:nvPr/>
        </p:nvSpPr>
        <p:spPr>
          <a:xfrm>
            <a:off x="10728655" y="6492240"/>
            <a:ext cx="914400" cy="228600"/>
          </a:xfrm>
          <a:prstGeom prst="rect">
            <a:avLst/>
          </a:prstGeom>
          <a:noFill/>
        </p:spPr>
        <p:txBody>
          <a:bodyPr wrap="square" lIns="0" rIns="0" tIns="0" bIns="0" anchor="t">
            <a:spAutoFit/>
          </a:bodyPr>
          <a:lstStyle/>
          <a:p>
            <a:pPr algn="r">
              <a:lnSpc>
                <a:spcPct val="100000"/>
              </a:lnSpc>
            </a:pPr>
            <a:r>
              <a:rPr sz="900" b="0">
                <a:solidFill>
                  <a:srgbClr val="5F6670"/>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347472"/>
            <a:ext cx="592531" cy="64008"/>
          </a:xfrm>
          <a:prstGeom prst="rect">
            <a:avLst/>
          </a:prstGeom>
          <a:solidFill>
            <a:srgbClr val="009343"/>
          </a:solidFill>
          <a:ln>
            <a:noFill/>
          </a:ln>
          <a:effectLst/>
        </p:spPr>
        <p:txBody>
          <a:bodyPr rtlCol="0" anchor="ctr"/>
          <a:lstStyle/>
          <a:p/>
        </p:txBody>
      </p:sp>
      <p:sp>
        <p:nvSpPr>
          <p:cNvPr id="3" name="Rectangle 2"/>
          <p:cNvSpPr/>
          <p:nvPr/>
        </p:nvSpPr>
        <p:spPr>
          <a:xfrm>
            <a:off x="1141171" y="347472"/>
            <a:ext cx="230428" cy="64008"/>
          </a:xfrm>
          <a:prstGeom prst="rect">
            <a:avLst/>
          </a:prstGeom>
          <a:solidFill>
            <a:srgbClr val="E2001A"/>
          </a:solidFill>
          <a:ln>
            <a:noFill/>
          </a:ln>
          <a:effectLst/>
        </p:spPr>
        <p:txBody>
          <a:bodyPr rtlCol="0" anchor="ctr"/>
          <a:lstStyle/>
          <a:p/>
        </p:txBody>
      </p:sp>
      <p:sp>
        <p:nvSpPr>
          <p:cNvPr id="4" name="TextBox 3"/>
          <p:cNvSpPr txBox="1"/>
          <p:nvPr/>
        </p:nvSpPr>
        <p:spPr>
          <a:xfrm>
            <a:off x="548640" y="502920"/>
            <a:ext cx="9144000" cy="274320"/>
          </a:xfrm>
          <a:prstGeom prst="rect">
            <a:avLst/>
          </a:prstGeom>
          <a:noFill/>
        </p:spPr>
        <p:txBody>
          <a:bodyPr wrap="square" lIns="0" rIns="0" tIns="0" bIns="0" anchor="t">
            <a:spAutoFit/>
          </a:bodyPr>
          <a:lstStyle/>
          <a:p>
            <a:pPr algn="l">
              <a:lnSpc>
                <a:spcPct val="100000"/>
              </a:lnSpc>
            </a:pPr>
            <a:r>
              <a:rPr sz="1200" b="1">
                <a:solidFill>
                  <a:srgbClr val="009343"/>
                </a:solidFill>
                <a:latin typeface="Arial"/>
              </a:rPr>
              <a:t>COMMERCIAL CONTROL</a:t>
            </a:r>
          </a:p>
        </p:txBody>
      </p:sp>
      <p:sp>
        <p:nvSpPr>
          <p:cNvPr id="5" name="TextBox 4"/>
          <p:cNvSpPr txBox="1"/>
          <p:nvPr/>
        </p:nvSpPr>
        <p:spPr>
          <a:xfrm>
            <a:off x="548640" y="777240"/>
            <a:ext cx="11064240" cy="914400"/>
          </a:xfrm>
          <a:prstGeom prst="rect">
            <a:avLst/>
          </a:prstGeom>
          <a:noFill/>
        </p:spPr>
        <p:txBody>
          <a:bodyPr wrap="square" lIns="0" rIns="0" tIns="0" bIns="0" anchor="t">
            <a:spAutoFit/>
          </a:bodyPr>
          <a:lstStyle/>
          <a:p>
            <a:pPr algn="l">
              <a:lnSpc>
                <a:spcPct val="95000"/>
              </a:lnSpc>
            </a:pPr>
            <a:r>
              <a:rPr sz="3000" b="1">
                <a:solidFill>
                  <a:srgbClr val="23272B"/>
                </a:solidFill>
                <a:latin typeface="Arial"/>
              </a:rPr>
              <a:t>Orders, prices, credit and cash in one controlled flow</a:t>
            </a:r>
          </a:p>
        </p:txBody>
      </p:sp>
      <p:pic>
        <p:nvPicPr>
          <p:cNvPr id="6" name="Picture 5" descr="order.png"/>
          <p:cNvPicPr>
            <a:picLocks noChangeAspect="1"/>
          </p:cNvPicPr>
          <p:nvPr/>
        </p:nvPicPr>
        <p:blipFill>
          <a:blip r:embed="rId2"/>
          <a:stretch>
            <a:fillRect/>
          </a:stretch>
        </p:blipFill>
        <p:spPr>
          <a:xfrm>
            <a:off x="502920" y="1600200"/>
            <a:ext cx="2228070" cy="4572000"/>
          </a:xfrm>
          <a:prstGeom prst="rect">
            <a:avLst/>
          </a:prstGeom>
        </p:spPr>
      </p:pic>
      <p:pic>
        <p:nvPicPr>
          <p:cNvPr id="7" name="Picture 6" descr="debt.png"/>
          <p:cNvPicPr>
            <a:picLocks noChangeAspect="1"/>
          </p:cNvPicPr>
          <p:nvPr/>
        </p:nvPicPr>
        <p:blipFill>
          <a:blip r:embed="rId3"/>
          <a:stretch>
            <a:fillRect/>
          </a:stretch>
        </p:blipFill>
        <p:spPr>
          <a:xfrm>
            <a:off x="2926080" y="1600200"/>
            <a:ext cx="2228070" cy="4572000"/>
          </a:xfrm>
          <a:prstGeom prst="rect">
            <a:avLst/>
          </a:prstGeom>
        </p:spPr>
      </p:pic>
      <p:sp>
        <p:nvSpPr>
          <p:cNvPr id="8" name="Oval 7"/>
          <p:cNvSpPr/>
          <p:nvPr/>
        </p:nvSpPr>
        <p:spPr>
          <a:xfrm>
            <a:off x="5806440" y="1783080"/>
            <a:ext cx="640080" cy="640080"/>
          </a:xfrm>
          <a:prstGeom prst="ellipse">
            <a:avLst/>
          </a:prstGeom>
          <a:solidFill>
            <a:srgbClr val="E6F4EC"/>
          </a:solidFill>
          <a:ln>
            <a:noFill/>
          </a:ln>
          <a:effectLst/>
        </p:spPr>
        <p:txBody>
          <a:bodyPr rtlCol="0" anchor="ctr"/>
          <a:lstStyle/>
          <a:p>
            <a:pPr algn="ctr"/>
          </a:p>
        </p:txBody>
      </p:sp>
      <p:pic>
        <p:nvPicPr>
          <p:cNvPr id="9" name="Picture 8" descr="cart_g.png"/>
          <p:cNvPicPr>
            <a:picLocks noChangeAspect="1"/>
          </p:cNvPicPr>
          <p:nvPr/>
        </p:nvPicPr>
        <p:blipFill>
          <a:blip r:embed="rId4"/>
          <a:stretch>
            <a:fillRect/>
          </a:stretch>
        </p:blipFill>
        <p:spPr>
          <a:xfrm>
            <a:off x="5947257" y="1923897"/>
            <a:ext cx="358444" cy="358444"/>
          </a:xfrm>
          <a:prstGeom prst="rect">
            <a:avLst/>
          </a:prstGeom>
        </p:spPr>
      </p:pic>
      <p:sp>
        <p:nvSpPr>
          <p:cNvPr id="10" name="TextBox 9"/>
          <p:cNvSpPr txBox="1"/>
          <p:nvPr/>
        </p:nvSpPr>
        <p:spPr>
          <a:xfrm>
            <a:off x="6675120" y="1783080"/>
            <a:ext cx="4937760" cy="320040"/>
          </a:xfrm>
          <a:prstGeom prst="rect">
            <a:avLst/>
          </a:prstGeom>
          <a:noFill/>
        </p:spPr>
        <p:txBody>
          <a:bodyPr wrap="square" lIns="0" rIns="0" tIns="0" bIns="0" anchor="t">
            <a:spAutoFit/>
          </a:bodyPr>
          <a:lstStyle/>
          <a:p>
            <a:pPr algn="l">
              <a:lnSpc>
                <a:spcPct val="100000"/>
              </a:lnSpc>
            </a:pPr>
            <a:r>
              <a:rPr sz="1700" b="1">
                <a:solidFill>
                  <a:srgbClr val="23272B"/>
                </a:solidFill>
                <a:latin typeface="Arial"/>
              </a:rPr>
              <a:t>Orders in a few taps</a:t>
            </a:r>
          </a:p>
        </p:txBody>
      </p:sp>
      <p:sp>
        <p:nvSpPr>
          <p:cNvPr id="11" name="TextBox 10"/>
          <p:cNvSpPr txBox="1"/>
          <p:nvPr/>
        </p:nvSpPr>
        <p:spPr>
          <a:xfrm>
            <a:off x="6675120" y="2112264"/>
            <a:ext cx="4937760" cy="365760"/>
          </a:xfrm>
          <a:prstGeom prst="rect">
            <a:avLst/>
          </a:prstGeom>
          <a:noFill/>
        </p:spPr>
        <p:txBody>
          <a:bodyPr wrap="square" lIns="0" rIns="0" tIns="0" bIns="0" anchor="t">
            <a:spAutoFit/>
          </a:bodyPr>
          <a:lstStyle/>
          <a:p>
            <a:pPr algn="l">
              <a:lnSpc>
                <a:spcPct val="100000"/>
              </a:lnSpc>
            </a:pPr>
            <a:r>
              <a:rPr sz="1300" b="0">
                <a:solidFill>
                  <a:srgbClr val="5F6670"/>
                </a:solidFill>
                <a:latin typeface="Arial"/>
              </a:rPr>
              <a:t>Usual basket and repeat order, even offline.</a:t>
            </a:r>
          </a:p>
        </p:txBody>
      </p:sp>
      <p:sp>
        <p:nvSpPr>
          <p:cNvPr id="12" name="Oval 11"/>
          <p:cNvSpPr/>
          <p:nvPr/>
        </p:nvSpPr>
        <p:spPr>
          <a:xfrm>
            <a:off x="5806440" y="2651760"/>
            <a:ext cx="640080" cy="640080"/>
          </a:xfrm>
          <a:prstGeom prst="ellipse">
            <a:avLst/>
          </a:prstGeom>
          <a:solidFill>
            <a:srgbClr val="E6F4EC"/>
          </a:solidFill>
          <a:ln>
            <a:noFill/>
          </a:ln>
          <a:effectLst/>
        </p:spPr>
        <p:txBody>
          <a:bodyPr rtlCol="0" anchor="ctr"/>
          <a:lstStyle/>
          <a:p>
            <a:pPr algn="ctr"/>
          </a:p>
        </p:txBody>
      </p:sp>
      <p:pic>
        <p:nvPicPr>
          <p:cNvPr id="13" name="Picture 12" descr="tag_g.png"/>
          <p:cNvPicPr>
            <a:picLocks noChangeAspect="1"/>
          </p:cNvPicPr>
          <p:nvPr/>
        </p:nvPicPr>
        <p:blipFill>
          <a:blip r:embed="rId5"/>
          <a:stretch>
            <a:fillRect/>
          </a:stretch>
        </p:blipFill>
        <p:spPr>
          <a:xfrm>
            <a:off x="5947257" y="2792577"/>
            <a:ext cx="358444" cy="358444"/>
          </a:xfrm>
          <a:prstGeom prst="rect">
            <a:avLst/>
          </a:prstGeom>
        </p:spPr>
      </p:pic>
      <p:sp>
        <p:nvSpPr>
          <p:cNvPr id="14" name="TextBox 13"/>
          <p:cNvSpPr txBox="1"/>
          <p:nvPr/>
        </p:nvSpPr>
        <p:spPr>
          <a:xfrm>
            <a:off x="6675120" y="2651760"/>
            <a:ext cx="4937760" cy="320040"/>
          </a:xfrm>
          <a:prstGeom prst="rect">
            <a:avLst/>
          </a:prstGeom>
          <a:noFill/>
        </p:spPr>
        <p:txBody>
          <a:bodyPr wrap="square" lIns="0" rIns="0" tIns="0" bIns="0" anchor="t">
            <a:spAutoFit/>
          </a:bodyPr>
          <a:lstStyle/>
          <a:p>
            <a:pPr algn="l">
              <a:lnSpc>
                <a:spcPct val="100000"/>
              </a:lnSpc>
            </a:pPr>
            <a:r>
              <a:rPr sz="1700" b="1">
                <a:solidFill>
                  <a:srgbClr val="23272B"/>
                </a:solidFill>
                <a:latin typeface="Arial"/>
              </a:rPr>
              <a:t>Central price lists</a:t>
            </a:r>
          </a:p>
        </p:txBody>
      </p:sp>
      <p:sp>
        <p:nvSpPr>
          <p:cNvPr id="15" name="TextBox 14"/>
          <p:cNvSpPr txBox="1"/>
          <p:nvPr/>
        </p:nvSpPr>
        <p:spPr>
          <a:xfrm>
            <a:off x="6675120" y="2980944"/>
            <a:ext cx="4937760" cy="365760"/>
          </a:xfrm>
          <a:prstGeom prst="rect">
            <a:avLst/>
          </a:prstGeom>
          <a:noFill/>
        </p:spPr>
        <p:txBody>
          <a:bodyPr wrap="square" lIns="0" rIns="0" tIns="0" bIns="0" anchor="t">
            <a:spAutoFit/>
          </a:bodyPr>
          <a:lstStyle/>
          <a:p>
            <a:pPr algn="l">
              <a:lnSpc>
                <a:spcPct val="100000"/>
              </a:lnSpc>
            </a:pPr>
            <a:r>
              <a:rPr sz="1300" b="0">
                <a:solidFill>
                  <a:srgbClr val="5F6670"/>
                </a:solidFill>
                <a:latin typeface="Arial"/>
              </a:rPr>
              <a:t>Bronze, Silver and Gold tiers; no typed prices.</a:t>
            </a:r>
          </a:p>
        </p:txBody>
      </p:sp>
      <p:sp>
        <p:nvSpPr>
          <p:cNvPr id="16" name="Oval 15"/>
          <p:cNvSpPr/>
          <p:nvPr/>
        </p:nvSpPr>
        <p:spPr>
          <a:xfrm>
            <a:off x="5806440" y="3520439"/>
            <a:ext cx="640080" cy="640080"/>
          </a:xfrm>
          <a:prstGeom prst="ellipse">
            <a:avLst/>
          </a:prstGeom>
          <a:solidFill>
            <a:srgbClr val="E6F4EC"/>
          </a:solidFill>
          <a:ln>
            <a:noFill/>
          </a:ln>
          <a:effectLst/>
        </p:spPr>
        <p:txBody>
          <a:bodyPr rtlCol="0" anchor="ctr"/>
          <a:lstStyle/>
          <a:p>
            <a:pPr algn="ctr"/>
          </a:p>
        </p:txBody>
      </p:sp>
      <p:pic>
        <p:nvPicPr>
          <p:cNvPr id="17" name="Picture 16" descr="checkCircle_g.png"/>
          <p:cNvPicPr>
            <a:picLocks noChangeAspect="1"/>
          </p:cNvPicPr>
          <p:nvPr/>
        </p:nvPicPr>
        <p:blipFill>
          <a:blip r:embed="rId6"/>
          <a:stretch>
            <a:fillRect/>
          </a:stretch>
        </p:blipFill>
        <p:spPr>
          <a:xfrm>
            <a:off x="5947257" y="3661257"/>
            <a:ext cx="358444" cy="358444"/>
          </a:xfrm>
          <a:prstGeom prst="rect">
            <a:avLst/>
          </a:prstGeom>
        </p:spPr>
      </p:pic>
      <p:sp>
        <p:nvSpPr>
          <p:cNvPr id="18" name="TextBox 17"/>
          <p:cNvSpPr txBox="1"/>
          <p:nvPr/>
        </p:nvSpPr>
        <p:spPr>
          <a:xfrm>
            <a:off x="6675120" y="3520439"/>
            <a:ext cx="4937760" cy="320040"/>
          </a:xfrm>
          <a:prstGeom prst="rect">
            <a:avLst/>
          </a:prstGeom>
          <a:noFill/>
        </p:spPr>
        <p:txBody>
          <a:bodyPr wrap="square" lIns="0" rIns="0" tIns="0" bIns="0" anchor="t">
            <a:spAutoFit/>
          </a:bodyPr>
          <a:lstStyle/>
          <a:p>
            <a:pPr algn="l">
              <a:lnSpc>
                <a:spcPct val="100000"/>
              </a:lnSpc>
            </a:pPr>
            <a:r>
              <a:rPr sz="1700" b="1">
                <a:solidFill>
                  <a:srgbClr val="23272B"/>
                </a:solidFill>
                <a:latin typeface="Arial"/>
              </a:rPr>
              <a:t>Discount control</a:t>
            </a:r>
          </a:p>
        </p:txBody>
      </p:sp>
      <p:sp>
        <p:nvSpPr>
          <p:cNvPr id="19" name="TextBox 18"/>
          <p:cNvSpPr txBox="1"/>
          <p:nvPr/>
        </p:nvSpPr>
        <p:spPr>
          <a:xfrm>
            <a:off x="6675120" y="3849624"/>
            <a:ext cx="4937760" cy="365760"/>
          </a:xfrm>
          <a:prstGeom prst="rect">
            <a:avLst/>
          </a:prstGeom>
          <a:noFill/>
        </p:spPr>
        <p:txBody>
          <a:bodyPr wrap="square" lIns="0" rIns="0" tIns="0" bIns="0" anchor="t">
            <a:spAutoFit/>
          </a:bodyPr>
          <a:lstStyle/>
          <a:p>
            <a:pPr algn="l">
              <a:lnSpc>
                <a:spcPct val="100000"/>
              </a:lnSpc>
            </a:pPr>
            <a:r>
              <a:rPr sz="1300" b="0">
                <a:solidFill>
                  <a:srgbClr val="5F6670"/>
                </a:solidFill>
                <a:latin typeface="Arial"/>
              </a:rPr>
              <a:t>Above 3% needs approval; below cost only the CEO.</a:t>
            </a:r>
          </a:p>
        </p:txBody>
      </p:sp>
      <p:sp>
        <p:nvSpPr>
          <p:cNvPr id="20" name="Oval 19"/>
          <p:cNvSpPr/>
          <p:nvPr/>
        </p:nvSpPr>
        <p:spPr>
          <a:xfrm>
            <a:off x="5806440" y="4389120"/>
            <a:ext cx="640080" cy="640080"/>
          </a:xfrm>
          <a:prstGeom prst="ellipse">
            <a:avLst/>
          </a:prstGeom>
          <a:solidFill>
            <a:srgbClr val="E6F4EC"/>
          </a:solidFill>
          <a:ln>
            <a:noFill/>
          </a:ln>
          <a:effectLst/>
        </p:spPr>
        <p:txBody>
          <a:bodyPr rtlCol="0" anchor="ctr"/>
          <a:lstStyle/>
          <a:p>
            <a:pPr algn="ctr"/>
          </a:p>
        </p:txBody>
      </p:sp>
      <p:pic>
        <p:nvPicPr>
          <p:cNvPr id="21" name="Picture 20" descr="wallet_g.png"/>
          <p:cNvPicPr>
            <a:picLocks noChangeAspect="1"/>
          </p:cNvPicPr>
          <p:nvPr/>
        </p:nvPicPr>
        <p:blipFill>
          <a:blip r:embed="rId7"/>
          <a:stretch>
            <a:fillRect/>
          </a:stretch>
        </p:blipFill>
        <p:spPr>
          <a:xfrm>
            <a:off x="5947257" y="4529937"/>
            <a:ext cx="358444" cy="358444"/>
          </a:xfrm>
          <a:prstGeom prst="rect">
            <a:avLst/>
          </a:prstGeom>
        </p:spPr>
      </p:pic>
      <p:sp>
        <p:nvSpPr>
          <p:cNvPr id="22" name="TextBox 21"/>
          <p:cNvSpPr txBox="1"/>
          <p:nvPr/>
        </p:nvSpPr>
        <p:spPr>
          <a:xfrm>
            <a:off x="6675120" y="4389120"/>
            <a:ext cx="4937760" cy="320040"/>
          </a:xfrm>
          <a:prstGeom prst="rect">
            <a:avLst/>
          </a:prstGeom>
          <a:noFill/>
        </p:spPr>
        <p:txBody>
          <a:bodyPr wrap="square" lIns="0" rIns="0" tIns="0" bIns="0" anchor="t">
            <a:spAutoFit/>
          </a:bodyPr>
          <a:lstStyle/>
          <a:p>
            <a:pPr algn="l">
              <a:lnSpc>
                <a:spcPct val="100000"/>
              </a:lnSpc>
            </a:pPr>
            <a:r>
              <a:rPr sz="1700" b="1">
                <a:solidFill>
                  <a:srgbClr val="23272B"/>
                </a:solidFill>
                <a:latin typeface="Arial"/>
              </a:rPr>
              <a:t>Credit and cash</a:t>
            </a:r>
          </a:p>
        </p:txBody>
      </p:sp>
      <p:sp>
        <p:nvSpPr>
          <p:cNvPr id="23" name="TextBox 22"/>
          <p:cNvSpPr txBox="1"/>
          <p:nvPr/>
        </p:nvSpPr>
        <p:spPr>
          <a:xfrm>
            <a:off x="6675120" y="4718304"/>
            <a:ext cx="4937760" cy="365760"/>
          </a:xfrm>
          <a:prstGeom prst="rect">
            <a:avLst/>
          </a:prstGeom>
          <a:noFill/>
        </p:spPr>
        <p:txBody>
          <a:bodyPr wrap="square" lIns="0" rIns="0" tIns="0" bIns="0" anchor="t">
            <a:spAutoFit/>
          </a:bodyPr>
          <a:lstStyle/>
          <a:p>
            <a:pPr algn="l">
              <a:lnSpc>
                <a:spcPct val="100000"/>
              </a:lnSpc>
            </a:pPr>
            <a:r>
              <a:rPr sz="1300" b="0">
                <a:solidFill>
                  <a:srgbClr val="5F6670"/>
                </a:solidFill>
                <a:latin typeface="Arial"/>
              </a:rPr>
              <a:t>Credit limits, overdue alerts, cash tracked to the accountant.</a:t>
            </a:r>
          </a:p>
        </p:txBody>
      </p:sp>
      <p:sp>
        <p:nvSpPr>
          <p:cNvPr id="24" name="Oval 23"/>
          <p:cNvSpPr/>
          <p:nvPr/>
        </p:nvSpPr>
        <p:spPr>
          <a:xfrm>
            <a:off x="5806440" y="5257800"/>
            <a:ext cx="640080" cy="640080"/>
          </a:xfrm>
          <a:prstGeom prst="ellipse">
            <a:avLst/>
          </a:prstGeom>
          <a:solidFill>
            <a:srgbClr val="E6F4EC"/>
          </a:solidFill>
          <a:ln>
            <a:noFill/>
          </a:ln>
          <a:effectLst/>
        </p:spPr>
        <p:txBody>
          <a:bodyPr rtlCol="0" anchor="ctr"/>
          <a:lstStyle/>
          <a:p>
            <a:pPr algn="ctr"/>
          </a:p>
        </p:txBody>
      </p:sp>
      <p:pic>
        <p:nvPicPr>
          <p:cNvPr id="25" name="Picture 24" descr="target_g.png"/>
          <p:cNvPicPr>
            <a:picLocks noChangeAspect="1"/>
          </p:cNvPicPr>
          <p:nvPr/>
        </p:nvPicPr>
        <p:blipFill>
          <a:blip r:embed="rId8"/>
          <a:stretch>
            <a:fillRect/>
          </a:stretch>
        </p:blipFill>
        <p:spPr>
          <a:xfrm>
            <a:off x="5947257" y="5398617"/>
            <a:ext cx="358444" cy="358444"/>
          </a:xfrm>
          <a:prstGeom prst="rect">
            <a:avLst/>
          </a:prstGeom>
        </p:spPr>
      </p:pic>
      <p:sp>
        <p:nvSpPr>
          <p:cNvPr id="26" name="TextBox 25"/>
          <p:cNvSpPr txBox="1"/>
          <p:nvPr/>
        </p:nvSpPr>
        <p:spPr>
          <a:xfrm>
            <a:off x="6675120" y="5257800"/>
            <a:ext cx="4937760" cy="320040"/>
          </a:xfrm>
          <a:prstGeom prst="rect">
            <a:avLst/>
          </a:prstGeom>
          <a:noFill/>
        </p:spPr>
        <p:txBody>
          <a:bodyPr wrap="square" lIns="0" rIns="0" tIns="0" bIns="0" anchor="t">
            <a:spAutoFit/>
          </a:bodyPr>
          <a:lstStyle/>
          <a:p>
            <a:pPr algn="l">
              <a:lnSpc>
                <a:spcPct val="100000"/>
              </a:lnSpc>
            </a:pPr>
            <a:r>
              <a:rPr sz="1700" b="1">
                <a:solidFill>
                  <a:srgbClr val="23272B"/>
                </a:solidFill>
                <a:latin typeface="Arial"/>
              </a:rPr>
              <a:t>Targets and bonuses</a:t>
            </a:r>
          </a:p>
        </p:txBody>
      </p:sp>
      <p:sp>
        <p:nvSpPr>
          <p:cNvPr id="27" name="TextBox 26"/>
          <p:cNvSpPr txBox="1"/>
          <p:nvPr/>
        </p:nvSpPr>
        <p:spPr>
          <a:xfrm>
            <a:off x="6675120" y="5586984"/>
            <a:ext cx="4937760" cy="365760"/>
          </a:xfrm>
          <a:prstGeom prst="rect">
            <a:avLst/>
          </a:prstGeom>
          <a:noFill/>
        </p:spPr>
        <p:txBody>
          <a:bodyPr wrap="square" lIns="0" rIns="0" tIns="0" bIns="0" anchor="t">
            <a:spAutoFit/>
          </a:bodyPr>
          <a:lstStyle/>
          <a:p>
            <a:pPr algn="l">
              <a:lnSpc>
                <a:spcPct val="100000"/>
              </a:lnSpc>
            </a:pPr>
            <a:r>
              <a:rPr sz="1300" b="0">
                <a:solidFill>
                  <a:srgbClr val="5F6670"/>
                </a:solidFill>
                <a:latin typeface="Arial"/>
              </a:rPr>
              <a:t>Rep targets and points for visits, orders and collections.</a:t>
            </a:r>
          </a:p>
        </p:txBody>
      </p:sp>
      <p:cxnSp>
        <p:nvCxnSpPr>
          <p:cNvPr id="28" name="Connector 27"/>
          <p:cNvCxnSpPr/>
          <p:nvPr/>
        </p:nvCxnSpPr>
        <p:spPr>
          <a:xfrm>
            <a:off x="548640" y="6400800"/>
            <a:ext cx="11094415" cy="0"/>
          </a:xfrm>
          <a:prstGeom prst="line">
            <a:avLst/>
          </a:prstGeom>
          <a:ln w="9525">
            <a:solidFill>
              <a:srgbClr val="D9DEDB"/>
            </a:solidFill>
          </a:ln>
        </p:spPr>
      </p:cxnSp>
      <p:pic>
        <p:nvPicPr>
          <p:cNvPr id="29" name="Picture 28" descr="kad-wordmark.png"/>
          <p:cNvPicPr>
            <a:picLocks noChangeAspect="1"/>
          </p:cNvPicPr>
          <p:nvPr/>
        </p:nvPicPr>
        <p:blipFill>
          <a:blip r:embed="rId9"/>
          <a:stretch>
            <a:fillRect/>
          </a:stretch>
        </p:blipFill>
        <p:spPr>
          <a:xfrm>
            <a:off x="548640" y="6519672"/>
            <a:ext cx="759129" cy="155448"/>
          </a:xfrm>
          <a:prstGeom prst="rect">
            <a:avLst/>
          </a:prstGeom>
        </p:spPr>
      </p:pic>
      <p:sp>
        <p:nvSpPr>
          <p:cNvPr id="30" name="TextBox 29"/>
          <p:cNvSpPr txBox="1"/>
          <p:nvPr/>
        </p:nvSpPr>
        <p:spPr>
          <a:xfrm>
            <a:off x="1417320" y="6492240"/>
            <a:ext cx="6400800" cy="228600"/>
          </a:xfrm>
          <a:prstGeom prst="rect">
            <a:avLst/>
          </a:prstGeom>
          <a:noFill/>
        </p:spPr>
        <p:txBody>
          <a:bodyPr wrap="square" lIns="0" rIns="0" tIns="0" bIns="0" anchor="t">
            <a:spAutoFit/>
          </a:bodyPr>
          <a:lstStyle/>
          <a:p>
            <a:pPr algn="l">
              <a:lnSpc>
                <a:spcPct val="100000"/>
              </a:lnSpc>
            </a:pPr>
            <a:r>
              <a:rPr sz="900" b="0">
                <a:solidFill>
                  <a:srgbClr val="5F6670"/>
                </a:solidFill>
                <a:latin typeface="Arial"/>
              </a:rPr>
              <a:t>Digital Sales Platform for Castrol Distribution</a:t>
            </a:r>
          </a:p>
        </p:txBody>
      </p:sp>
      <p:sp>
        <p:nvSpPr>
          <p:cNvPr id="31" name="TextBox 30"/>
          <p:cNvSpPr txBox="1"/>
          <p:nvPr/>
        </p:nvSpPr>
        <p:spPr>
          <a:xfrm>
            <a:off x="10728655" y="6492240"/>
            <a:ext cx="914400" cy="228600"/>
          </a:xfrm>
          <a:prstGeom prst="rect">
            <a:avLst/>
          </a:prstGeom>
          <a:noFill/>
        </p:spPr>
        <p:txBody>
          <a:bodyPr wrap="square" lIns="0" rIns="0" tIns="0" bIns="0" anchor="t">
            <a:spAutoFit/>
          </a:bodyPr>
          <a:lstStyle/>
          <a:p>
            <a:pPr algn="r">
              <a:lnSpc>
                <a:spcPct val="100000"/>
              </a:lnSpc>
            </a:pPr>
            <a:r>
              <a:rPr sz="900" b="0">
                <a:solidFill>
                  <a:srgbClr val="5F6670"/>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347472"/>
            <a:ext cx="592531" cy="64008"/>
          </a:xfrm>
          <a:prstGeom prst="rect">
            <a:avLst/>
          </a:prstGeom>
          <a:solidFill>
            <a:srgbClr val="009343"/>
          </a:solidFill>
          <a:ln>
            <a:noFill/>
          </a:ln>
          <a:effectLst/>
        </p:spPr>
        <p:txBody>
          <a:bodyPr rtlCol="0" anchor="ctr"/>
          <a:lstStyle/>
          <a:p/>
        </p:txBody>
      </p:sp>
      <p:sp>
        <p:nvSpPr>
          <p:cNvPr id="3" name="Rectangle 2"/>
          <p:cNvSpPr/>
          <p:nvPr/>
        </p:nvSpPr>
        <p:spPr>
          <a:xfrm>
            <a:off x="1141171" y="347472"/>
            <a:ext cx="230428" cy="64008"/>
          </a:xfrm>
          <a:prstGeom prst="rect">
            <a:avLst/>
          </a:prstGeom>
          <a:solidFill>
            <a:srgbClr val="E2001A"/>
          </a:solidFill>
          <a:ln>
            <a:noFill/>
          </a:ln>
          <a:effectLst/>
        </p:spPr>
        <p:txBody>
          <a:bodyPr rtlCol="0" anchor="ctr"/>
          <a:lstStyle/>
          <a:p/>
        </p:txBody>
      </p:sp>
      <p:sp>
        <p:nvSpPr>
          <p:cNvPr id="4" name="TextBox 3"/>
          <p:cNvSpPr txBox="1"/>
          <p:nvPr/>
        </p:nvSpPr>
        <p:spPr>
          <a:xfrm>
            <a:off x="548640" y="502920"/>
            <a:ext cx="9144000" cy="274320"/>
          </a:xfrm>
          <a:prstGeom prst="rect">
            <a:avLst/>
          </a:prstGeom>
          <a:noFill/>
        </p:spPr>
        <p:txBody>
          <a:bodyPr wrap="square" lIns="0" rIns="0" tIns="0" bIns="0" anchor="t">
            <a:spAutoFit/>
          </a:bodyPr>
          <a:lstStyle/>
          <a:p>
            <a:pPr algn="l">
              <a:lnSpc>
                <a:spcPct val="100000"/>
              </a:lnSpc>
            </a:pPr>
            <a:r>
              <a:rPr sz="1200" b="1">
                <a:solidFill>
                  <a:srgbClr val="009343"/>
                </a:solidFill>
                <a:latin typeface="Arial"/>
              </a:rPr>
              <a:t>VAGHINAK, AI DEPUTY DIRECTOR</a:t>
            </a:r>
          </a:p>
        </p:txBody>
      </p:sp>
      <p:sp>
        <p:nvSpPr>
          <p:cNvPr id="5" name="TextBox 4"/>
          <p:cNvSpPr txBox="1"/>
          <p:nvPr/>
        </p:nvSpPr>
        <p:spPr>
          <a:xfrm>
            <a:off x="548640" y="777240"/>
            <a:ext cx="11064240" cy="914400"/>
          </a:xfrm>
          <a:prstGeom prst="rect">
            <a:avLst/>
          </a:prstGeom>
          <a:noFill/>
        </p:spPr>
        <p:txBody>
          <a:bodyPr wrap="square" lIns="0" rIns="0" tIns="0" bIns="0" anchor="t">
            <a:spAutoFit/>
          </a:bodyPr>
          <a:lstStyle/>
          <a:p>
            <a:pPr algn="l">
              <a:lnSpc>
                <a:spcPct val="95000"/>
              </a:lnSpc>
            </a:pPr>
            <a:r>
              <a:rPr sz="3000" b="1">
                <a:solidFill>
                  <a:srgbClr val="23272B"/>
                </a:solidFill>
                <a:latin typeface="Arial"/>
              </a:rPr>
              <a:t>Vaghinak controls the working day of every person</a:t>
            </a:r>
          </a:p>
        </p:txBody>
      </p:sp>
      <p:pic>
        <p:nvPicPr>
          <p:cNvPr id="6" name="Picture 5" descr="vaghinak.png"/>
          <p:cNvPicPr>
            <a:picLocks noChangeAspect="1"/>
          </p:cNvPicPr>
          <p:nvPr/>
        </p:nvPicPr>
        <p:blipFill>
          <a:blip r:embed="rId2"/>
          <a:stretch>
            <a:fillRect/>
          </a:stretch>
        </p:blipFill>
        <p:spPr>
          <a:xfrm>
            <a:off x="502920" y="1600200"/>
            <a:ext cx="2228070" cy="4572000"/>
          </a:xfrm>
          <a:prstGeom prst="rect">
            <a:avLst/>
          </a:prstGeom>
        </p:spPr>
      </p:pic>
      <p:pic>
        <p:nvPicPr>
          <p:cNvPr id="7" name="Picture 6" descr="vaghinak_rep.png"/>
          <p:cNvPicPr>
            <a:picLocks noChangeAspect="1"/>
          </p:cNvPicPr>
          <p:nvPr/>
        </p:nvPicPr>
        <p:blipFill>
          <a:blip r:embed="rId3"/>
          <a:stretch>
            <a:fillRect/>
          </a:stretch>
        </p:blipFill>
        <p:spPr>
          <a:xfrm>
            <a:off x="2926080" y="1600200"/>
            <a:ext cx="2228070" cy="4572000"/>
          </a:xfrm>
          <a:prstGeom prst="rect">
            <a:avLst/>
          </a:prstGeom>
        </p:spPr>
      </p:pic>
      <p:sp>
        <p:nvSpPr>
          <p:cNvPr id="8" name="Rounded Rectangle 7"/>
          <p:cNvSpPr/>
          <p:nvPr/>
        </p:nvSpPr>
        <p:spPr>
          <a:xfrm>
            <a:off x="5760720" y="1691640"/>
            <a:ext cx="2852928" cy="786384"/>
          </a:xfrm>
          <a:prstGeom prst="roundRect">
            <a:avLst>
              <a:gd name="adj" fmla="val 11627"/>
            </a:avLst>
          </a:prstGeom>
          <a:solidFill>
            <a:srgbClr val="F4F5F6"/>
          </a:solidFill>
          <a:ln>
            <a:noFill/>
          </a:ln>
          <a:effectLst/>
        </p:spPr>
        <p:txBody>
          <a:bodyPr rtlCol="0" anchor="ctr"/>
          <a:lstStyle/>
          <a:p/>
        </p:txBody>
      </p:sp>
      <p:sp>
        <p:nvSpPr>
          <p:cNvPr id="9" name="Oval 8"/>
          <p:cNvSpPr/>
          <p:nvPr/>
        </p:nvSpPr>
        <p:spPr>
          <a:xfrm>
            <a:off x="5852159" y="1828800"/>
            <a:ext cx="512064" cy="512064"/>
          </a:xfrm>
          <a:prstGeom prst="ellipse">
            <a:avLst/>
          </a:prstGeom>
          <a:solidFill>
            <a:srgbClr val="E6F4EC"/>
          </a:solidFill>
          <a:ln>
            <a:noFill/>
          </a:ln>
          <a:effectLst/>
        </p:spPr>
        <p:txBody>
          <a:bodyPr rtlCol="0" anchor="ctr"/>
          <a:lstStyle/>
          <a:p>
            <a:pPr algn="ctr"/>
          </a:p>
        </p:txBody>
      </p:sp>
      <p:pic>
        <p:nvPicPr>
          <p:cNvPr id="10" name="Picture 9" descr="clock_g.png"/>
          <p:cNvPicPr>
            <a:picLocks noChangeAspect="1"/>
          </p:cNvPicPr>
          <p:nvPr/>
        </p:nvPicPr>
        <p:blipFill>
          <a:blip r:embed="rId4"/>
          <a:stretch>
            <a:fillRect/>
          </a:stretch>
        </p:blipFill>
        <p:spPr>
          <a:xfrm>
            <a:off x="5964814" y="1941454"/>
            <a:ext cx="286755" cy="286755"/>
          </a:xfrm>
          <a:prstGeom prst="rect">
            <a:avLst/>
          </a:prstGeom>
        </p:spPr>
      </p:pic>
      <p:sp>
        <p:nvSpPr>
          <p:cNvPr id="11" name="TextBox 10"/>
          <p:cNvSpPr txBox="1"/>
          <p:nvPr/>
        </p:nvSpPr>
        <p:spPr>
          <a:xfrm>
            <a:off x="6473952" y="1783080"/>
            <a:ext cx="2103120" cy="274320"/>
          </a:xfrm>
          <a:prstGeom prst="rect">
            <a:avLst/>
          </a:prstGeom>
          <a:noFill/>
        </p:spPr>
        <p:txBody>
          <a:bodyPr wrap="square" lIns="0" rIns="0" tIns="0" bIns="0" anchor="t">
            <a:spAutoFit/>
          </a:bodyPr>
          <a:lstStyle/>
          <a:p>
            <a:pPr algn="l">
              <a:lnSpc>
                <a:spcPct val="100000"/>
              </a:lnSpc>
            </a:pPr>
            <a:r>
              <a:rPr sz="1300" b="1">
                <a:solidFill>
                  <a:srgbClr val="23272B"/>
                </a:solidFill>
                <a:latin typeface="Arial"/>
              </a:rPr>
              <a:t>Arrival &amp; lateness</a:t>
            </a:r>
          </a:p>
        </p:txBody>
      </p:sp>
      <p:sp>
        <p:nvSpPr>
          <p:cNvPr id="12" name="TextBox 11"/>
          <p:cNvSpPr txBox="1"/>
          <p:nvPr/>
        </p:nvSpPr>
        <p:spPr>
          <a:xfrm>
            <a:off x="6473952" y="2075688"/>
            <a:ext cx="2103120" cy="384048"/>
          </a:xfrm>
          <a:prstGeom prst="rect">
            <a:avLst/>
          </a:prstGeom>
          <a:noFill/>
        </p:spPr>
        <p:txBody>
          <a:bodyPr wrap="square" lIns="0" rIns="0" tIns="0" bIns="0" anchor="t">
            <a:spAutoFit/>
          </a:bodyPr>
          <a:lstStyle/>
          <a:p>
            <a:pPr algn="l">
              <a:lnSpc>
                <a:spcPct val="100000"/>
              </a:lnSpc>
            </a:pPr>
            <a:r>
              <a:rPr sz="1050" b="0">
                <a:solidFill>
                  <a:srgbClr val="5F6670"/>
                </a:solidFill>
                <a:latin typeface="Arial"/>
              </a:rPr>
              <a:t>Logs every start; reports the week</a:t>
            </a:r>
          </a:p>
        </p:txBody>
      </p:sp>
      <p:sp>
        <p:nvSpPr>
          <p:cNvPr id="13" name="Rounded Rectangle 12"/>
          <p:cNvSpPr/>
          <p:nvPr/>
        </p:nvSpPr>
        <p:spPr>
          <a:xfrm>
            <a:off x="8732520" y="1691640"/>
            <a:ext cx="2852928" cy="786384"/>
          </a:xfrm>
          <a:prstGeom prst="roundRect">
            <a:avLst>
              <a:gd name="adj" fmla="val 11627"/>
            </a:avLst>
          </a:prstGeom>
          <a:solidFill>
            <a:srgbClr val="F4F5F6"/>
          </a:solidFill>
          <a:ln>
            <a:noFill/>
          </a:ln>
          <a:effectLst/>
        </p:spPr>
        <p:txBody>
          <a:bodyPr rtlCol="0" anchor="ctr"/>
          <a:lstStyle/>
          <a:p/>
        </p:txBody>
      </p:sp>
      <p:sp>
        <p:nvSpPr>
          <p:cNvPr id="14" name="Oval 13"/>
          <p:cNvSpPr/>
          <p:nvPr/>
        </p:nvSpPr>
        <p:spPr>
          <a:xfrm>
            <a:off x="8823960" y="1828800"/>
            <a:ext cx="512064" cy="512064"/>
          </a:xfrm>
          <a:prstGeom prst="ellipse">
            <a:avLst/>
          </a:prstGeom>
          <a:solidFill>
            <a:srgbClr val="E6F4EC"/>
          </a:solidFill>
          <a:ln>
            <a:noFill/>
          </a:ln>
          <a:effectLst/>
        </p:spPr>
        <p:txBody>
          <a:bodyPr rtlCol="0" anchor="ctr"/>
          <a:lstStyle/>
          <a:p>
            <a:pPr algn="ctr"/>
          </a:p>
        </p:txBody>
      </p:sp>
      <p:pic>
        <p:nvPicPr>
          <p:cNvPr id="15" name="Picture 14" descr="mapWarning_g.png"/>
          <p:cNvPicPr>
            <a:picLocks noChangeAspect="1"/>
          </p:cNvPicPr>
          <p:nvPr/>
        </p:nvPicPr>
        <p:blipFill>
          <a:blip r:embed="rId5"/>
          <a:stretch>
            <a:fillRect/>
          </a:stretch>
        </p:blipFill>
        <p:spPr>
          <a:xfrm>
            <a:off x="8936614" y="1941454"/>
            <a:ext cx="286755" cy="286755"/>
          </a:xfrm>
          <a:prstGeom prst="rect">
            <a:avLst/>
          </a:prstGeom>
        </p:spPr>
      </p:pic>
      <p:sp>
        <p:nvSpPr>
          <p:cNvPr id="16" name="TextBox 15"/>
          <p:cNvSpPr txBox="1"/>
          <p:nvPr/>
        </p:nvSpPr>
        <p:spPr>
          <a:xfrm>
            <a:off x="9445752" y="1783080"/>
            <a:ext cx="2103120" cy="274320"/>
          </a:xfrm>
          <a:prstGeom prst="rect">
            <a:avLst/>
          </a:prstGeom>
          <a:noFill/>
        </p:spPr>
        <p:txBody>
          <a:bodyPr wrap="square" lIns="0" rIns="0" tIns="0" bIns="0" anchor="t">
            <a:spAutoFit/>
          </a:bodyPr>
          <a:lstStyle/>
          <a:p>
            <a:pPr algn="l">
              <a:lnSpc>
                <a:spcPct val="100000"/>
              </a:lnSpc>
            </a:pPr>
            <a:r>
              <a:rPr sz="1300" b="1">
                <a:solidFill>
                  <a:srgbClr val="23272B"/>
                </a:solidFill>
                <a:latin typeface="Arial"/>
              </a:rPr>
              <a:t>No visit yet</a:t>
            </a:r>
          </a:p>
        </p:txBody>
      </p:sp>
      <p:sp>
        <p:nvSpPr>
          <p:cNvPr id="17" name="TextBox 16"/>
          <p:cNvSpPr txBox="1"/>
          <p:nvPr/>
        </p:nvSpPr>
        <p:spPr>
          <a:xfrm>
            <a:off x="9445752" y="2075688"/>
            <a:ext cx="2103120" cy="384048"/>
          </a:xfrm>
          <a:prstGeom prst="rect">
            <a:avLst/>
          </a:prstGeom>
          <a:noFill/>
        </p:spPr>
        <p:txBody>
          <a:bodyPr wrap="square" lIns="0" rIns="0" tIns="0" bIns="0" anchor="t">
            <a:spAutoFit/>
          </a:bodyPr>
          <a:lstStyle/>
          <a:p>
            <a:pPr algn="l">
              <a:lnSpc>
                <a:spcPct val="100000"/>
              </a:lnSpc>
            </a:pPr>
            <a:r>
              <a:rPr sz="1050" b="0">
                <a:solidFill>
                  <a:srgbClr val="5F6670"/>
                </a:solidFill>
                <a:latin typeface="Arial"/>
              </a:rPr>
              <a:t>Asks why at 60 min; must answer at 2 h</a:t>
            </a:r>
          </a:p>
        </p:txBody>
      </p:sp>
      <p:sp>
        <p:nvSpPr>
          <p:cNvPr id="18" name="Rounded Rectangle 17"/>
          <p:cNvSpPr/>
          <p:nvPr/>
        </p:nvSpPr>
        <p:spPr>
          <a:xfrm>
            <a:off x="5760720" y="2578608"/>
            <a:ext cx="2852928" cy="786384"/>
          </a:xfrm>
          <a:prstGeom prst="roundRect">
            <a:avLst>
              <a:gd name="adj" fmla="val 11627"/>
            </a:avLst>
          </a:prstGeom>
          <a:solidFill>
            <a:srgbClr val="F4F5F6"/>
          </a:solidFill>
          <a:ln>
            <a:noFill/>
          </a:ln>
          <a:effectLst/>
        </p:spPr>
        <p:txBody>
          <a:bodyPr rtlCol="0" anchor="ctr"/>
          <a:lstStyle/>
          <a:p/>
        </p:txBody>
      </p:sp>
      <p:sp>
        <p:nvSpPr>
          <p:cNvPr id="19" name="Oval 18"/>
          <p:cNvSpPr/>
          <p:nvPr/>
        </p:nvSpPr>
        <p:spPr>
          <a:xfrm>
            <a:off x="5852159" y="2715768"/>
            <a:ext cx="512064" cy="512064"/>
          </a:xfrm>
          <a:prstGeom prst="ellipse">
            <a:avLst/>
          </a:prstGeom>
          <a:solidFill>
            <a:srgbClr val="E6F4EC"/>
          </a:solidFill>
          <a:ln>
            <a:noFill/>
          </a:ln>
          <a:effectLst/>
        </p:spPr>
        <p:txBody>
          <a:bodyPr rtlCol="0" anchor="ctr"/>
          <a:lstStyle/>
          <a:p>
            <a:pPr algn="ctr"/>
          </a:p>
        </p:txBody>
      </p:sp>
      <p:pic>
        <p:nvPicPr>
          <p:cNvPr id="20" name="Picture 19" descr="store_g.png"/>
          <p:cNvPicPr>
            <a:picLocks noChangeAspect="1"/>
          </p:cNvPicPr>
          <p:nvPr/>
        </p:nvPicPr>
        <p:blipFill>
          <a:blip r:embed="rId6"/>
          <a:stretch>
            <a:fillRect/>
          </a:stretch>
        </p:blipFill>
        <p:spPr>
          <a:xfrm>
            <a:off x="5964814" y="2828422"/>
            <a:ext cx="286755" cy="286755"/>
          </a:xfrm>
          <a:prstGeom prst="rect">
            <a:avLst/>
          </a:prstGeom>
        </p:spPr>
      </p:pic>
      <p:sp>
        <p:nvSpPr>
          <p:cNvPr id="21" name="TextBox 20"/>
          <p:cNvSpPr txBox="1"/>
          <p:nvPr/>
        </p:nvSpPr>
        <p:spPr>
          <a:xfrm>
            <a:off x="6473952" y="2670048"/>
            <a:ext cx="2103120" cy="274320"/>
          </a:xfrm>
          <a:prstGeom prst="rect">
            <a:avLst/>
          </a:prstGeom>
          <a:noFill/>
        </p:spPr>
        <p:txBody>
          <a:bodyPr wrap="square" lIns="0" rIns="0" tIns="0" bIns="0" anchor="t">
            <a:spAutoFit/>
          </a:bodyPr>
          <a:lstStyle/>
          <a:p>
            <a:pPr algn="l">
              <a:lnSpc>
                <a:spcPct val="100000"/>
              </a:lnSpc>
            </a:pPr>
            <a:r>
              <a:rPr sz="1300" b="1">
                <a:solidFill>
                  <a:srgbClr val="23272B"/>
                </a:solidFill>
                <a:latin typeface="Arial"/>
              </a:rPr>
              <a:t>Too long in the office</a:t>
            </a:r>
          </a:p>
        </p:txBody>
      </p:sp>
      <p:sp>
        <p:nvSpPr>
          <p:cNvPr id="22" name="TextBox 21"/>
          <p:cNvSpPr txBox="1"/>
          <p:nvPr/>
        </p:nvSpPr>
        <p:spPr>
          <a:xfrm>
            <a:off x="6473952" y="2962656"/>
            <a:ext cx="2103120" cy="384048"/>
          </a:xfrm>
          <a:prstGeom prst="rect">
            <a:avLst/>
          </a:prstGeom>
          <a:noFill/>
        </p:spPr>
        <p:txBody>
          <a:bodyPr wrap="square" lIns="0" rIns="0" tIns="0" bIns="0" anchor="t">
            <a:spAutoFit/>
          </a:bodyPr>
          <a:lstStyle/>
          <a:p>
            <a:pPr algn="l">
              <a:lnSpc>
                <a:spcPct val="100000"/>
              </a:lnSpc>
            </a:pPr>
            <a:r>
              <a:rPr sz="1050" b="0">
                <a:solidFill>
                  <a:srgbClr val="5F6670"/>
                </a:solidFill>
                <a:latin typeface="Arial"/>
              </a:rPr>
              <a:t>Reminder, then a must-answer question</a:t>
            </a:r>
          </a:p>
        </p:txBody>
      </p:sp>
      <p:sp>
        <p:nvSpPr>
          <p:cNvPr id="23" name="Rounded Rectangle 22"/>
          <p:cNvSpPr/>
          <p:nvPr/>
        </p:nvSpPr>
        <p:spPr>
          <a:xfrm>
            <a:off x="8732520" y="2578608"/>
            <a:ext cx="2852928" cy="786384"/>
          </a:xfrm>
          <a:prstGeom prst="roundRect">
            <a:avLst>
              <a:gd name="adj" fmla="val 11627"/>
            </a:avLst>
          </a:prstGeom>
          <a:solidFill>
            <a:srgbClr val="F4F5F6"/>
          </a:solidFill>
          <a:ln>
            <a:noFill/>
          </a:ln>
          <a:effectLst/>
        </p:spPr>
        <p:txBody>
          <a:bodyPr rtlCol="0" anchor="ctr"/>
          <a:lstStyle/>
          <a:p/>
        </p:txBody>
      </p:sp>
      <p:sp>
        <p:nvSpPr>
          <p:cNvPr id="24" name="Oval 23"/>
          <p:cNvSpPr/>
          <p:nvPr/>
        </p:nvSpPr>
        <p:spPr>
          <a:xfrm>
            <a:off x="8823960" y="2715768"/>
            <a:ext cx="512064" cy="512064"/>
          </a:xfrm>
          <a:prstGeom prst="ellipse">
            <a:avLst/>
          </a:prstGeom>
          <a:solidFill>
            <a:srgbClr val="E6F4EC"/>
          </a:solidFill>
          <a:ln>
            <a:noFill/>
          </a:ln>
          <a:effectLst/>
        </p:spPr>
        <p:txBody>
          <a:bodyPr rtlCol="0" anchor="ctr"/>
          <a:lstStyle/>
          <a:p>
            <a:pPr algn="ctr"/>
          </a:p>
        </p:txBody>
      </p:sp>
      <p:pic>
        <p:nvPicPr>
          <p:cNvPr id="25" name="Picture 24" descr="route_g.png"/>
          <p:cNvPicPr>
            <a:picLocks noChangeAspect="1"/>
          </p:cNvPicPr>
          <p:nvPr/>
        </p:nvPicPr>
        <p:blipFill>
          <a:blip r:embed="rId7"/>
          <a:stretch>
            <a:fillRect/>
          </a:stretch>
        </p:blipFill>
        <p:spPr>
          <a:xfrm>
            <a:off x="8936614" y="2828422"/>
            <a:ext cx="286755" cy="286755"/>
          </a:xfrm>
          <a:prstGeom prst="rect">
            <a:avLst/>
          </a:prstGeom>
        </p:spPr>
      </p:pic>
      <p:sp>
        <p:nvSpPr>
          <p:cNvPr id="26" name="TextBox 25"/>
          <p:cNvSpPr txBox="1"/>
          <p:nvPr/>
        </p:nvSpPr>
        <p:spPr>
          <a:xfrm>
            <a:off x="9445752" y="2670048"/>
            <a:ext cx="2103120" cy="274320"/>
          </a:xfrm>
          <a:prstGeom prst="rect">
            <a:avLst/>
          </a:prstGeom>
          <a:noFill/>
        </p:spPr>
        <p:txBody>
          <a:bodyPr wrap="square" lIns="0" rIns="0" tIns="0" bIns="0" anchor="t">
            <a:spAutoFit/>
          </a:bodyPr>
          <a:lstStyle/>
          <a:p>
            <a:pPr algn="l">
              <a:lnSpc>
                <a:spcPct val="100000"/>
              </a:lnSpc>
            </a:pPr>
            <a:r>
              <a:rPr sz="1300" b="1">
                <a:solidFill>
                  <a:srgbClr val="23272B"/>
                </a:solidFill>
                <a:latin typeface="Arial"/>
              </a:rPr>
              <a:t>Stopped mid-day</a:t>
            </a:r>
          </a:p>
        </p:txBody>
      </p:sp>
      <p:sp>
        <p:nvSpPr>
          <p:cNvPr id="27" name="TextBox 26"/>
          <p:cNvSpPr txBox="1"/>
          <p:nvPr/>
        </p:nvSpPr>
        <p:spPr>
          <a:xfrm>
            <a:off x="9445752" y="2962656"/>
            <a:ext cx="2103120" cy="384048"/>
          </a:xfrm>
          <a:prstGeom prst="rect">
            <a:avLst/>
          </a:prstGeom>
          <a:noFill/>
        </p:spPr>
        <p:txBody>
          <a:bodyPr wrap="square" lIns="0" rIns="0" tIns="0" bIns="0" anchor="t">
            <a:spAutoFit/>
          </a:bodyPr>
          <a:lstStyle/>
          <a:p>
            <a:pPr algn="l">
              <a:lnSpc>
                <a:spcPct val="100000"/>
              </a:lnSpc>
            </a:pPr>
            <a:r>
              <a:rPr sz="1050" b="0">
                <a:solidFill>
                  <a:srgbClr val="5F6670"/>
                </a:solidFill>
                <a:latin typeface="Arial"/>
              </a:rPr>
              <a:t>Visits left? Asks why, keeps the plan</a:t>
            </a:r>
          </a:p>
        </p:txBody>
      </p:sp>
      <p:sp>
        <p:nvSpPr>
          <p:cNvPr id="28" name="Rounded Rectangle 27"/>
          <p:cNvSpPr/>
          <p:nvPr/>
        </p:nvSpPr>
        <p:spPr>
          <a:xfrm>
            <a:off x="5760720" y="3465576"/>
            <a:ext cx="2852928" cy="786384"/>
          </a:xfrm>
          <a:prstGeom prst="roundRect">
            <a:avLst>
              <a:gd name="adj" fmla="val 11627"/>
            </a:avLst>
          </a:prstGeom>
          <a:solidFill>
            <a:srgbClr val="F4F5F6"/>
          </a:solidFill>
          <a:ln>
            <a:noFill/>
          </a:ln>
          <a:effectLst/>
        </p:spPr>
        <p:txBody>
          <a:bodyPr rtlCol="0" anchor="ctr"/>
          <a:lstStyle/>
          <a:p/>
        </p:txBody>
      </p:sp>
      <p:sp>
        <p:nvSpPr>
          <p:cNvPr id="29" name="Oval 28"/>
          <p:cNvSpPr/>
          <p:nvPr/>
        </p:nvSpPr>
        <p:spPr>
          <a:xfrm>
            <a:off x="5852159" y="3602736"/>
            <a:ext cx="512064" cy="512064"/>
          </a:xfrm>
          <a:prstGeom prst="ellipse">
            <a:avLst/>
          </a:prstGeom>
          <a:solidFill>
            <a:srgbClr val="E6F4EC"/>
          </a:solidFill>
          <a:ln>
            <a:noFill/>
          </a:ln>
          <a:effectLst/>
        </p:spPr>
        <p:txBody>
          <a:bodyPr rtlCol="0" anchor="ctr"/>
          <a:lstStyle/>
          <a:p>
            <a:pPr algn="ctr"/>
          </a:p>
        </p:txBody>
      </p:sp>
      <p:pic>
        <p:nvPicPr>
          <p:cNvPr id="30" name="Picture 29" descr="mapPinCheck_g.png"/>
          <p:cNvPicPr>
            <a:picLocks noChangeAspect="1"/>
          </p:cNvPicPr>
          <p:nvPr/>
        </p:nvPicPr>
        <p:blipFill>
          <a:blip r:embed="rId8"/>
          <a:stretch>
            <a:fillRect/>
          </a:stretch>
        </p:blipFill>
        <p:spPr>
          <a:xfrm>
            <a:off x="5964814" y="3715390"/>
            <a:ext cx="286755" cy="286755"/>
          </a:xfrm>
          <a:prstGeom prst="rect">
            <a:avLst/>
          </a:prstGeom>
        </p:spPr>
      </p:pic>
      <p:sp>
        <p:nvSpPr>
          <p:cNvPr id="31" name="TextBox 30"/>
          <p:cNvSpPr txBox="1"/>
          <p:nvPr/>
        </p:nvSpPr>
        <p:spPr>
          <a:xfrm>
            <a:off x="6473952" y="3557016"/>
            <a:ext cx="2103120" cy="274320"/>
          </a:xfrm>
          <a:prstGeom prst="rect">
            <a:avLst/>
          </a:prstGeom>
          <a:noFill/>
        </p:spPr>
        <p:txBody>
          <a:bodyPr wrap="square" lIns="0" rIns="0" tIns="0" bIns="0" anchor="t">
            <a:spAutoFit/>
          </a:bodyPr>
          <a:lstStyle/>
          <a:p>
            <a:pPr algn="l">
              <a:lnSpc>
                <a:spcPct val="100000"/>
              </a:lnSpc>
            </a:pPr>
            <a:r>
              <a:rPr sz="1300" b="1">
                <a:solidFill>
                  <a:srgbClr val="23272B"/>
                </a:solidFill>
                <a:latin typeface="Arial"/>
              </a:rPr>
              <a:t>Skipped nearby shops</a:t>
            </a:r>
          </a:p>
        </p:txBody>
      </p:sp>
      <p:sp>
        <p:nvSpPr>
          <p:cNvPr id="32" name="TextBox 31"/>
          <p:cNvSpPr txBox="1"/>
          <p:nvPr/>
        </p:nvSpPr>
        <p:spPr>
          <a:xfrm>
            <a:off x="6473952" y="3849624"/>
            <a:ext cx="2103120" cy="384048"/>
          </a:xfrm>
          <a:prstGeom prst="rect">
            <a:avLst/>
          </a:prstGeom>
          <a:noFill/>
        </p:spPr>
        <p:txBody>
          <a:bodyPr wrap="square" lIns="0" rIns="0" tIns="0" bIns="0" anchor="t">
            <a:spAutoFit/>
          </a:bodyPr>
          <a:lstStyle/>
          <a:p>
            <a:pPr algn="l">
              <a:lnSpc>
                <a:spcPct val="100000"/>
              </a:lnSpc>
            </a:pPr>
            <a:r>
              <a:rPr sz="1050" b="0">
                <a:solidFill>
                  <a:srgbClr val="5F6670"/>
                </a:solidFill>
                <a:latin typeface="Arial"/>
              </a:rPr>
              <a:t>Planned shop close by? Sends the rep back</a:t>
            </a:r>
          </a:p>
        </p:txBody>
      </p:sp>
      <p:sp>
        <p:nvSpPr>
          <p:cNvPr id="33" name="Rounded Rectangle 32"/>
          <p:cNvSpPr/>
          <p:nvPr/>
        </p:nvSpPr>
        <p:spPr>
          <a:xfrm>
            <a:off x="8732520" y="3465576"/>
            <a:ext cx="2852928" cy="786384"/>
          </a:xfrm>
          <a:prstGeom prst="roundRect">
            <a:avLst>
              <a:gd name="adj" fmla="val 11627"/>
            </a:avLst>
          </a:prstGeom>
          <a:solidFill>
            <a:srgbClr val="F4F5F6"/>
          </a:solidFill>
          <a:ln>
            <a:noFill/>
          </a:ln>
          <a:effectLst/>
        </p:spPr>
        <p:txBody>
          <a:bodyPr rtlCol="0" anchor="ctr"/>
          <a:lstStyle/>
          <a:p/>
        </p:txBody>
      </p:sp>
      <p:sp>
        <p:nvSpPr>
          <p:cNvPr id="34" name="Oval 33"/>
          <p:cNvSpPr/>
          <p:nvPr/>
        </p:nvSpPr>
        <p:spPr>
          <a:xfrm>
            <a:off x="8823960" y="3602736"/>
            <a:ext cx="512064" cy="512064"/>
          </a:xfrm>
          <a:prstGeom prst="ellipse">
            <a:avLst/>
          </a:prstGeom>
          <a:solidFill>
            <a:srgbClr val="E6F4EC"/>
          </a:solidFill>
          <a:ln>
            <a:noFill/>
          </a:ln>
          <a:effectLst/>
        </p:spPr>
        <p:txBody>
          <a:bodyPr rtlCol="0" anchor="ctr"/>
          <a:lstStyle/>
          <a:p>
            <a:pPr algn="ctr"/>
          </a:p>
        </p:txBody>
      </p:sp>
      <p:pic>
        <p:nvPicPr>
          <p:cNvPr id="35" name="Picture 34" descr="wallet_g.png"/>
          <p:cNvPicPr>
            <a:picLocks noChangeAspect="1"/>
          </p:cNvPicPr>
          <p:nvPr/>
        </p:nvPicPr>
        <p:blipFill>
          <a:blip r:embed="rId9"/>
          <a:stretch>
            <a:fillRect/>
          </a:stretch>
        </p:blipFill>
        <p:spPr>
          <a:xfrm>
            <a:off x="8936614" y="3715390"/>
            <a:ext cx="286755" cy="286755"/>
          </a:xfrm>
          <a:prstGeom prst="rect">
            <a:avLst/>
          </a:prstGeom>
        </p:spPr>
      </p:pic>
      <p:sp>
        <p:nvSpPr>
          <p:cNvPr id="36" name="TextBox 35"/>
          <p:cNvSpPr txBox="1"/>
          <p:nvPr/>
        </p:nvSpPr>
        <p:spPr>
          <a:xfrm>
            <a:off x="9445752" y="3557016"/>
            <a:ext cx="2103120" cy="274320"/>
          </a:xfrm>
          <a:prstGeom prst="rect">
            <a:avLst/>
          </a:prstGeom>
          <a:noFill/>
        </p:spPr>
        <p:txBody>
          <a:bodyPr wrap="square" lIns="0" rIns="0" tIns="0" bIns="0" anchor="t">
            <a:spAutoFit/>
          </a:bodyPr>
          <a:lstStyle/>
          <a:p>
            <a:pPr algn="l">
              <a:lnSpc>
                <a:spcPct val="100000"/>
              </a:lnSpc>
            </a:pPr>
            <a:r>
              <a:rPr sz="1300" b="1">
                <a:solidFill>
                  <a:srgbClr val="23272B"/>
                </a:solidFill>
                <a:latin typeface="Arial"/>
              </a:rPr>
              <a:t>Debt collection</a:t>
            </a:r>
          </a:p>
        </p:txBody>
      </p:sp>
      <p:sp>
        <p:nvSpPr>
          <p:cNvPr id="37" name="TextBox 36"/>
          <p:cNvSpPr txBox="1"/>
          <p:nvPr/>
        </p:nvSpPr>
        <p:spPr>
          <a:xfrm>
            <a:off x="9445752" y="3849624"/>
            <a:ext cx="2103120" cy="384048"/>
          </a:xfrm>
          <a:prstGeom prst="rect">
            <a:avLst/>
          </a:prstGeom>
          <a:noFill/>
        </p:spPr>
        <p:txBody>
          <a:bodyPr wrap="square" lIns="0" rIns="0" tIns="0" bIns="0" anchor="t">
            <a:spAutoFit/>
          </a:bodyPr>
          <a:lstStyle/>
          <a:p>
            <a:pPr algn="l">
              <a:lnSpc>
                <a:spcPct val="100000"/>
              </a:lnSpc>
            </a:pPr>
            <a:r>
              <a:rPr sz="1050" b="0">
                <a:solidFill>
                  <a:srgbClr val="5F6670"/>
                </a:solidFill>
                <a:latin typeface="Arial"/>
              </a:rPr>
              <a:t>Task per overdue invoice; promise dates</a:t>
            </a:r>
          </a:p>
        </p:txBody>
      </p:sp>
      <p:sp>
        <p:nvSpPr>
          <p:cNvPr id="38" name="Rounded Rectangle 37"/>
          <p:cNvSpPr/>
          <p:nvPr/>
        </p:nvSpPr>
        <p:spPr>
          <a:xfrm>
            <a:off x="5760720" y="4352544"/>
            <a:ext cx="2852928" cy="786384"/>
          </a:xfrm>
          <a:prstGeom prst="roundRect">
            <a:avLst>
              <a:gd name="adj" fmla="val 11627"/>
            </a:avLst>
          </a:prstGeom>
          <a:solidFill>
            <a:srgbClr val="F4F5F6"/>
          </a:solidFill>
          <a:ln>
            <a:noFill/>
          </a:ln>
          <a:effectLst/>
        </p:spPr>
        <p:txBody>
          <a:bodyPr rtlCol="0" anchor="ctr"/>
          <a:lstStyle/>
          <a:p/>
        </p:txBody>
      </p:sp>
      <p:sp>
        <p:nvSpPr>
          <p:cNvPr id="39" name="Oval 38"/>
          <p:cNvSpPr/>
          <p:nvPr/>
        </p:nvSpPr>
        <p:spPr>
          <a:xfrm>
            <a:off x="5852159" y="4489704"/>
            <a:ext cx="512064" cy="512064"/>
          </a:xfrm>
          <a:prstGeom prst="ellipse">
            <a:avLst/>
          </a:prstGeom>
          <a:solidFill>
            <a:srgbClr val="E6F4EC"/>
          </a:solidFill>
          <a:ln>
            <a:noFill/>
          </a:ln>
          <a:effectLst/>
        </p:spPr>
        <p:txBody>
          <a:bodyPr rtlCol="0" anchor="ctr"/>
          <a:lstStyle/>
          <a:p>
            <a:pPr algn="ctr"/>
          </a:p>
        </p:txBody>
      </p:sp>
      <p:pic>
        <p:nvPicPr>
          <p:cNvPr id="40" name="Picture 39" descr="phone_g.png"/>
          <p:cNvPicPr>
            <a:picLocks noChangeAspect="1"/>
          </p:cNvPicPr>
          <p:nvPr/>
        </p:nvPicPr>
        <p:blipFill>
          <a:blip r:embed="rId10"/>
          <a:stretch>
            <a:fillRect/>
          </a:stretch>
        </p:blipFill>
        <p:spPr>
          <a:xfrm>
            <a:off x="5964814" y="4602358"/>
            <a:ext cx="286755" cy="286755"/>
          </a:xfrm>
          <a:prstGeom prst="rect">
            <a:avLst/>
          </a:prstGeom>
        </p:spPr>
      </p:pic>
      <p:sp>
        <p:nvSpPr>
          <p:cNvPr id="41" name="TextBox 40"/>
          <p:cNvSpPr txBox="1"/>
          <p:nvPr/>
        </p:nvSpPr>
        <p:spPr>
          <a:xfrm>
            <a:off x="6473952" y="4443983"/>
            <a:ext cx="2103120" cy="274320"/>
          </a:xfrm>
          <a:prstGeom prst="rect">
            <a:avLst/>
          </a:prstGeom>
          <a:noFill/>
        </p:spPr>
        <p:txBody>
          <a:bodyPr wrap="square" lIns="0" rIns="0" tIns="0" bIns="0" anchor="t">
            <a:spAutoFit/>
          </a:bodyPr>
          <a:lstStyle/>
          <a:p>
            <a:pPr algn="l">
              <a:lnSpc>
                <a:spcPct val="100000"/>
              </a:lnSpc>
            </a:pPr>
            <a:r>
              <a:rPr sz="1300" b="1">
                <a:solidFill>
                  <a:srgbClr val="23272B"/>
                </a:solidFill>
                <a:latin typeface="Arial"/>
              </a:rPr>
              <a:t>Calls &amp; reorders</a:t>
            </a:r>
          </a:p>
        </p:txBody>
      </p:sp>
      <p:sp>
        <p:nvSpPr>
          <p:cNvPr id="42" name="TextBox 41"/>
          <p:cNvSpPr txBox="1"/>
          <p:nvPr/>
        </p:nvSpPr>
        <p:spPr>
          <a:xfrm>
            <a:off x="6473952" y="4736592"/>
            <a:ext cx="2103120" cy="384048"/>
          </a:xfrm>
          <a:prstGeom prst="rect">
            <a:avLst/>
          </a:prstGeom>
          <a:noFill/>
        </p:spPr>
        <p:txBody>
          <a:bodyPr wrap="square" lIns="0" rIns="0" tIns="0" bIns="0" anchor="t">
            <a:spAutoFit/>
          </a:bodyPr>
          <a:lstStyle/>
          <a:p>
            <a:pPr algn="l">
              <a:lnSpc>
                <a:spcPct val="100000"/>
              </a:lnSpc>
            </a:pPr>
            <a:r>
              <a:rPr sz="1050" b="0">
                <a:solidFill>
                  <a:srgbClr val="5F6670"/>
                </a:solidFill>
                <a:latin typeface="Arial"/>
              </a:rPr>
              <a:t>Customer stopped ordering? Call or visit</a:t>
            </a:r>
          </a:p>
        </p:txBody>
      </p:sp>
      <p:sp>
        <p:nvSpPr>
          <p:cNvPr id="43" name="Rounded Rectangle 42"/>
          <p:cNvSpPr/>
          <p:nvPr/>
        </p:nvSpPr>
        <p:spPr>
          <a:xfrm>
            <a:off x="8732520" y="4352544"/>
            <a:ext cx="2852928" cy="786384"/>
          </a:xfrm>
          <a:prstGeom prst="roundRect">
            <a:avLst>
              <a:gd name="adj" fmla="val 11627"/>
            </a:avLst>
          </a:prstGeom>
          <a:solidFill>
            <a:srgbClr val="F4F5F6"/>
          </a:solidFill>
          <a:ln>
            <a:noFill/>
          </a:ln>
          <a:effectLst/>
        </p:spPr>
        <p:txBody>
          <a:bodyPr rtlCol="0" anchor="ctr"/>
          <a:lstStyle/>
          <a:p/>
        </p:txBody>
      </p:sp>
      <p:sp>
        <p:nvSpPr>
          <p:cNvPr id="44" name="Oval 43"/>
          <p:cNvSpPr/>
          <p:nvPr/>
        </p:nvSpPr>
        <p:spPr>
          <a:xfrm>
            <a:off x="8823960" y="4489704"/>
            <a:ext cx="512064" cy="512064"/>
          </a:xfrm>
          <a:prstGeom prst="ellipse">
            <a:avLst/>
          </a:prstGeom>
          <a:solidFill>
            <a:srgbClr val="E6F4EC"/>
          </a:solidFill>
          <a:ln>
            <a:noFill/>
          </a:ln>
          <a:effectLst/>
        </p:spPr>
        <p:txBody>
          <a:bodyPr rtlCol="0" anchor="ctr"/>
          <a:lstStyle/>
          <a:p>
            <a:pPr algn="ctr"/>
          </a:p>
        </p:txBody>
      </p:sp>
      <p:pic>
        <p:nvPicPr>
          <p:cNvPr id="45" name="Picture 44" descr="payment_g.png"/>
          <p:cNvPicPr>
            <a:picLocks noChangeAspect="1"/>
          </p:cNvPicPr>
          <p:nvPr/>
        </p:nvPicPr>
        <p:blipFill>
          <a:blip r:embed="rId11"/>
          <a:stretch>
            <a:fillRect/>
          </a:stretch>
        </p:blipFill>
        <p:spPr>
          <a:xfrm>
            <a:off x="8936614" y="4602358"/>
            <a:ext cx="286755" cy="286755"/>
          </a:xfrm>
          <a:prstGeom prst="rect">
            <a:avLst/>
          </a:prstGeom>
        </p:spPr>
      </p:pic>
      <p:sp>
        <p:nvSpPr>
          <p:cNvPr id="46" name="TextBox 45"/>
          <p:cNvSpPr txBox="1"/>
          <p:nvPr/>
        </p:nvSpPr>
        <p:spPr>
          <a:xfrm>
            <a:off x="9445752" y="4443983"/>
            <a:ext cx="2103120" cy="274320"/>
          </a:xfrm>
          <a:prstGeom prst="rect">
            <a:avLst/>
          </a:prstGeom>
          <a:noFill/>
        </p:spPr>
        <p:txBody>
          <a:bodyPr wrap="square" lIns="0" rIns="0" tIns="0" bIns="0" anchor="t">
            <a:spAutoFit/>
          </a:bodyPr>
          <a:lstStyle/>
          <a:p>
            <a:pPr algn="l">
              <a:lnSpc>
                <a:spcPct val="100000"/>
              </a:lnSpc>
            </a:pPr>
            <a:r>
              <a:rPr sz="1300" b="1">
                <a:solidFill>
                  <a:srgbClr val="23272B"/>
                </a:solidFill>
                <a:latin typeface="Arial"/>
              </a:rPr>
              <a:t>Down payments</a:t>
            </a:r>
          </a:p>
        </p:txBody>
      </p:sp>
      <p:sp>
        <p:nvSpPr>
          <p:cNvPr id="47" name="TextBox 46"/>
          <p:cNvSpPr txBox="1"/>
          <p:nvPr/>
        </p:nvSpPr>
        <p:spPr>
          <a:xfrm>
            <a:off x="9445752" y="4736592"/>
            <a:ext cx="2103120" cy="384048"/>
          </a:xfrm>
          <a:prstGeom prst="rect">
            <a:avLst/>
          </a:prstGeom>
          <a:noFill/>
        </p:spPr>
        <p:txBody>
          <a:bodyPr wrap="square" lIns="0" rIns="0" tIns="0" bIns="0" anchor="t">
            <a:spAutoFit/>
          </a:bodyPr>
          <a:lstStyle/>
          <a:p>
            <a:pPr algn="l">
              <a:lnSpc>
                <a:spcPct val="100000"/>
              </a:lnSpc>
            </a:pPr>
            <a:r>
              <a:rPr sz="1050" b="0">
                <a:solidFill>
                  <a:srgbClr val="5F6670"/>
                </a:solidFill>
                <a:latin typeface="Arial"/>
              </a:rPr>
              <a:t>Chases unpaid down payments after delivery</a:t>
            </a:r>
          </a:p>
        </p:txBody>
      </p:sp>
      <p:sp>
        <p:nvSpPr>
          <p:cNvPr id="48" name="Rounded Rectangle 47"/>
          <p:cNvSpPr/>
          <p:nvPr/>
        </p:nvSpPr>
        <p:spPr>
          <a:xfrm>
            <a:off x="5760720" y="5239512"/>
            <a:ext cx="2852928" cy="786384"/>
          </a:xfrm>
          <a:prstGeom prst="roundRect">
            <a:avLst>
              <a:gd name="adj" fmla="val 11627"/>
            </a:avLst>
          </a:prstGeom>
          <a:solidFill>
            <a:srgbClr val="F4F5F6"/>
          </a:solidFill>
          <a:ln>
            <a:noFill/>
          </a:ln>
          <a:effectLst/>
        </p:spPr>
        <p:txBody>
          <a:bodyPr rtlCol="0" anchor="ctr"/>
          <a:lstStyle/>
          <a:p/>
        </p:txBody>
      </p:sp>
      <p:sp>
        <p:nvSpPr>
          <p:cNvPr id="49" name="Oval 48"/>
          <p:cNvSpPr/>
          <p:nvPr/>
        </p:nvSpPr>
        <p:spPr>
          <a:xfrm>
            <a:off x="5852159" y="5376672"/>
            <a:ext cx="512064" cy="512064"/>
          </a:xfrm>
          <a:prstGeom prst="ellipse">
            <a:avLst/>
          </a:prstGeom>
          <a:solidFill>
            <a:srgbClr val="E6F4EC"/>
          </a:solidFill>
          <a:ln>
            <a:noFill/>
          </a:ln>
          <a:effectLst/>
        </p:spPr>
        <p:txBody>
          <a:bodyPr rtlCol="0" anchor="ctr"/>
          <a:lstStyle/>
          <a:p>
            <a:pPr algn="ctr"/>
          </a:p>
        </p:txBody>
      </p:sp>
      <p:pic>
        <p:nvPicPr>
          <p:cNvPr id="50" name="Picture 49" descr="cart_g.png"/>
          <p:cNvPicPr>
            <a:picLocks noChangeAspect="1"/>
          </p:cNvPicPr>
          <p:nvPr/>
        </p:nvPicPr>
        <p:blipFill>
          <a:blip r:embed="rId12"/>
          <a:stretch>
            <a:fillRect/>
          </a:stretch>
        </p:blipFill>
        <p:spPr>
          <a:xfrm>
            <a:off x="5964814" y="5489326"/>
            <a:ext cx="286755" cy="286755"/>
          </a:xfrm>
          <a:prstGeom prst="rect">
            <a:avLst/>
          </a:prstGeom>
        </p:spPr>
      </p:pic>
      <p:sp>
        <p:nvSpPr>
          <p:cNvPr id="51" name="TextBox 50"/>
          <p:cNvSpPr txBox="1"/>
          <p:nvPr/>
        </p:nvSpPr>
        <p:spPr>
          <a:xfrm>
            <a:off x="6473952" y="5330952"/>
            <a:ext cx="2103120" cy="274320"/>
          </a:xfrm>
          <a:prstGeom prst="rect">
            <a:avLst/>
          </a:prstGeom>
          <a:noFill/>
        </p:spPr>
        <p:txBody>
          <a:bodyPr wrap="square" lIns="0" rIns="0" tIns="0" bIns="0" anchor="t">
            <a:spAutoFit/>
          </a:bodyPr>
          <a:lstStyle/>
          <a:p>
            <a:pPr algn="l">
              <a:lnSpc>
                <a:spcPct val="100000"/>
              </a:lnSpc>
            </a:pPr>
            <a:r>
              <a:rPr sz="1300" b="1">
                <a:solidFill>
                  <a:srgbClr val="23272B"/>
                </a:solidFill>
                <a:latin typeface="Arial"/>
              </a:rPr>
              <a:t>Orders waiting</a:t>
            </a:r>
          </a:p>
        </p:txBody>
      </p:sp>
      <p:sp>
        <p:nvSpPr>
          <p:cNvPr id="52" name="TextBox 51"/>
          <p:cNvSpPr txBox="1"/>
          <p:nvPr/>
        </p:nvSpPr>
        <p:spPr>
          <a:xfrm>
            <a:off x="6473952" y="5623560"/>
            <a:ext cx="2103120" cy="384048"/>
          </a:xfrm>
          <a:prstGeom prst="rect">
            <a:avLst/>
          </a:prstGeom>
          <a:noFill/>
        </p:spPr>
        <p:txBody>
          <a:bodyPr wrap="square" lIns="0" rIns="0" tIns="0" bIns="0" anchor="t">
            <a:spAutoFit/>
          </a:bodyPr>
          <a:lstStyle/>
          <a:p>
            <a:pPr algn="l">
              <a:lnSpc>
                <a:spcPct val="100000"/>
              </a:lnSpc>
            </a:pPr>
            <a:r>
              <a:rPr sz="1050" b="0">
                <a:solidFill>
                  <a:srgbClr val="5F6670"/>
                </a:solidFill>
                <a:latin typeface="Arial"/>
              </a:rPr>
              <a:t>Too slow? Sales director, then the CEO</a:t>
            </a:r>
          </a:p>
        </p:txBody>
      </p:sp>
      <p:sp>
        <p:nvSpPr>
          <p:cNvPr id="53" name="Rounded Rectangle 52"/>
          <p:cNvSpPr/>
          <p:nvPr/>
        </p:nvSpPr>
        <p:spPr>
          <a:xfrm>
            <a:off x="8732520" y="5239512"/>
            <a:ext cx="2852928" cy="786384"/>
          </a:xfrm>
          <a:prstGeom prst="roundRect">
            <a:avLst>
              <a:gd name="adj" fmla="val 11627"/>
            </a:avLst>
          </a:prstGeom>
          <a:solidFill>
            <a:srgbClr val="F4F5F6"/>
          </a:solidFill>
          <a:ln>
            <a:noFill/>
          </a:ln>
          <a:effectLst/>
        </p:spPr>
        <p:txBody>
          <a:bodyPr rtlCol="0" anchor="ctr"/>
          <a:lstStyle/>
          <a:p/>
        </p:txBody>
      </p:sp>
      <p:sp>
        <p:nvSpPr>
          <p:cNvPr id="54" name="Oval 53"/>
          <p:cNvSpPr/>
          <p:nvPr/>
        </p:nvSpPr>
        <p:spPr>
          <a:xfrm>
            <a:off x="8823960" y="5376672"/>
            <a:ext cx="512064" cy="512064"/>
          </a:xfrm>
          <a:prstGeom prst="ellipse">
            <a:avLst/>
          </a:prstGeom>
          <a:solidFill>
            <a:srgbClr val="E6F4EC"/>
          </a:solidFill>
          <a:ln>
            <a:noFill/>
          </a:ln>
          <a:effectLst/>
        </p:spPr>
        <p:txBody>
          <a:bodyPr rtlCol="0" anchor="ctr"/>
          <a:lstStyle/>
          <a:p>
            <a:pPr algn="ctr"/>
          </a:p>
        </p:txBody>
      </p:sp>
      <p:pic>
        <p:nvPicPr>
          <p:cNvPr id="55" name="Picture 54" descr="sheet_g.png"/>
          <p:cNvPicPr>
            <a:picLocks noChangeAspect="1"/>
          </p:cNvPicPr>
          <p:nvPr/>
        </p:nvPicPr>
        <p:blipFill>
          <a:blip r:embed="rId13"/>
          <a:stretch>
            <a:fillRect/>
          </a:stretch>
        </p:blipFill>
        <p:spPr>
          <a:xfrm>
            <a:off x="8936614" y="5489326"/>
            <a:ext cx="286755" cy="286755"/>
          </a:xfrm>
          <a:prstGeom prst="rect">
            <a:avLst/>
          </a:prstGeom>
        </p:spPr>
      </p:pic>
      <p:sp>
        <p:nvSpPr>
          <p:cNvPr id="56" name="TextBox 55"/>
          <p:cNvSpPr txBox="1"/>
          <p:nvPr/>
        </p:nvSpPr>
        <p:spPr>
          <a:xfrm>
            <a:off x="9445752" y="5330952"/>
            <a:ext cx="2103120" cy="274320"/>
          </a:xfrm>
          <a:prstGeom prst="rect">
            <a:avLst/>
          </a:prstGeom>
          <a:noFill/>
        </p:spPr>
        <p:txBody>
          <a:bodyPr wrap="square" lIns="0" rIns="0" tIns="0" bIns="0" anchor="t">
            <a:spAutoFit/>
          </a:bodyPr>
          <a:lstStyle/>
          <a:p>
            <a:pPr algn="l">
              <a:lnSpc>
                <a:spcPct val="100000"/>
              </a:lnSpc>
            </a:pPr>
            <a:r>
              <a:rPr sz="1300" b="1">
                <a:solidFill>
                  <a:srgbClr val="23272B"/>
                </a:solidFill>
                <a:latin typeface="Arial"/>
              </a:rPr>
              <a:t>Data &amp; Excel</a:t>
            </a:r>
          </a:p>
        </p:txBody>
      </p:sp>
      <p:sp>
        <p:nvSpPr>
          <p:cNvPr id="57" name="TextBox 56"/>
          <p:cNvSpPr txBox="1"/>
          <p:nvPr/>
        </p:nvSpPr>
        <p:spPr>
          <a:xfrm>
            <a:off x="9445752" y="5623560"/>
            <a:ext cx="2103120" cy="384048"/>
          </a:xfrm>
          <a:prstGeom prst="rect">
            <a:avLst/>
          </a:prstGeom>
          <a:noFill/>
        </p:spPr>
        <p:txBody>
          <a:bodyPr wrap="square" lIns="0" rIns="0" tIns="0" bIns="0" anchor="t">
            <a:spAutoFit/>
          </a:bodyPr>
          <a:lstStyle/>
          <a:p>
            <a:pPr algn="l">
              <a:lnSpc>
                <a:spcPct val="100000"/>
              </a:lnSpc>
            </a:pPr>
            <a:r>
              <a:rPr sz="1050" b="0">
                <a:solidFill>
                  <a:srgbClr val="5F6670"/>
                </a:solidFill>
                <a:latin typeface="Arial"/>
              </a:rPr>
              <a:t>Missing data or late ERP file: a task</a:t>
            </a:r>
          </a:p>
        </p:txBody>
      </p:sp>
      <p:sp>
        <p:nvSpPr>
          <p:cNvPr id="58" name="TextBox 57"/>
          <p:cNvSpPr txBox="1"/>
          <p:nvPr/>
        </p:nvSpPr>
        <p:spPr>
          <a:xfrm>
            <a:off x="502920" y="6144768"/>
            <a:ext cx="4846320" cy="228600"/>
          </a:xfrm>
          <a:prstGeom prst="rect">
            <a:avLst/>
          </a:prstGeom>
          <a:noFill/>
        </p:spPr>
        <p:txBody>
          <a:bodyPr wrap="square" lIns="0" rIns="0" tIns="0" bIns="0" anchor="t">
            <a:spAutoFit/>
          </a:bodyPr>
          <a:lstStyle/>
          <a:p>
            <a:pPr algn="l">
              <a:lnSpc>
                <a:spcPct val="100000"/>
              </a:lnSpc>
            </a:pPr>
            <a:r>
              <a:rPr sz="900" b="0">
                <a:solidFill>
                  <a:srgbClr val="5F6670"/>
                </a:solidFill>
                <a:latin typeface="Arial"/>
              </a:rPr>
              <a:t>Left: the brief to management. Right: a rep's must-answer question (demo, translated).</a:t>
            </a:r>
          </a:p>
        </p:txBody>
      </p:sp>
      <p:cxnSp>
        <p:nvCxnSpPr>
          <p:cNvPr id="59" name="Connector 58"/>
          <p:cNvCxnSpPr/>
          <p:nvPr/>
        </p:nvCxnSpPr>
        <p:spPr>
          <a:xfrm>
            <a:off x="548640" y="6400800"/>
            <a:ext cx="11094415" cy="0"/>
          </a:xfrm>
          <a:prstGeom prst="line">
            <a:avLst/>
          </a:prstGeom>
          <a:ln w="9525">
            <a:solidFill>
              <a:srgbClr val="D9DEDB"/>
            </a:solidFill>
          </a:ln>
        </p:spPr>
      </p:cxnSp>
      <p:pic>
        <p:nvPicPr>
          <p:cNvPr id="60" name="Picture 59" descr="kad-wordmark.png"/>
          <p:cNvPicPr>
            <a:picLocks noChangeAspect="1"/>
          </p:cNvPicPr>
          <p:nvPr/>
        </p:nvPicPr>
        <p:blipFill>
          <a:blip r:embed="rId14"/>
          <a:stretch>
            <a:fillRect/>
          </a:stretch>
        </p:blipFill>
        <p:spPr>
          <a:xfrm>
            <a:off x="548640" y="6519672"/>
            <a:ext cx="759129" cy="155448"/>
          </a:xfrm>
          <a:prstGeom prst="rect">
            <a:avLst/>
          </a:prstGeom>
        </p:spPr>
      </p:pic>
      <p:sp>
        <p:nvSpPr>
          <p:cNvPr id="61" name="TextBox 60"/>
          <p:cNvSpPr txBox="1"/>
          <p:nvPr/>
        </p:nvSpPr>
        <p:spPr>
          <a:xfrm>
            <a:off x="1417320" y="6492240"/>
            <a:ext cx="6400800" cy="228600"/>
          </a:xfrm>
          <a:prstGeom prst="rect">
            <a:avLst/>
          </a:prstGeom>
          <a:noFill/>
        </p:spPr>
        <p:txBody>
          <a:bodyPr wrap="square" lIns="0" rIns="0" tIns="0" bIns="0" anchor="t">
            <a:spAutoFit/>
          </a:bodyPr>
          <a:lstStyle/>
          <a:p>
            <a:pPr algn="l">
              <a:lnSpc>
                <a:spcPct val="100000"/>
              </a:lnSpc>
            </a:pPr>
            <a:r>
              <a:rPr sz="900" b="0">
                <a:solidFill>
                  <a:srgbClr val="5F6670"/>
                </a:solidFill>
                <a:latin typeface="Arial"/>
              </a:rPr>
              <a:t>Digital Sales Platform for Castrol Distribution</a:t>
            </a:r>
          </a:p>
        </p:txBody>
      </p:sp>
      <p:sp>
        <p:nvSpPr>
          <p:cNvPr id="62" name="TextBox 61"/>
          <p:cNvSpPr txBox="1"/>
          <p:nvPr/>
        </p:nvSpPr>
        <p:spPr>
          <a:xfrm>
            <a:off x="10728655" y="6492240"/>
            <a:ext cx="914400" cy="228600"/>
          </a:xfrm>
          <a:prstGeom prst="rect">
            <a:avLst/>
          </a:prstGeom>
          <a:noFill/>
        </p:spPr>
        <p:txBody>
          <a:bodyPr wrap="square" lIns="0" rIns="0" tIns="0" bIns="0" anchor="t">
            <a:spAutoFit/>
          </a:bodyPr>
          <a:lstStyle/>
          <a:p>
            <a:pPr algn="r">
              <a:lnSpc>
                <a:spcPct val="100000"/>
              </a:lnSpc>
            </a:pPr>
            <a:r>
              <a:rPr sz="900" b="0">
                <a:solidFill>
                  <a:srgbClr val="5F6670"/>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347472"/>
            <a:ext cx="592531" cy="64008"/>
          </a:xfrm>
          <a:prstGeom prst="rect">
            <a:avLst/>
          </a:prstGeom>
          <a:solidFill>
            <a:srgbClr val="009343"/>
          </a:solidFill>
          <a:ln>
            <a:noFill/>
          </a:ln>
          <a:effectLst/>
        </p:spPr>
        <p:txBody>
          <a:bodyPr rtlCol="0" anchor="ctr"/>
          <a:lstStyle/>
          <a:p/>
        </p:txBody>
      </p:sp>
      <p:sp>
        <p:nvSpPr>
          <p:cNvPr id="3" name="Rectangle 2"/>
          <p:cNvSpPr/>
          <p:nvPr/>
        </p:nvSpPr>
        <p:spPr>
          <a:xfrm>
            <a:off x="1141171" y="347472"/>
            <a:ext cx="230428" cy="64008"/>
          </a:xfrm>
          <a:prstGeom prst="rect">
            <a:avLst/>
          </a:prstGeom>
          <a:solidFill>
            <a:srgbClr val="E2001A"/>
          </a:solidFill>
          <a:ln>
            <a:noFill/>
          </a:ln>
          <a:effectLst/>
        </p:spPr>
        <p:txBody>
          <a:bodyPr rtlCol="0" anchor="ctr"/>
          <a:lstStyle/>
          <a:p/>
        </p:txBody>
      </p:sp>
      <p:sp>
        <p:nvSpPr>
          <p:cNvPr id="4" name="TextBox 3"/>
          <p:cNvSpPr txBox="1"/>
          <p:nvPr/>
        </p:nvSpPr>
        <p:spPr>
          <a:xfrm>
            <a:off x="548640" y="502920"/>
            <a:ext cx="9144000" cy="274320"/>
          </a:xfrm>
          <a:prstGeom prst="rect">
            <a:avLst/>
          </a:prstGeom>
          <a:noFill/>
        </p:spPr>
        <p:txBody>
          <a:bodyPr wrap="square" lIns="0" rIns="0" tIns="0" bIns="0" anchor="t">
            <a:spAutoFit/>
          </a:bodyPr>
          <a:lstStyle/>
          <a:p>
            <a:pPr algn="l">
              <a:lnSpc>
                <a:spcPct val="100000"/>
              </a:lnSpc>
            </a:pPr>
            <a:r>
              <a:rPr sz="1200" b="1">
                <a:solidFill>
                  <a:srgbClr val="009343"/>
                </a:solidFill>
                <a:latin typeface="Arial"/>
              </a:rPr>
              <a:t>VAGHINAK CLOSES THE LOOP</a:t>
            </a:r>
          </a:p>
        </p:txBody>
      </p:sp>
      <p:sp>
        <p:nvSpPr>
          <p:cNvPr id="5" name="TextBox 4"/>
          <p:cNvSpPr txBox="1"/>
          <p:nvPr/>
        </p:nvSpPr>
        <p:spPr>
          <a:xfrm>
            <a:off x="548640" y="777240"/>
            <a:ext cx="11064240" cy="914400"/>
          </a:xfrm>
          <a:prstGeom prst="rect">
            <a:avLst/>
          </a:prstGeom>
          <a:noFill/>
        </p:spPr>
        <p:txBody>
          <a:bodyPr wrap="square" lIns="0" rIns="0" tIns="0" bIns="0" anchor="t">
            <a:spAutoFit/>
          </a:bodyPr>
          <a:lstStyle/>
          <a:p>
            <a:pPr algn="l">
              <a:lnSpc>
                <a:spcPct val="95000"/>
              </a:lnSpc>
            </a:pPr>
            <a:r>
              <a:rPr sz="3000" b="1">
                <a:solidFill>
                  <a:srgbClr val="23272B"/>
                </a:solidFill>
                <a:latin typeface="Arial"/>
              </a:rPr>
              <a:t>From problem to result, without a manager chasing anyone</a:t>
            </a:r>
          </a:p>
        </p:txBody>
      </p:sp>
      <p:sp>
        <p:nvSpPr>
          <p:cNvPr id="6" name="Rounded Rectangle 5"/>
          <p:cNvSpPr/>
          <p:nvPr/>
        </p:nvSpPr>
        <p:spPr>
          <a:xfrm>
            <a:off x="548640" y="1783080"/>
            <a:ext cx="1719072" cy="2377440"/>
          </a:xfrm>
          <a:prstGeom prst="roundRect">
            <a:avLst>
              <a:gd name="adj" fmla="val 6382"/>
            </a:avLst>
          </a:prstGeom>
          <a:solidFill>
            <a:srgbClr val="F4F5F6"/>
          </a:solidFill>
          <a:ln>
            <a:noFill/>
          </a:ln>
          <a:effectLst/>
        </p:spPr>
        <p:txBody>
          <a:bodyPr rtlCol="0" anchor="ctr"/>
          <a:lstStyle/>
          <a:p/>
        </p:txBody>
      </p:sp>
      <p:sp>
        <p:nvSpPr>
          <p:cNvPr id="7" name="Oval 6"/>
          <p:cNvSpPr/>
          <p:nvPr/>
        </p:nvSpPr>
        <p:spPr>
          <a:xfrm>
            <a:off x="1005840" y="1965960"/>
            <a:ext cx="777240" cy="777240"/>
          </a:xfrm>
          <a:prstGeom prst="ellipse">
            <a:avLst/>
          </a:prstGeom>
          <a:solidFill>
            <a:srgbClr val="E6F4EC"/>
          </a:solidFill>
          <a:ln>
            <a:noFill/>
          </a:ln>
          <a:effectLst/>
        </p:spPr>
        <p:txBody>
          <a:bodyPr rtlCol="0" anchor="ctr"/>
          <a:lstStyle/>
          <a:p>
            <a:pPr algn="ctr"/>
          </a:p>
        </p:txBody>
      </p:sp>
      <p:pic>
        <p:nvPicPr>
          <p:cNvPr id="8" name="Picture 7" descr="sparkles_g.png"/>
          <p:cNvPicPr>
            <a:picLocks noChangeAspect="1"/>
          </p:cNvPicPr>
          <p:nvPr/>
        </p:nvPicPr>
        <p:blipFill>
          <a:blip r:embed="rId2"/>
          <a:stretch>
            <a:fillRect/>
          </a:stretch>
        </p:blipFill>
        <p:spPr>
          <a:xfrm>
            <a:off x="1176832" y="2136952"/>
            <a:ext cx="435254" cy="435254"/>
          </a:xfrm>
          <a:prstGeom prst="rect">
            <a:avLst/>
          </a:prstGeom>
        </p:spPr>
      </p:pic>
      <p:sp>
        <p:nvSpPr>
          <p:cNvPr id="9" name="TextBox 8"/>
          <p:cNvSpPr txBox="1"/>
          <p:nvPr/>
        </p:nvSpPr>
        <p:spPr>
          <a:xfrm>
            <a:off x="658368" y="2852928"/>
            <a:ext cx="1499616" cy="365760"/>
          </a:xfrm>
          <a:prstGeom prst="rect">
            <a:avLst/>
          </a:prstGeom>
          <a:noFill/>
        </p:spPr>
        <p:txBody>
          <a:bodyPr wrap="square" lIns="0" rIns="0" tIns="0" bIns="0" anchor="t">
            <a:spAutoFit/>
          </a:bodyPr>
          <a:lstStyle/>
          <a:p>
            <a:pPr algn="ctr">
              <a:lnSpc>
                <a:spcPct val="100000"/>
              </a:lnSpc>
            </a:pPr>
            <a:r>
              <a:rPr sz="1500" b="1">
                <a:solidFill>
                  <a:srgbClr val="23272B"/>
                </a:solidFill>
                <a:latin typeface="Arial"/>
              </a:rPr>
              <a:t>Detect</a:t>
            </a:r>
          </a:p>
        </p:txBody>
      </p:sp>
      <p:sp>
        <p:nvSpPr>
          <p:cNvPr id="10" name="TextBox 9"/>
          <p:cNvSpPr txBox="1"/>
          <p:nvPr/>
        </p:nvSpPr>
        <p:spPr>
          <a:xfrm>
            <a:off x="658368" y="3218688"/>
            <a:ext cx="1499616" cy="868680"/>
          </a:xfrm>
          <a:prstGeom prst="rect">
            <a:avLst/>
          </a:prstGeom>
          <a:noFill/>
        </p:spPr>
        <p:txBody>
          <a:bodyPr wrap="square" lIns="0" rIns="0" tIns="0" bIns="0" anchor="t">
            <a:spAutoFit/>
          </a:bodyPr>
          <a:lstStyle/>
          <a:p>
            <a:pPr algn="ctr">
              <a:lnSpc>
                <a:spcPct val="100000"/>
              </a:lnSpc>
            </a:pPr>
            <a:r>
              <a:rPr sz="1150" b="0">
                <a:solidFill>
                  <a:srgbClr val="5F6670"/>
                </a:solidFill>
                <a:latin typeface="Arial"/>
              </a:rPr>
              <a:t>An invoice is 56 days past due</a:t>
            </a:r>
          </a:p>
        </p:txBody>
      </p:sp>
      <p:sp>
        <p:nvSpPr>
          <p:cNvPr id="11" name="Rounded Rectangle 10"/>
          <p:cNvSpPr/>
          <p:nvPr/>
        </p:nvSpPr>
        <p:spPr>
          <a:xfrm>
            <a:off x="2423160" y="1783080"/>
            <a:ext cx="1719072" cy="2377440"/>
          </a:xfrm>
          <a:prstGeom prst="roundRect">
            <a:avLst>
              <a:gd name="adj" fmla="val 6382"/>
            </a:avLst>
          </a:prstGeom>
          <a:solidFill>
            <a:srgbClr val="F4F5F6"/>
          </a:solidFill>
          <a:ln>
            <a:noFill/>
          </a:ln>
          <a:effectLst/>
        </p:spPr>
        <p:txBody>
          <a:bodyPr rtlCol="0" anchor="ctr"/>
          <a:lstStyle/>
          <a:p/>
        </p:txBody>
      </p:sp>
      <p:sp>
        <p:nvSpPr>
          <p:cNvPr id="12" name="Oval 11"/>
          <p:cNvSpPr/>
          <p:nvPr/>
        </p:nvSpPr>
        <p:spPr>
          <a:xfrm>
            <a:off x="2880360" y="1965960"/>
            <a:ext cx="777240" cy="777240"/>
          </a:xfrm>
          <a:prstGeom prst="ellipse">
            <a:avLst/>
          </a:prstGeom>
          <a:solidFill>
            <a:srgbClr val="E6F4EC"/>
          </a:solidFill>
          <a:ln>
            <a:noFill/>
          </a:ln>
          <a:effectLst/>
        </p:spPr>
        <p:txBody>
          <a:bodyPr rtlCol="0" anchor="ctr"/>
          <a:lstStyle/>
          <a:p>
            <a:pPr algn="ctr"/>
          </a:p>
        </p:txBody>
      </p:sp>
      <p:pic>
        <p:nvPicPr>
          <p:cNvPr id="13" name="Picture 12" descr="person_g.png"/>
          <p:cNvPicPr>
            <a:picLocks noChangeAspect="1"/>
          </p:cNvPicPr>
          <p:nvPr/>
        </p:nvPicPr>
        <p:blipFill>
          <a:blip r:embed="rId3"/>
          <a:stretch>
            <a:fillRect/>
          </a:stretch>
        </p:blipFill>
        <p:spPr>
          <a:xfrm>
            <a:off x="3051352" y="2136952"/>
            <a:ext cx="435254" cy="435254"/>
          </a:xfrm>
          <a:prstGeom prst="rect">
            <a:avLst/>
          </a:prstGeom>
        </p:spPr>
      </p:pic>
      <p:sp>
        <p:nvSpPr>
          <p:cNvPr id="14" name="TextBox 13"/>
          <p:cNvSpPr txBox="1"/>
          <p:nvPr/>
        </p:nvSpPr>
        <p:spPr>
          <a:xfrm>
            <a:off x="2532888" y="2852928"/>
            <a:ext cx="1499616" cy="365760"/>
          </a:xfrm>
          <a:prstGeom prst="rect">
            <a:avLst/>
          </a:prstGeom>
          <a:noFill/>
        </p:spPr>
        <p:txBody>
          <a:bodyPr wrap="square" lIns="0" rIns="0" tIns="0" bIns="0" anchor="t">
            <a:spAutoFit/>
          </a:bodyPr>
          <a:lstStyle/>
          <a:p>
            <a:pPr algn="ctr">
              <a:lnSpc>
                <a:spcPct val="100000"/>
              </a:lnSpc>
            </a:pPr>
            <a:r>
              <a:rPr sz="1500" b="1">
                <a:solidFill>
                  <a:srgbClr val="23272B"/>
                </a:solidFill>
                <a:latin typeface="Arial"/>
              </a:rPr>
              <a:t>Cause &amp; owner</a:t>
            </a:r>
          </a:p>
        </p:txBody>
      </p:sp>
      <p:sp>
        <p:nvSpPr>
          <p:cNvPr id="15" name="TextBox 14"/>
          <p:cNvSpPr txBox="1"/>
          <p:nvPr/>
        </p:nvSpPr>
        <p:spPr>
          <a:xfrm>
            <a:off x="2532888" y="3218688"/>
            <a:ext cx="1499616" cy="868680"/>
          </a:xfrm>
          <a:prstGeom prst="rect">
            <a:avLst/>
          </a:prstGeom>
          <a:noFill/>
        </p:spPr>
        <p:txBody>
          <a:bodyPr wrap="square" lIns="0" rIns="0" tIns="0" bIns="0" anchor="t">
            <a:spAutoFit/>
          </a:bodyPr>
          <a:lstStyle/>
          <a:p>
            <a:pPr algn="ctr">
              <a:lnSpc>
                <a:spcPct val="100000"/>
              </a:lnSpc>
            </a:pPr>
            <a:r>
              <a:rPr sz="1150" b="0">
                <a:solidFill>
                  <a:srgbClr val="5F6670"/>
                </a:solidFill>
                <a:latin typeface="Arial"/>
              </a:rPr>
              <a:t>Oldest unpaid invoice; customer of Rep C</a:t>
            </a:r>
          </a:p>
        </p:txBody>
      </p:sp>
      <p:sp>
        <p:nvSpPr>
          <p:cNvPr id="16" name="Rounded Rectangle 15"/>
          <p:cNvSpPr/>
          <p:nvPr/>
        </p:nvSpPr>
        <p:spPr>
          <a:xfrm>
            <a:off x="4297679" y="1783080"/>
            <a:ext cx="1719072" cy="2377440"/>
          </a:xfrm>
          <a:prstGeom prst="roundRect">
            <a:avLst>
              <a:gd name="adj" fmla="val 6382"/>
            </a:avLst>
          </a:prstGeom>
          <a:solidFill>
            <a:srgbClr val="F4F5F6"/>
          </a:solidFill>
          <a:ln>
            <a:noFill/>
          </a:ln>
          <a:effectLst/>
        </p:spPr>
        <p:txBody>
          <a:bodyPr rtlCol="0" anchor="ctr"/>
          <a:lstStyle/>
          <a:p/>
        </p:txBody>
      </p:sp>
      <p:sp>
        <p:nvSpPr>
          <p:cNvPr id="17" name="Oval 16"/>
          <p:cNvSpPr/>
          <p:nvPr/>
        </p:nvSpPr>
        <p:spPr>
          <a:xfrm>
            <a:off x="4754879" y="1965960"/>
            <a:ext cx="777240" cy="777240"/>
          </a:xfrm>
          <a:prstGeom prst="ellipse">
            <a:avLst/>
          </a:prstGeom>
          <a:solidFill>
            <a:srgbClr val="E6F4EC"/>
          </a:solidFill>
          <a:ln>
            <a:noFill/>
          </a:ln>
          <a:effectLst/>
        </p:spPr>
        <p:txBody>
          <a:bodyPr rtlCol="0" anchor="ctr"/>
          <a:lstStyle/>
          <a:p>
            <a:pPr algn="ctr"/>
          </a:p>
        </p:txBody>
      </p:sp>
      <p:pic>
        <p:nvPicPr>
          <p:cNvPr id="18" name="Picture 17" descr="tasks_g.png"/>
          <p:cNvPicPr>
            <a:picLocks noChangeAspect="1"/>
          </p:cNvPicPr>
          <p:nvPr/>
        </p:nvPicPr>
        <p:blipFill>
          <a:blip r:embed="rId4"/>
          <a:stretch>
            <a:fillRect/>
          </a:stretch>
        </p:blipFill>
        <p:spPr>
          <a:xfrm>
            <a:off x="4925872" y="2136952"/>
            <a:ext cx="435254" cy="435254"/>
          </a:xfrm>
          <a:prstGeom prst="rect">
            <a:avLst/>
          </a:prstGeom>
        </p:spPr>
      </p:pic>
      <p:sp>
        <p:nvSpPr>
          <p:cNvPr id="19" name="TextBox 18"/>
          <p:cNvSpPr txBox="1"/>
          <p:nvPr/>
        </p:nvSpPr>
        <p:spPr>
          <a:xfrm>
            <a:off x="4407407" y="2852928"/>
            <a:ext cx="1499616" cy="365760"/>
          </a:xfrm>
          <a:prstGeom prst="rect">
            <a:avLst/>
          </a:prstGeom>
          <a:noFill/>
        </p:spPr>
        <p:txBody>
          <a:bodyPr wrap="square" lIns="0" rIns="0" tIns="0" bIns="0" anchor="t">
            <a:spAutoFit/>
          </a:bodyPr>
          <a:lstStyle/>
          <a:p>
            <a:pPr algn="ctr">
              <a:lnSpc>
                <a:spcPct val="100000"/>
              </a:lnSpc>
            </a:pPr>
            <a:r>
              <a:rPr sz="1500" b="1">
                <a:solidFill>
                  <a:srgbClr val="23272B"/>
                </a:solidFill>
                <a:latin typeface="Arial"/>
              </a:rPr>
              <a:t>Task + deadline</a:t>
            </a:r>
          </a:p>
        </p:txBody>
      </p:sp>
      <p:sp>
        <p:nvSpPr>
          <p:cNvPr id="20" name="TextBox 19"/>
          <p:cNvSpPr txBox="1"/>
          <p:nvPr/>
        </p:nvSpPr>
        <p:spPr>
          <a:xfrm>
            <a:off x="4407407" y="3218688"/>
            <a:ext cx="1499616" cy="868680"/>
          </a:xfrm>
          <a:prstGeom prst="rect">
            <a:avLst/>
          </a:prstGeom>
          <a:noFill/>
        </p:spPr>
        <p:txBody>
          <a:bodyPr wrap="square" lIns="0" rIns="0" tIns="0" bIns="0" anchor="t">
            <a:spAutoFit/>
          </a:bodyPr>
          <a:lstStyle/>
          <a:p>
            <a:pPr algn="ctr">
              <a:lnSpc>
                <a:spcPct val="100000"/>
              </a:lnSpc>
            </a:pPr>
            <a:r>
              <a:rPr sz="1150" b="0">
                <a:solidFill>
                  <a:srgbClr val="5F6670"/>
                </a:solidFill>
                <a:latin typeface="Arial"/>
              </a:rPr>
              <a:t>Collect at the next visit, due Thursday</a:t>
            </a:r>
          </a:p>
        </p:txBody>
      </p:sp>
      <p:sp>
        <p:nvSpPr>
          <p:cNvPr id="21" name="Rounded Rectangle 20"/>
          <p:cNvSpPr/>
          <p:nvPr/>
        </p:nvSpPr>
        <p:spPr>
          <a:xfrm>
            <a:off x="6172199" y="1783080"/>
            <a:ext cx="1719072" cy="2377440"/>
          </a:xfrm>
          <a:prstGeom prst="roundRect">
            <a:avLst>
              <a:gd name="adj" fmla="val 6382"/>
            </a:avLst>
          </a:prstGeom>
          <a:solidFill>
            <a:srgbClr val="F4F5F6"/>
          </a:solidFill>
          <a:ln>
            <a:noFill/>
          </a:ln>
          <a:effectLst/>
        </p:spPr>
        <p:txBody>
          <a:bodyPr rtlCol="0" anchor="ctr"/>
          <a:lstStyle/>
          <a:p/>
        </p:txBody>
      </p:sp>
      <p:sp>
        <p:nvSpPr>
          <p:cNvPr id="22" name="Oval 21"/>
          <p:cNvSpPr/>
          <p:nvPr/>
        </p:nvSpPr>
        <p:spPr>
          <a:xfrm>
            <a:off x="6629399" y="1965960"/>
            <a:ext cx="777240" cy="777240"/>
          </a:xfrm>
          <a:prstGeom prst="ellipse">
            <a:avLst/>
          </a:prstGeom>
          <a:solidFill>
            <a:srgbClr val="E6F4EC"/>
          </a:solidFill>
          <a:ln>
            <a:noFill/>
          </a:ln>
          <a:effectLst/>
        </p:spPr>
        <p:txBody>
          <a:bodyPr rtlCol="0" anchor="ctr"/>
          <a:lstStyle/>
          <a:p>
            <a:pPr algn="ctr"/>
          </a:p>
        </p:txBody>
      </p:sp>
      <p:pic>
        <p:nvPicPr>
          <p:cNvPr id="23" name="Picture 22" descr="clock_g.png"/>
          <p:cNvPicPr>
            <a:picLocks noChangeAspect="1"/>
          </p:cNvPicPr>
          <p:nvPr/>
        </p:nvPicPr>
        <p:blipFill>
          <a:blip r:embed="rId5"/>
          <a:stretch>
            <a:fillRect/>
          </a:stretch>
        </p:blipFill>
        <p:spPr>
          <a:xfrm>
            <a:off x="6800392" y="2136952"/>
            <a:ext cx="435254" cy="435254"/>
          </a:xfrm>
          <a:prstGeom prst="rect">
            <a:avLst/>
          </a:prstGeom>
        </p:spPr>
      </p:pic>
      <p:sp>
        <p:nvSpPr>
          <p:cNvPr id="24" name="TextBox 23"/>
          <p:cNvSpPr txBox="1"/>
          <p:nvPr/>
        </p:nvSpPr>
        <p:spPr>
          <a:xfrm>
            <a:off x="6281927" y="2852928"/>
            <a:ext cx="1499616" cy="365760"/>
          </a:xfrm>
          <a:prstGeom prst="rect">
            <a:avLst/>
          </a:prstGeom>
          <a:noFill/>
        </p:spPr>
        <p:txBody>
          <a:bodyPr wrap="square" lIns="0" rIns="0" tIns="0" bIns="0" anchor="t">
            <a:spAutoFit/>
          </a:bodyPr>
          <a:lstStyle/>
          <a:p>
            <a:pPr algn="ctr">
              <a:lnSpc>
                <a:spcPct val="100000"/>
              </a:lnSpc>
            </a:pPr>
            <a:r>
              <a:rPr sz="1500" b="1">
                <a:solidFill>
                  <a:srgbClr val="23272B"/>
                </a:solidFill>
                <a:latin typeface="Arial"/>
              </a:rPr>
              <a:t>Control</a:t>
            </a:r>
          </a:p>
        </p:txBody>
      </p:sp>
      <p:sp>
        <p:nvSpPr>
          <p:cNvPr id="25" name="TextBox 24"/>
          <p:cNvSpPr txBox="1"/>
          <p:nvPr/>
        </p:nvSpPr>
        <p:spPr>
          <a:xfrm>
            <a:off x="6281927" y="3218688"/>
            <a:ext cx="1499616" cy="868680"/>
          </a:xfrm>
          <a:prstGeom prst="rect">
            <a:avLst/>
          </a:prstGeom>
          <a:noFill/>
        </p:spPr>
        <p:txBody>
          <a:bodyPr wrap="square" lIns="0" rIns="0" tIns="0" bIns="0" anchor="t">
            <a:spAutoFit/>
          </a:bodyPr>
          <a:lstStyle/>
          <a:p>
            <a:pPr algn="ctr">
              <a:lnSpc>
                <a:spcPct val="100000"/>
              </a:lnSpc>
            </a:pPr>
            <a:r>
              <a:rPr sz="1150" b="0">
                <a:solidFill>
                  <a:srgbClr val="5F6670"/>
                </a:solidFill>
                <a:latin typeface="Arial"/>
              </a:rPr>
              <a:t>Rep records: customer promised to pay by the 27th</a:t>
            </a:r>
          </a:p>
        </p:txBody>
      </p:sp>
      <p:sp>
        <p:nvSpPr>
          <p:cNvPr id="26" name="Rounded Rectangle 25"/>
          <p:cNvSpPr/>
          <p:nvPr/>
        </p:nvSpPr>
        <p:spPr>
          <a:xfrm>
            <a:off x="8046719" y="1783080"/>
            <a:ext cx="1719072" cy="2377440"/>
          </a:xfrm>
          <a:prstGeom prst="roundRect">
            <a:avLst>
              <a:gd name="adj" fmla="val 6382"/>
            </a:avLst>
          </a:prstGeom>
          <a:solidFill>
            <a:srgbClr val="FDEBED"/>
          </a:solidFill>
          <a:ln>
            <a:noFill/>
          </a:ln>
          <a:effectLst/>
        </p:spPr>
        <p:txBody>
          <a:bodyPr rtlCol="0" anchor="ctr"/>
          <a:lstStyle/>
          <a:p/>
        </p:txBody>
      </p:sp>
      <p:sp>
        <p:nvSpPr>
          <p:cNvPr id="27" name="Oval 26"/>
          <p:cNvSpPr/>
          <p:nvPr/>
        </p:nvSpPr>
        <p:spPr>
          <a:xfrm>
            <a:off x="8503919" y="1965960"/>
            <a:ext cx="777240" cy="777240"/>
          </a:xfrm>
          <a:prstGeom prst="ellipse">
            <a:avLst/>
          </a:prstGeom>
          <a:solidFill>
            <a:srgbClr val="FFFFFF"/>
          </a:solidFill>
          <a:ln>
            <a:noFill/>
          </a:ln>
          <a:effectLst/>
        </p:spPr>
        <p:txBody>
          <a:bodyPr rtlCol="0" anchor="ctr"/>
          <a:lstStyle/>
          <a:p>
            <a:pPr algn="ctr"/>
          </a:p>
        </p:txBody>
      </p:sp>
      <p:pic>
        <p:nvPicPr>
          <p:cNvPr id="28" name="Picture 27" descr="warning_r.png"/>
          <p:cNvPicPr>
            <a:picLocks noChangeAspect="1"/>
          </p:cNvPicPr>
          <p:nvPr/>
        </p:nvPicPr>
        <p:blipFill>
          <a:blip r:embed="rId6"/>
          <a:stretch>
            <a:fillRect/>
          </a:stretch>
        </p:blipFill>
        <p:spPr>
          <a:xfrm>
            <a:off x="8674912" y="2136952"/>
            <a:ext cx="435254" cy="435254"/>
          </a:xfrm>
          <a:prstGeom prst="rect">
            <a:avLst/>
          </a:prstGeom>
        </p:spPr>
      </p:pic>
      <p:sp>
        <p:nvSpPr>
          <p:cNvPr id="29" name="TextBox 28"/>
          <p:cNvSpPr txBox="1"/>
          <p:nvPr/>
        </p:nvSpPr>
        <p:spPr>
          <a:xfrm>
            <a:off x="8156447" y="2852928"/>
            <a:ext cx="1499616" cy="365760"/>
          </a:xfrm>
          <a:prstGeom prst="rect">
            <a:avLst/>
          </a:prstGeom>
          <a:noFill/>
        </p:spPr>
        <p:txBody>
          <a:bodyPr wrap="square" lIns="0" rIns="0" tIns="0" bIns="0" anchor="t">
            <a:spAutoFit/>
          </a:bodyPr>
          <a:lstStyle/>
          <a:p>
            <a:pPr algn="ctr">
              <a:lnSpc>
                <a:spcPct val="100000"/>
              </a:lnSpc>
            </a:pPr>
            <a:r>
              <a:rPr sz="1500" b="1">
                <a:solidFill>
                  <a:srgbClr val="23272B"/>
                </a:solidFill>
                <a:latin typeface="Arial"/>
              </a:rPr>
              <a:t>Escalate</a:t>
            </a:r>
          </a:p>
        </p:txBody>
      </p:sp>
      <p:sp>
        <p:nvSpPr>
          <p:cNvPr id="30" name="TextBox 29"/>
          <p:cNvSpPr txBox="1"/>
          <p:nvPr/>
        </p:nvSpPr>
        <p:spPr>
          <a:xfrm>
            <a:off x="8156447" y="3218688"/>
            <a:ext cx="1499616" cy="868680"/>
          </a:xfrm>
          <a:prstGeom prst="rect">
            <a:avLst/>
          </a:prstGeom>
          <a:noFill/>
        </p:spPr>
        <p:txBody>
          <a:bodyPr wrap="square" lIns="0" rIns="0" tIns="0" bIns="0" anchor="t">
            <a:spAutoFit/>
          </a:bodyPr>
          <a:lstStyle/>
          <a:p>
            <a:pPr algn="ctr">
              <a:lnSpc>
                <a:spcPct val="100000"/>
              </a:lnSpc>
            </a:pPr>
            <a:r>
              <a:rPr sz="1150" b="0">
                <a:solidFill>
                  <a:srgbClr val="5F6670"/>
                </a:solidFill>
                <a:latin typeface="Arial"/>
              </a:rPr>
              <a:t>Promise broken: task reopened, sales director told</a:t>
            </a:r>
          </a:p>
        </p:txBody>
      </p:sp>
      <p:sp>
        <p:nvSpPr>
          <p:cNvPr id="31" name="Rounded Rectangle 30"/>
          <p:cNvSpPr/>
          <p:nvPr/>
        </p:nvSpPr>
        <p:spPr>
          <a:xfrm>
            <a:off x="9921240" y="1783080"/>
            <a:ext cx="1719072" cy="2377440"/>
          </a:xfrm>
          <a:prstGeom prst="roundRect">
            <a:avLst>
              <a:gd name="adj" fmla="val 6382"/>
            </a:avLst>
          </a:prstGeom>
          <a:solidFill>
            <a:srgbClr val="009343"/>
          </a:solidFill>
          <a:ln>
            <a:noFill/>
          </a:ln>
          <a:effectLst/>
        </p:spPr>
        <p:txBody>
          <a:bodyPr rtlCol="0" anchor="ctr"/>
          <a:lstStyle/>
          <a:p/>
        </p:txBody>
      </p:sp>
      <p:sp>
        <p:nvSpPr>
          <p:cNvPr id="32" name="Oval 31"/>
          <p:cNvSpPr/>
          <p:nvPr/>
        </p:nvSpPr>
        <p:spPr>
          <a:xfrm>
            <a:off x="10378440" y="1965960"/>
            <a:ext cx="777240" cy="777240"/>
          </a:xfrm>
          <a:prstGeom prst="ellipse">
            <a:avLst/>
          </a:prstGeom>
          <a:solidFill>
            <a:srgbClr val="FFFFFF"/>
          </a:solidFill>
          <a:ln>
            <a:noFill/>
          </a:ln>
          <a:effectLst/>
        </p:spPr>
        <p:txBody>
          <a:bodyPr rtlCol="0" anchor="ctr"/>
          <a:lstStyle/>
          <a:p>
            <a:pPr algn="ctr"/>
          </a:p>
        </p:txBody>
      </p:sp>
      <p:pic>
        <p:nvPicPr>
          <p:cNvPr id="33" name="Picture 32" descr="checkCircle_g.png"/>
          <p:cNvPicPr>
            <a:picLocks noChangeAspect="1"/>
          </p:cNvPicPr>
          <p:nvPr/>
        </p:nvPicPr>
        <p:blipFill>
          <a:blip r:embed="rId7"/>
          <a:stretch>
            <a:fillRect/>
          </a:stretch>
        </p:blipFill>
        <p:spPr>
          <a:xfrm>
            <a:off x="10549432" y="2136952"/>
            <a:ext cx="435254" cy="435254"/>
          </a:xfrm>
          <a:prstGeom prst="rect">
            <a:avLst/>
          </a:prstGeom>
        </p:spPr>
      </p:pic>
      <p:sp>
        <p:nvSpPr>
          <p:cNvPr id="34" name="TextBox 33"/>
          <p:cNvSpPr txBox="1"/>
          <p:nvPr/>
        </p:nvSpPr>
        <p:spPr>
          <a:xfrm>
            <a:off x="10030967" y="2852928"/>
            <a:ext cx="1499616" cy="365760"/>
          </a:xfrm>
          <a:prstGeom prst="rect">
            <a:avLst/>
          </a:prstGeom>
          <a:noFill/>
        </p:spPr>
        <p:txBody>
          <a:bodyPr wrap="square" lIns="0" rIns="0" tIns="0" bIns="0" anchor="t">
            <a:spAutoFit/>
          </a:bodyPr>
          <a:lstStyle/>
          <a:p>
            <a:pPr algn="ctr">
              <a:lnSpc>
                <a:spcPct val="100000"/>
              </a:lnSpc>
            </a:pPr>
            <a:r>
              <a:rPr sz="1500" b="1">
                <a:solidFill>
                  <a:srgbClr val="FFFFFF"/>
                </a:solidFill>
                <a:latin typeface="Arial"/>
              </a:rPr>
              <a:t>Close</a:t>
            </a:r>
          </a:p>
        </p:txBody>
      </p:sp>
      <p:sp>
        <p:nvSpPr>
          <p:cNvPr id="35" name="TextBox 34"/>
          <p:cNvSpPr txBox="1"/>
          <p:nvPr/>
        </p:nvSpPr>
        <p:spPr>
          <a:xfrm>
            <a:off x="10030967" y="3218688"/>
            <a:ext cx="1499616" cy="868680"/>
          </a:xfrm>
          <a:prstGeom prst="rect">
            <a:avLst/>
          </a:prstGeom>
          <a:noFill/>
        </p:spPr>
        <p:txBody>
          <a:bodyPr wrap="square" lIns="0" rIns="0" tIns="0" bIns="0" anchor="t">
            <a:spAutoFit/>
          </a:bodyPr>
          <a:lstStyle/>
          <a:p>
            <a:pPr algn="ctr">
              <a:lnSpc>
                <a:spcPct val="100000"/>
              </a:lnSpc>
            </a:pPr>
            <a:r>
              <a:rPr sz="1150" b="0">
                <a:solidFill>
                  <a:srgbClr val="FFFFFF"/>
                </a:solidFill>
                <a:latin typeface="Arial"/>
              </a:rPr>
              <a:t>Payment arrives in the ERP: task closes itself</a:t>
            </a:r>
          </a:p>
        </p:txBody>
      </p:sp>
      <p:sp>
        <p:nvSpPr>
          <p:cNvPr id="36" name="TextBox 35"/>
          <p:cNvSpPr txBox="1"/>
          <p:nvPr/>
        </p:nvSpPr>
        <p:spPr>
          <a:xfrm>
            <a:off x="548640" y="4224528"/>
            <a:ext cx="11064240" cy="274320"/>
          </a:xfrm>
          <a:prstGeom prst="rect">
            <a:avLst/>
          </a:prstGeom>
          <a:noFill/>
        </p:spPr>
        <p:txBody>
          <a:bodyPr wrap="square" lIns="0" rIns="0" tIns="0" bIns="0" anchor="t">
            <a:spAutoFit/>
          </a:bodyPr>
          <a:lstStyle/>
          <a:p>
            <a:pPr algn="l">
              <a:lnSpc>
                <a:spcPct val="100000"/>
              </a:lnSpc>
            </a:pPr>
            <a:r>
              <a:rPr sz="1000" b="0">
                <a:solidFill>
                  <a:srgbClr val="5F6670"/>
                </a:solidFill>
                <a:latin typeface="Arial"/>
              </a:rPr>
              <a:t>Example with demo data</a:t>
            </a:r>
          </a:p>
        </p:txBody>
      </p:sp>
      <p:sp>
        <p:nvSpPr>
          <p:cNvPr id="37" name="Oval 36"/>
          <p:cNvSpPr/>
          <p:nvPr/>
        </p:nvSpPr>
        <p:spPr>
          <a:xfrm>
            <a:off x="548640" y="4572000"/>
            <a:ext cx="548640" cy="548640"/>
          </a:xfrm>
          <a:prstGeom prst="ellipse">
            <a:avLst/>
          </a:prstGeom>
          <a:solidFill>
            <a:srgbClr val="E6F4EC"/>
          </a:solidFill>
          <a:ln>
            <a:noFill/>
          </a:ln>
          <a:effectLst/>
        </p:spPr>
        <p:txBody>
          <a:bodyPr rtlCol="0" anchor="ctr"/>
          <a:lstStyle/>
          <a:p>
            <a:pPr algn="ctr"/>
          </a:p>
        </p:txBody>
      </p:sp>
      <p:pic>
        <p:nvPicPr>
          <p:cNvPr id="38" name="Picture 37" descr="team_g.png"/>
          <p:cNvPicPr>
            <a:picLocks noChangeAspect="1"/>
          </p:cNvPicPr>
          <p:nvPr/>
        </p:nvPicPr>
        <p:blipFill>
          <a:blip r:embed="rId8"/>
          <a:stretch>
            <a:fillRect/>
          </a:stretch>
        </p:blipFill>
        <p:spPr>
          <a:xfrm>
            <a:off x="669340" y="4692700"/>
            <a:ext cx="307238" cy="307238"/>
          </a:xfrm>
          <a:prstGeom prst="rect">
            <a:avLst/>
          </a:prstGeom>
        </p:spPr>
      </p:pic>
      <p:sp>
        <p:nvSpPr>
          <p:cNvPr id="39" name="TextBox 38"/>
          <p:cNvSpPr txBox="1"/>
          <p:nvPr/>
        </p:nvSpPr>
        <p:spPr>
          <a:xfrm>
            <a:off x="1234440" y="4572000"/>
            <a:ext cx="4800600" cy="566928"/>
          </a:xfrm>
          <a:prstGeom prst="rect">
            <a:avLst/>
          </a:prstGeom>
          <a:noFill/>
        </p:spPr>
        <p:txBody>
          <a:bodyPr wrap="square" lIns="0" rIns="0" tIns="0" bIns="0" anchor="ctr">
            <a:spAutoFit/>
          </a:bodyPr>
          <a:lstStyle/>
          <a:p>
            <a:pPr algn="l">
              <a:lnSpc>
                <a:spcPct val="100000"/>
              </a:lnSpc>
            </a:pPr>
            <a:r>
              <a:rPr sz="1250" b="0">
                <a:solidFill>
                  <a:srgbClr val="23272B"/>
                </a:solidFill>
                <a:latin typeface="Arial"/>
              </a:rPr>
              <a:t>Speaks to each person in their own tone: formal with management, warm and friendly with reps</a:t>
            </a:r>
          </a:p>
        </p:txBody>
      </p:sp>
      <p:sp>
        <p:nvSpPr>
          <p:cNvPr id="40" name="Oval 39"/>
          <p:cNvSpPr/>
          <p:nvPr/>
        </p:nvSpPr>
        <p:spPr>
          <a:xfrm>
            <a:off x="6172200" y="4572000"/>
            <a:ext cx="548640" cy="548640"/>
          </a:xfrm>
          <a:prstGeom prst="ellipse">
            <a:avLst/>
          </a:prstGeom>
          <a:solidFill>
            <a:srgbClr val="E6F4EC"/>
          </a:solidFill>
          <a:ln>
            <a:noFill/>
          </a:ln>
          <a:effectLst/>
        </p:spPr>
        <p:txBody>
          <a:bodyPr rtlCol="0" anchor="ctr"/>
          <a:lstStyle/>
          <a:p>
            <a:pPr algn="ctr"/>
          </a:p>
        </p:txBody>
      </p:sp>
      <p:pic>
        <p:nvPicPr>
          <p:cNvPr id="41" name="Picture 40" descr="checkCircle_g.png"/>
          <p:cNvPicPr>
            <a:picLocks noChangeAspect="1"/>
          </p:cNvPicPr>
          <p:nvPr/>
        </p:nvPicPr>
        <p:blipFill>
          <a:blip r:embed="rId7"/>
          <a:stretch>
            <a:fillRect/>
          </a:stretch>
        </p:blipFill>
        <p:spPr>
          <a:xfrm>
            <a:off x="6292900" y="4692700"/>
            <a:ext cx="307238" cy="307238"/>
          </a:xfrm>
          <a:prstGeom prst="rect">
            <a:avLst/>
          </a:prstGeom>
        </p:spPr>
      </p:pic>
      <p:sp>
        <p:nvSpPr>
          <p:cNvPr id="42" name="TextBox 41"/>
          <p:cNvSpPr txBox="1"/>
          <p:nvPr/>
        </p:nvSpPr>
        <p:spPr>
          <a:xfrm>
            <a:off x="6858000" y="4572000"/>
            <a:ext cx="4800600" cy="566928"/>
          </a:xfrm>
          <a:prstGeom prst="rect">
            <a:avLst/>
          </a:prstGeom>
          <a:noFill/>
        </p:spPr>
        <p:txBody>
          <a:bodyPr wrap="square" lIns="0" rIns="0" tIns="0" bIns="0" anchor="ctr">
            <a:spAutoFit/>
          </a:bodyPr>
          <a:lstStyle/>
          <a:p>
            <a:pPr algn="l">
              <a:lnSpc>
                <a:spcPct val="100000"/>
              </a:lnSpc>
            </a:pPr>
            <a:r>
              <a:rPr sz="1250" b="0">
                <a:solidFill>
                  <a:srgbClr val="23272B"/>
                </a:solidFill>
                <a:latin typeface="Arial"/>
              </a:rPr>
              <a:t>Staff rate every message (helpful / not relevant), so he keeps improving</a:t>
            </a:r>
          </a:p>
        </p:txBody>
      </p:sp>
      <p:sp>
        <p:nvSpPr>
          <p:cNvPr id="43" name="Oval 42"/>
          <p:cNvSpPr/>
          <p:nvPr/>
        </p:nvSpPr>
        <p:spPr>
          <a:xfrm>
            <a:off x="548640" y="5376672"/>
            <a:ext cx="548640" cy="548640"/>
          </a:xfrm>
          <a:prstGeom prst="ellipse">
            <a:avLst/>
          </a:prstGeom>
          <a:solidFill>
            <a:srgbClr val="E6F4EC"/>
          </a:solidFill>
          <a:ln>
            <a:noFill/>
          </a:ln>
          <a:effectLst/>
        </p:spPr>
        <p:txBody>
          <a:bodyPr rtlCol="0" anchor="ctr"/>
          <a:lstStyle/>
          <a:p>
            <a:pPr algn="ctr"/>
          </a:p>
        </p:txBody>
      </p:sp>
      <p:pic>
        <p:nvPicPr>
          <p:cNvPr id="44" name="Picture 43" descr="calendar_g.png"/>
          <p:cNvPicPr>
            <a:picLocks noChangeAspect="1"/>
          </p:cNvPicPr>
          <p:nvPr/>
        </p:nvPicPr>
        <p:blipFill>
          <a:blip r:embed="rId9"/>
          <a:stretch>
            <a:fillRect/>
          </a:stretch>
        </p:blipFill>
        <p:spPr>
          <a:xfrm>
            <a:off x="669340" y="5497372"/>
            <a:ext cx="307238" cy="307238"/>
          </a:xfrm>
          <a:prstGeom prst="rect">
            <a:avLst/>
          </a:prstGeom>
        </p:spPr>
      </p:pic>
      <p:sp>
        <p:nvSpPr>
          <p:cNvPr id="45" name="TextBox 44"/>
          <p:cNvSpPr txBox="1"/>
          <p:nvPr/>
        </p:nvSpPr>
        <p:spPr>
          <a:xfrm>
            <a:off x="1234440" y="5376672"/>
            <a:ext cx="4800600" cy="566928"/>
          </a:xfrm>
          <a:prstGeom prst="rect">
            <a:avLst/>
          </a:prstGeom>
          <a:noFill/>
        </p:spPr>
        <p:txBody>
          <a:bodyPr wrap="square" lIns="0" rIns="0" tIns="0" bIns="0" anchor="ctr">
            <a:spAutoFit/>
          </a:bodyPr>
          <a:lstStyle/>
          <a:p>
            <a:pPr algn="l">
              <a:lnSpc>
                <a:spcPct val="100000"/>
              </a:lnSpc>
            </a:pPr>
            <a:r>
              <a:rPr sz="1250" b="0">
                <a:solidFill>
                  <a:srgbClr val="23272B"/>
                </a:solidFill>
                <a:latin typeface="Arial"/>
              </a:rPr>
              <a:t>Monday digest: each rep's week, and for management who needs a talk</a:t>
            </a:r>
          </a:p>
        </p:txBody>
      </p:sp>
      <p:sp>
        <p:nvSpPr>
          <p:cNvPr id="46" name="Oval 45"/>
          <p:cNvSpPr/>
          <p:nvPr/>
        </p:nvSpPr>
        <p:spPr>
          <a:xfrm>
            <a:off x="6172200" y="5376672"/>
            <a:ext cx="548640" cy="548640"/>
          </a:xfrm>
          <a:prstGeom prst="ellipse">
            <a:avLst/>
          </a:prstGeom>
          <a:solidFill>
            <a:srgbClr val="E6F4EC"/>
          </a:solidFill>
          <a:ln>
            <a:noFill/>
          </a:ln>
          <a:effectLst/>
        </p:spPr>
        <p:txBody>
          <a:bodyPr rtlCol="0" anchor="ctr"/>
          <a:lstStyle/>
          <a:p>
            <a:pPr algn="ctr"/>
          </a:p>
        </p:txBody>
      </p:sp>
      <p:pic>
        <p:nvPicPr>
          <p:cNvPr id="47" name="Picture 46" descr="shield_g.png"/>
          <p:cNvPicPr>
            <a:picLocks noChangeAspect="1"/>
          </p:cNvPicPr>
          <p:nvPr/>
        </p:nvPicPr>
        <p:blipFill>
          <a:blip r:embed="rId10"/>
          <a:stretch>
            <a:fillRect/>
          </a:stretch>
        </p:blipFill>
        <p:spPr>
          <a:xfrm>
            <a:off x="6292900" y="5497372"/>
            <a:ext cx="307238" cy="307238"/>
          </a:xfrm>
          <a:prstGeom prst="rect">
            <a:avLst/>
          </a:prstGeom>
        </p:spPr>
      </p:pic>
      <p:sp>
        <p:nvSpPr>
          <p:cNvPr id="48" name="TextBox 47"/>
          <p:cNvSpPr txBox="1"/>
          <p:nvPr/>
        </p:nvSpPr>
        <p:spPr>
          <a:xfrm>
            <a:off x="6858000" y="5376672"/>
            <a:ext cx="4800600" cy="566928"/>
          </a:xfrm>
          <a:prstGeom prst="rect">
            <a:avLst/>
          </a:prstGeom>
          <a:noFill/>
        </p:spPr>
        <p:txBody>
          <a:bodyPr wrap="square" lIns="0" rIns="0" tIns="0" bIns="0" anchor="ctr">
            <a:spAutoFit/>
          </a:bodyPr>
          <a:lstStyle/>
          <a:p>
            <a:pPr algn="l">
              <a:lnSpc>
                <a:spcPct val="100000"/>
              </a:lnSpc>
            </a:pPr>
            <a:r>
              <a:rPr sz="1250" b="0">
                <a:solidFill>
                  <a:srgbClr val="23272B"/>
                </a:solidFill>
                <a:latin typeface="Arial"/>
              </a:rPr>
              <a:t>Starts in test mode; management tunes every threshold before he goes live</a:t>
            </a:r>
          </a:p>
        </p:txBody>
      </p:sp>
      <p:cxnSp>
        <p:nvCxnSpPr>
          <p:cNvPr id="49" name="Connector 48"/>
          <p:cNvCxnSpPr/>
          <p:nvPr/>
        </p:nvCxnSpPr>
        <p:spPr>
          <a:xfrm>
            <a:off x="548640" y="6400800"/>
            <a:ext cx="11094415" cy="0"/>
          </a:xfrm>
          <a:prstGeom prst="line">
            <a:avLst/>
          </a:prstGeom>
          <a:ln w="9525">
            <a:solidFill>
              <a:srgbClr val="D9DEDB"/>
            </a:solidFill>
          </a:ln>
        </p:spPr>
      </p:cxnSp>
      <p:pic>
        <p:nvPicPr>
          <p:cNvPr id="50" name="Picture 49" descr="kad-wordmark.png"/>
          <p:cNvPicPr>
            <a:picLocks noChangeAspect="1"/>
          </p:cNvPicPr>
          <p:nvPr/>
        </p:nvPicPr>
        <p:blipFill>
          <a:blip r:embed="rId11"/>
          <a:stretch>
            <a:fillRect/>
          </a:stretch>
        </p:blipFill>
        <p:spPr>
          <a:xfrm>
            <a:off x="548640" y="6519672"/>
            <a:ext cx="759129" cy="155448"/>
          </a:xfrm>
          <a:prstGeom prst="rect">
            <a:avLst/>
          </a:prstGeom>
        </p:spPr>
      </p:pic>
      <p:sp>
        <p:nvSpPr>
          <p:cNvPr id="51" name="TextBox 50"/>
          <p:cNvSpPr txBox="1"/>
          <p:nvPr/>
        </p:nvSpPr>
        <p:spPr>
          <a:xfrm>
            <a:off x="1417320" y="6492240"/>
            <a:ext cx="6400800" cy="228600"/>
          </a:xfrm>
          <a:prstGeom prst="rect">
            <a:avLst/>
          </a:prstGeom>
          <a:noFill/>
        </p:spPr>
        <p:txBody>
          <a:bodyPr wrap="square" lIns="0" rIns="0" tIns="0" bIns="0" anchor="t">
            <a:spAutoFit/>
          </a:bodyPr>
          <a:lstStyle/>
          <a:p>
            <a:pPr algn="l">
              <a:lnSpc>
                <a:spcPct val="100000"/>
              </a:lnSpc>
            </a:pPr>
            <a:r>
              <a:rPr sz="900" b="0">
                <a:solidFill>
                  <a:srgbClr val="5F6670"/>
                </a:solidFill>
                <a:latin typeface="Arial"/>
              </a:rPr>
              <a:t>Digital Sales Platform for Castrol Distribution</a:t>
            </a:r>
          </a:p>
        </p:txBody>
      </p:sp>
      <p:sp>
        <p:nvSpPr>
          <p:cNvPr id="52" name="TextBox 51"/>
          <p:cNvSpPr txBox="1"/>
          <p:nvPr/>
        </p:nvSpPr>
        <p:spPr>
          <a:xfrm>
            <a:off x="10728655" y="6492240"/>
            <a:ext cx="914400" cy="228600"/>
          </a:xfrm>
          <a:prstGeom prst="rect">
            <a:avLst/>
          </a:prstGeom>
          <a:noFill/>
        </p:spPr>
        <p:txBody>
          <a:bodyPr wrap="square" lIns="0" rIns="0" tIns="0" bIns="0" anchor="t">
            <a:spAutoFit/>
          </a:bodyPr>
          <a:lstStyle/>
          <a:p>
            <a:pPr algn="r">
              <a:lnSpc>
                <a:spcPct val="100000"/>
              </a:lnSpc>
            </a:pPr>
            <a:r>
              <a:rPr sz="900" b="0">
                <a:solidFill>
                  <a:srgbClr val="5F6670"/>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347472"/>
            <a:ext cx="592531" cy="64008"/>
          </a:xfrm>
          <a:prstGeom prst="rect">
            <a:avLst/>
          </a:prstGeom>
          <a:solidFill>
            <a:srgbClr val="009343"/>
          </a:solidFill>
          <a:ln>
            <a:noFill/>
          </a:ln>
          <a:effectLst/>
        </p:spPr>
        <p:txBody>
          <a:bodyPr rtlCol="0" anchor="ctr"/>
          <a:lstStyle/>
          <a:p/>
        </p:txBody>
      </p:sp>
      <p:sp>
        <p:nvSpPr>
          <p:cNvPr id="3" name="Rectangle 2"/>
          <p:cNvSpPr/>
          <p:nvPr/>
        </p:nvSpPr>
        <p:spPr>
          <a:xfrm>
            <a:off x="1141171" y="347472"/>
            <a:ext cx="230428" cy="64008"/>
          </a:xfrm>
          <a:prstGeom prst="rect">
            <a:avLst/>
          </a:prstGeom>
          <a:solidFill>
            <a:srgbClr val="E2001A"/>
          </a:solidFill>
          <a:ln>
            <a:noFill/>
          </a:ln>
          <a:effectLst/>
        </p:spPr>
        <p:txBody>
          <a:bodyPr rtlCol="0" anchor="ctr"/>
          <a:lstStyle/>
          <a:p/>
        </p:txBody>
      </p:sp>
      <p:sp>
        <p:nvSpPr>
          <p:cNvPr id="4" name="TextBox 3"/>
          <p:cNvSpPr txBox="1"/>
          <p:nvPr/>
        </p:nvSpPr>
        <p:spPr>
          <a:xfrm>
            <a:off x="548640" y="502920"/>
            <a:ext cx="9144000" cy="274320"/>
          </a:xfrm>
          <a:prstGeom prst="rect">
            <a:avLst/>
          </a:prstGeom>
          <a:noFill/>
        </p:spPr>
        <p:txBody>
          <a:bodyPr wrap="square" lIns="0" rIns="0" tIns="0" bIns="0" anchor="t">
            <a:spAutoFit/>
          </a:bodyPr>
          <a:lstStyle/>
          <a:p>
            <a:pPr algn="l">
              <a:lnSpc>
                <a:spcPct val="100000"/>
              </a:lnSpc>
            </a:pPr>
            <a:r>
              <a:rPr sz="1200" b="1">
                <a:solidFill>
                  <a:srgbClr val="009343"/>
                </a:solidFill>
                <a:latin typeface="Arial"/>
              </a:rPr>
              <a:t>AI AND AUTOMATION</a:t>
            </a:r>
          </a:p>
        </p:txBody>
      </p:sp>
      <p:sp>
        <p:nvSpPr>
          <p:cNvPr id="5" name="TextBox 4"/>
          <p:cNvSpPr txBox="1"/>
          <p:nvPr/>
        </p:nvSpPr>
        <p:spPr>
          <a:xfrm>
            <a:off x="548640" y="777240"/>
            <a:ext cx="11064240" cy="914400"/>
          </a:xfrm>
          <a:prstGeom prst="rect">
            <a:avLst/>
          </a:prstGeom>
          <a:noFill/>
        </p:spPr>
        <p:txBody>
          <a:bodyPr wrap="square" lIns="0" rIns="0" tIns="0" bIns="0" anchor="t">
            <a:spAutoFit/>
          </a:bodyPr>
          <a:lstStyle/>
          <a:p>
            <a:pPr algn="l">
              <a:lnSpc>
                <a:spcPct val="95000"/>
              </a:lnSpc>
            </a:pPr>
            <a:r>
              <a:rPr sz="3000" b="1">
                <a:solidFill>
                  <a:srgbClr val="23272B"/>
                </a:solidFill>
                <a:latin typeface="Arial"/>
              </a:rPr>
              <a:t>AI and automatic calculations replace hours of manual work</a:t>
            </a:r>
          </a:p>
        </p:txBody>
      </p:sp>
      <p:sp>
        <p:nvSpPr>
          <p:cNvPr id="6" name="Rounded Rectangle 5"/>
          <p:cNvSpPr/>
          <p:nvPr/>
        </p:nvSpPr>
        <p:spPr>
          <a:xfrm>
            <a:off x="548640" y="1783080"/>
            <a:ext cx="4754880" cy="4389120"/>
          </a:xfrm>
          <a:prstGeom prst="roundRect">
            <a:avLst>
              <a:gd name="adj" fmla="val 3333"/>
            </a:avLst>
          </a:prstGeom>
          <a:solidFill>
            <a:srgbClr val="009343"/>
          </a:solidFill>
          <a:ln>
            <a:noFill/>
          </a:ln>
          <a:effectLst/>
        </p:spPr>
        <p:txBody>
          <a:bodyPr rtlCol="0" anchor="ctr"/>
          <a:lstStyle/>
          <a:p/>
        </p:txBody>
      </p:sp>
      <p:sp>
        <p:nvSpPr>
          <p:cNvPr id="7" name="Oval 6"/>
          <p:cNvSpPr/>
          <p:nvPr/>
        </p:nvSpPr>
        <p:spPr>
          <a:xfrm>
            <a:off x="868680" y="2057400"/>
            <a:ext cx="777240" cy="777240"/>
          </a:xfrm>
          <a:prstGeom prst="ellipse">
            <a:avLst/>
          </a:prstGeom>
          <a:solidFill>
            <a:srgbClr val="FFFFFF"/>
          </a:solidFill>
          <a:ln>
            <a:noFill/>
          </a:ln>
          <a:effectLst/>
        </p:spPr>
        <p:txBody>
          <a:bodyPr rtlCol="0" anchor="ctr"/>
          <a:lstStyle/>
          <a:p>
            <a:pPr algn="ctr"/>
          </a:p>
        </p:txBody>
      </p:sp>
      <p:pic>
        <p:nvPicPr>
          <p:cNvPr id="8" name="Picture 7" descr="sparkles_g.png"/>
          <p:cNvPicPr>
            <a:picLocks noChangeAspect="1"/>
          </p:cNvPicPr>
          <p:nvPr/>
        </p:nvPicPr>
        <p:blipFill>
          <a:blip r:embed="rId2"/>
          <a:stretch>
            <a:fillRect/>
          </a:stretch>
        </p:blipFill>
        <p:spPr>
          <a:xfrm>
            <a:off x="1039672" y="2228392"/>
            <a:ext cx="435254" cy="435254"/>
          </a:xfrm>
          <a:prstGeom prst="rect">
            <a:avLst/>
          </a:prstGeom>
        </p:spPr>
      </p:pic>
      <p:sp>
        <p:nvSpPr>
          <p:cNvPr id="9" name="TextBox 8"/>
          <p:cNvSpPr txBox="1"/>
          <p:nvPr/>
        </p:nvSpPr>
        <p:spPr>
          <a:xfrm>
            <a:off x="1828800" y="2103120"/>
            <a:ext cx="3291840" cy="731520"/>
          </a:xfrm>
          <a:prstGeom prst="rect">
            <a:avLst/>
          </a:prstGeom>
          <a:noFill/>
        </p:spPr>
        <p:txBody>
          <a:bodyPr wrap="square" lIns="0" rIns="0" tIns="0" bIns="0" anchor="ctr">
            <a:spAutoFit/>
          </a:bodyPr>
          <a:lstStyle/>
          <a:p>
            <a:pPr algn="l">
              <a:lnSpc>
                <a:spcPct val="100000"/>
              </a:lnSpc>
            </a:pPr>
            <a:r>
              <a:rPr sz="2100" b="1">
                <a:solidFill>
                  <a:srgbClr val="FFFFFF"/>
                </a:solidFill>
                <a:latin typeface="Arial"/>
              </a:rPr>
              <a:t>KAD AI: ask your data</a:t>
            </a:r>
          </a:p>
        </p:txBody>
      </p:sp>
      <p:sp>
        <p:nvSpPr>
          <p:cNvPr id="10" name="TextBox 9"/>
          <p:cNvSpPr txBox="1"/>
          <p:nvPr/>
        </p:nvSpPr>
        <p:spPr>
          <a:xfrm>
            <a:off x="868680" y="3063240"/>
            <a:ext cx="4206240" cy="914400"/>
          </a:xfrm>
          <a:prstGeom prst="rect">
            <a:avLst/>
          </a:prstGeom>
          <a:noFill/>
        </p:spPr>
        <p:txBody>
          <a:bodyPr wrap="square" lIns="0" rIns="0" tIns="0" bIns="0" anchor="t">
            <a:spAutoFit/>
          </a:bodyPr>
          <a:lstStyle/>
          <a:p>
            <a:pPr algn="l">
              <a:lnSpc>
                <a:spcPct val="100000"/>
              </a:lnSpc>
            </a:pPr>
            <a:r>
              <a:rPr sz="1350" b="0">
                <a:solidFill>
                  <a:srgbClr val="FFFFFF"/>
                </a:solidFill>
                <a:latin typeface="Arial"/>
              </a:rPr>
              <a:t>Management asks in plain language and gets an answer with numbers, in seconds:</a:t>
            </a:r>
          </a:p>
        </p:txBody>
      </p:sp>
      <p:sp>
        <p:nvSpPr>
          <p:cNvPr id="11" name="Rounded Rectangle 10"/>
          <p:cNvSpPr/>
          <p:nvPr/>
        </p:nvSpPr>
        <p:spPr>
          <a:xfrm>
            <a:off x="868680" y="3886200"/>
            <a:ext cx="4114800" cy="822960"/>
          </a:xfrm>
          <a:prstGeom prst="roundRect">
            <a:avLst>
              <a:gd name="adj" fmla="val 11111"/>
            </a:avLst>
          </a:prstGeom>
          <a:solidFill>
            <a:srgbClr val="006E32"/>
          </a:solidFill>
          <a:ln>
            <a:noFill/>
          </a:ln>
          <a:effectLst/>
        </p:spPr>
        <p:txBody>
          <a:bodyPr rtlCol="0" anchor="ctr"/>
          <a:lstStyle/>
          <a:p/>
        </p:txBody>
      </p:sp>
      <p:sp>
        <p:nvSpPr>
          <p:cNvPr id="12" name="TextBox 11"/>
          <p:cNvSpPr txBox="1"/>
          <p:nvPr/>
        </p:nvSpPr>
        <p:spPr>
          <a:xfrm>
            <a:off x="1051560" y="3886200"/>
            <a:ext cx="3749039" cy="822960"/>
          </a:xfrm>
          <a:prstGeom prst="rect">
            <a:avLst/>
          </a:prstGeom>
          <a:noFill/>
        </p:spPr>
        <p:txBody>
          <a:bodyPr wrap="square" lIns="0" rIns="0" tIns="0" bIns="0" anchor="ctr">
            <a:spAutoFit/>
          </a:bodyPr>
          <a:lstStyle/>
          <a:p>
            <a:pPr algn="l">
              <a:lnSpc>
                <a:spcPct val="100000"/>
              </a:lnSpc>
            </a:pPr>
            <a:r>
              <a:rPr sz="1250" b="1">
                <a:solidFill>
                  <a:srgbClr val="FFFFFF"/>
                </a:solidFill>
                <a:latin typeface="Arial"/>
              </a:rPr>
              <a:t>“Which customers bought less EDGE this quarter than last, and who is their rep?”</a:t>
            </a:r>
          </a:p>
        </p:txBody>
      </p:sp>
      <p:sp>
        <p:nvSpPr>
          <p:cNvPr id="13" name="TextBox 12"/>
          <p:cNvSpPr txBox="1"/>
          <p:nvPr/>
        </p:nvSpPr>
        <p:spPr>
          <a:xfrm>
            <a:off x="868680" y="4892040"/>
            <a:ext cx="4206240" cy="1188720"/>
          </a:xfrm>
          <a:prstGeom prst="rect">
            <a:avLst/>
          </a:prstGeom>
          <a:noFill/>
        </p:spPr>
        <p:txBody>
          <a:bodyPr wrap="square" lIns="0" rIns="0" tIns="0" bIns="0" anchor="t">
            <a:spAutoFit/>
          </a:bodyPr>
          <a:lstStyle/>
          <a:p>
            <a:pPr algn="l">
              <a:lnSpc>
                <a:spcPct val="100000"/>
              </a:lnSpc>
            </a:pPr>
            <a:r>
              <a:rPr sz="1200" b="0">
                <a:solidFill>
                  <a:srgbClr val="FFFFFF"/>
                </a:solidFill>
                <a:latin typeface="Arial"/>
              </a:rPr>
              <a:t>Read-only access to the data</a:t>
            </a:r>
          </a:p>
          <a:p>
            <a:pPr algn="l">
              <a:lnSpc>
                <a:spcPct val="100000"/>
              </a:lnSpc>
              <a:spcBef>
                <a:spcPts val="400"/>
              </a:spcBef>
            </a:pPr>
            <a:r>
              <a:rPr sz="1200" b="0">
                <a:solidFill>
                  <a:srgbClr val="FFFFFF"/>
                </a:solidFill>
                <a:latin typeface="Arial"/>
              </a:rPr>
              <a:t>Customers and staff anonymised as codes</a:t>
            </a:r>
          </a:p>
          <a:p>
            <a:pPr algn="l">
              <a:lnSpc>
                <a:spcPct val="100000"/>
              </a:lnSpc>
              <a:spcBef>
                <a:spcPts val="400"/>
              </a:spcBef>
            </a:pPr>
            <a:r>
              <a:rPr sz="1200" b="0">
                <a:solidFill>
                  <a:srgbClr val="FFFFFF"/>
                </a:solidFill>
                <a:latin typeface="Arial"/>
              </a:rPr>
              <a:t>Monthly cost cap, every question logged</a:t>
            </a:r>
          </a:p>
        </p:txBody>
      </p:sp>
      <p:sp>
        <p:nvSpPr>
          <p:cNvPr id="14" name="TextBox 13"/>
          <p:cNvSpPr txBox="1"/>
          <p:nvPr/>
        </p:nvSpPr>
        <p:spPr>
          <a:xfrm>
            <a:off x="5669280" y="1783080"/>
            <a:ext cx="5943600" cy="274320"/>
          </a:xfrm>
          <a:prstGeom prst="rect">
            <a:avLst/>
          </a:prstGeom>
          <a:noFill/>
        </p:spPr>
        <p:txBody>
          <a:bodyPr wrap="square" lIns="0" rIns="0" tIns="0" bIns="0" anchor="t">
            <a:spAutoFit/>
          </a:bodyPr>
          <a:lstStyle/>
          <a:p>
            <a:pPr algn="l">
              <a:lnSpc>
                <a:spcPct val="100000"/>
              </a:lnSpc>
            </a:pPr>
            <a:r>
              <a:rPr sz="1200" b="1">
                <a:solidFill>
                  <a:srgbClr val="5F6670"/>
                </a:solidFill>
                <a:latin typeface="Arial"/>
              </a:rPr>
              <a:t>CALCULATED AUTOMATICALLY</a:t>
            </a:r>
          </a:p>
        </p:txBody>
      </p:sp>
      <p:pic>
        <p:nvPicPr>
          <p:cNvPr id="15" name="Picture 14" descr="checkCircle_g.png"/>
          <p:cNvPicPr>
            <a:picLocks noChangeAspect="1"/>
          </p:cNvPicPr>
          <p:nvPr/>
        </p:nvPicPr>
        <p:blipFill>
          <a:blip r:embed="rId3"/>
          <a:stretch>
            <a:fillRect/>
          </a:stretch>
        </p:blipFill>
        <p:spPr>
          <a:xfrm>
            <a:off x="5669280" y="2176272"/>
            <a:ext cx="274320" cy="274320"/>
          </a:xfrm>
          <a:prstGeom prst="rect">
            <a:avLst/>
          </a:prstGeom>
        </p:spPr>
      </p:pic>
      <p:sp>
        <p:nvSpPr>
          <p:cNvPr id="16" name="TextBox 15"/>
          <p:cNvSpPr txBox="1"/>
          <p:nvPr/>
        </p:nvSpPr>
        <p:spPr>
          <a:xfrm>
            <a:off x="6080760" y="2148840"/>
            <a:ext cx="5577840" cy="365760"/>
          </a:xfrm>
          <a:prstGeom prst="rect">
            <a:avLst/>
          </a:prstGeom>
          <a:noFill/>
        </p:spPr>
        <p:txBody>
          <a:bodyPr wrap="square" lIns="0" rIns="0" tIns="0" bIns="0" anchor="t">
            <a:spAutoFit/>
          </a:bodyPr>
          <a:lstStyle/>
          <a:p>
            <a:pPr algn="l">
              <a:lnSpc>
                <a:spcPct val="100000"/>
              </a:lnSpc>
            </a:pPr>
            <a:r>
              <a:rPr sz="1250" b="0">
                <a:solidFill>
                  <a:srgbClr val="23272B"/>
                </a:solidFill>
                <a:latin typeface="Arial"/>
              </a:rPr>
              <a:t>Landing cost per product: freight, customs, excise, VAT, FX</a:t>
            </a:r>
          </a:p>
        </p:txBody>
      </p:sp>
      <p:pic>
        <p:nvPicPr>
          <p:cNvPr id="17" name="Picture 16" descr="checkCircle_g.png"/>
          <p:cNvPicPr>
            <a:picLocks noChangeAspect="1"/>
          </p:cNvPicPr>
          <p:nvPr/>
        </p:nvPicPr>
        <p:blipFill>
          <a:blip r:embed="rId3"/>
          <a:stretch>
            <a:fillRect/>
          </a:stretch>
        </p:blipFill>
        <p:spPr>
          <a:xfrm>
            <a:off x="5669280" y="2578608"/>
            <a:ext cx="274320" cy="274320"/>
          </a:xfrm>
          <a:prstGeom prst="rect">
            <a:avLst/>
          </a:prstGeom>
        </p:spPr>
      </p:pic>
      <p:sp>
        <p:nvSpPr>
          <p:cNvPr id="18" name="TextBox 17"/>
          <p:cNvSpPr txBox="1"/>
          <p:nvPr/>
        </p:nvSpPr>
        <p:spPr>
          <a:xfrm>
            <a:off x="6080760" y="2551176"/>
            <a:ext cx="5577840" cy="365760"/>
          </a:xfrm>
          <a:prstGeom prst="rect">
            <a:avLst/>
          </a:prstGeom>
          <a:noFill/>
        </p:spPr>
        <p:txBody>
          <a:bodyPr wrap="square" lIns="0" rIns="0" tIns="0" bIns="0" anchor="t">
            <a:spAutoFit/>
          </a:bodyPr>
          <a:lstStyle/>
          <a:p>
            <a:pPr algn="l">
              <a:lnSpc>
                <a:spcPct val="100000"/>
              </a:lnSpc>
            </a:pPr>
            <a:r>
              <a:rPr sz="1250" b="0">
                <a:solidFill>
                  <a:srgbClr val="23272B"/>
                </a:solidFill>
                <a:latin typeface="Arial"/>
              </a:rPr>
              <a:t>True cost at the selling price, for every discount decision</a:t>
            </a:r>
          </a:p>
        </p:txBody>
      </p:sp>
      <p:pic>
        <p:nvPicPr>
          <p:cNvPr id="19" name="Picture 18" descr="checkCircle_g.png"/>
          <p:cNvPicPr>
            <a:picLocks noChangeAspect="1"/>
          </p:cNvPicPr>
          <p:nvPr/>
        </p:nvPicPr>
        <p:blipFill>
          <a:blip r:embed="rId3"/>
          <a:stretch>
            <a:fillRect/>
          </a:stretch>
        </p:blipFill>
        <p:spPr>
          <a:xfrm>
            <a:off x="5669280" y="2980944"/>
            <a:ext cx="274320" cy="274320"/>
          </a:xfrm>
          <a:prstGeom prst="rect">
            <a:avLst/>
          </a:prstGeom>
        </p:spPr>
      </p:pic>
      <p:sp>
        <p:nvSpPr>
          <p:cNvPr id="20" name="TextBox 19"/>
          <p:cNvSpPr txBox="1"/>
          <p:nvPr/>
        </p:nvSpPr>
        <p:spPr>
          <a:xfrm>
            <a:off x="6080760" y="2953512"/>
            <a:ext cx="5577840" cy="365760"/>
          </a:xfrm>
          <a:prstGeom prst="rect">
            <a:avLst/>
          </a:prstGeom>
          <a:noFill/>
        </p:spPr>
        <p:txBody>
          <a:bodyPr wrap="square" lIns="0" rIns="0" tIns="0" bIns="0" anchor="t">
            <a:spAutoFit/>
          </a:bodyPr>
          <a:lstStyle/>
          <a:p>
            <a:pPr algn="l">
              <a:lnSpc>
                <a:spcPct val="100000"/>
              </a:lnSpc>
            </a:pPr>
            <a:r>
              <a:rPr sz="1250" b="0">
                <a:solidFill>
                  <a:srgbClr val="23272B"/>
                </a:solidFill>
                <a:latin typeface="Arial"/>
              </a:rPr>
              <a:t>Debt ageing per invoice and days past due per customer</a:t>
            </a:r>
          </a:p>
        </p:txBody>
      </p:sp>
      <p:pic>
        <p:nvPicPr>
          <p:cNvPr id="21" name="Picture 20" descr="checkCircle_g.png"/>
          <p:cNvPicPr>
            <a:picLocks noChangeAspect="1"/>
          </p:cNvPicPr>
          <p:nvPr/>
        </p:nvPicPr>
        <p:blipFill>
          <a:blip r:embed="rId3"/>
          <a:stretch>
            <a:fillRect/>
          </a:stretch>
        </p:blipFill>
        <p:spPr>
          <a:xfrm>
            <a:off x="5669280" y="3383279"/>
            <a:ext cx="274320" cy="274320"/>
          </a:xfrm>
          <a:prstGeom prst="rect">
            <a:avLst/>
          </a:prstGeom>
        </p:spPr>
      </p:pic>
      <p:sp>
        <p:nvSpPr>
          <p:cNvPr id="22" name="TextBox 21"/>
          <p:cNvSpPr txBox="1"/>
          <p:nvPr/>
        </p:nvSpPr>
        <p:spPr>
          <a:xfrm>
            <a:off x="6080760" y="3355848"/>
            <a:ext cx="5577840" cy="365760"/>
          </a:xfrm>
          <a:prstGeom prst="rect">
            <a:avLst/>
          </a:prstGeom>
          <a:noFill/>
        </p:spPr>
        <p:txBody>
          <a:bodyPr wrap="square" lIns="0" rIns="0" tIns="0" bIns="0" anchor="t">
            <a:spAutoFit/>
          </a:bodyPr>
          <a:lstStyle/>
          <a:p>
            <a:pPr algn="l">
              <a:lnSpc>
                <a:spcPct val="100000"/>
              </a:lnSpc>
            </a:pPr>
            <a:r>
              <a:rPr sz="1250" b="0">
                <a:solidFill>
                  <a:srgbClr val="23272B"/>
                </a:solidFill>
                <a:latin typeface="Arial"/>
              </a:rPr>
              <a:t>Suggested credit limit from each customer's purchases</a:t>
            </a:r>
          </a:p>
        </p:txBody>
      </p:sp>
      <p:pic>
        <p:nvPicPr>
          <p:cNvPr id="23" name="Picture 22" descr="checkCircle_g.png"/>
          <p:cNvPicPr>
            <a:picLocks noChangeAspect="1"/>
          </p:cNvPicPr>
          <p:nvPr/>
        </p:nvPicPr>
        <p:blipFill>
          <a:blip r:embed="rId3"/>
          <a:stretch>
            <a:fillRect/>
          </a:stretch>
        </p:blipFill>
        <p:spPr>
          <a:xfrm>
            <a:off x="5669280" y="3785616"/>
            <a:ext cx="274320" cy="274320"/>
          </a:xfrm>
          <a:prstGeom prst="rect">
            <a:avLst/>
          </a:prstGeom>
        </p:spPr>
      </p:pic>
      <p:sp>
        <p:nvSpPr>
          <p:cNvPr id="24" name="TextBox 23"/>
          <p:cNvSpPr txBox="1"/>
          <p:nvPr/>
        </p:nvSpPr>
        <p:spPr>
          <a:xfrm>
            <a:off x="6080760" y="3758184"/>
            <a:ext cx="5577840" cy="365760"/>
          </a:xfrm>
          <a:prstGeom prst="rect">
            <a:avLst/>
          </a:prstGeom>
          <a:noFill/>
        </p:spPr>
        <p:txBody>
          <a:bodyPr wrap="square" lIns="0" rIns="0" tIns="0" bIns="0" anchor="t">
            <a:spAutoFit/>
          </a:bodyPr>
          <a:lstStyle/>
          <a:p>
            <a:pPr algn="l">
              <a:lnSpc>
                <a:spcPct val="100000"/>
              </a:lnSpc>
            </a:pPr>
            <a:r>
              <a:rPr sz="1250" b="0">
                <a:solidFill>
                  <a:srgbClr val="23272B"/>
                </a:solidFill>
                <a:latin typeface="Arial"/>
              </a:rPr>
              <a:t>Each customer's order rhythm and usual basket</a:t>
            </a:r>
          </a:p>
        </p:txBody>
      </p:sp>
      <p:pic>
        <p:nvPicPr>
          <p:cNvPr id="25" name="Picture 24" descr="checkCircle_g.png"/>
          <p:cNvPicPr>
            <a:picLocks noChangeAspect="1"/>
          </p:cNvPicPr>
          <p:nvPr/>
        </p:nvPicPr>
        <p:blipFill>
          <a:blip r:embed="rId3"/>
          <a:stretch>
            <a:fillRect/>
          </a:stretch>
        </p:blipFill>
        <p:spPr>
          <a:xfrm>
            <a:off x="5669280" y="4187952"/>
            <a:ext cx="274320" cy="274320"/>
          </a:xfrm>
          <a:prstGeom prst="rect">
            <a:avLst/>
          </a:prstGeom>
        </p:spPr>
      </p:pic>
      <p:sp>
        <p:nvSpPr>
          <p:cNvPr id="26" name="TextBox 25"/>
          <p:cNvSpPr txBox="1"/>
          <p:nvPr/>
        </p:nvSpPr>
        <p:spPr>
          <a:xfrm>
            <a:off x="6080760" y="4160520"/>
            <a:ext cx="5577840" cy="365760"/>
          </a:xfrm>
          <a:prstGeom prst="rect">
            <a:avLst/>
          </a:prstGeom>
          <a:noFill/>
        </p:spPr>
        <p:txBody>
          <a:bodyPr wrap="square" lIns="0" rIns="0" tIns="0" bIns="0" anchor="t">
            <a:spAutoFit/>
          </a:bodyPr>
          <a:lstStyle/>
          <a:p>
            <a:pPr algn="l">
              <a:lnSpc>
                <a:spcPct val="100000"/>
              </a:lnSpc>
            </a:pPr>
            <a:r>
              <a:rPr sz="1250" b="0">
                <a:solidFill>
                  <a:srgbClr val="23272B"/>
                </a:solidFill>
                <a:latin typeface="Arial"/>
              </a:rPr>
              <a:t>Days of stock and a ready reorder list</a:t>
            </a:r>
          </a:p>
        </p:txBody>
      </p:sp>
      <p:pic>
        <p:nvPicPr>
          <p:cNvPr id="27" name="Picture 26" descr="checkCircle_g.png"/>
          <p:cNvPicPr>
            <a:picLocks noChangeAspect="1"/>
          </p:cNvPicPr>
          <p:nvPr/>
        </p:nvPicPr>
        <p:blipFill>
          <a:blip r:embed="rId3"/>
          <a:stretch>
            <a:fillRect/>
          </a:stretch>
        </p:blipFill>
        <p:spPr>
          <a:xfrm>
            <a:off x="5669280" y="4590288"/>
            <a:ext cx="274320" cy="274320"/>
          </a:xfrm>
          <a:prstGeom prst="rect">
            <a:avLst/>
          </a:prstGeom>
        </p:spPr>
      </p:pic>
      <p:sp>
        <p:nvSpPr>
          <p:cNvPr id="28" name="TextBox 27"/>
          <p:cNvSpPr txBox="1"/>
          <p:nvPr/>
        </p:nvSpPr>
        <p:spPr>
          <a:xfrm>
            <a:off x="6080760" y="4562856"/>
            <a:ext cx="5577840" cy="365760"/>
          </a:xfrm>
          <a:prstGeom prst="rect">
            <a:avLst/>
          </a:prstGeom>
          <a:noFill/>
        </p:spPr>
        <p:txBody>
          <a:bodyPr wrap="square" lIns="0" rIns="0" tIns="0" bIns="0" anchor="t">
            <a:spAutoFit/>
          </a:bodyPr>
          <a:lstStyle/>
          <a:p>
            <a:pPr algn="l">
              <a:lnSpc>
                <a:spcPct val="100000"/>
              </a:lnSpc>
            </a:pPr>
            <a:r>
              <a:rPr sz="1250" b="0">
                <a:solidFill>
                  <a:srgbClr val="23272B"/>
                </a:solidFill>
                <a:latin typeface="Arial"/>
              </a:rPr>
              <a:t>Rep hours, visits, conversion and weekly scorecard</a:t>
            </a:r>
          </a:p>
        </p:txBody>
      </p:sp>
      <p:pic>
        <p:nvPicPr>
          <p:cNvPr id="29" name="Picture 28" descr="checkCircle_g.png"/>
          <p:cNvPicPr>
            <a:picLocks noChangeAspect="1"/>
          </p:cNvPicPr>
          <p:nvPr/>
        </p:nvPicPr>
        <p:blipFill>
          <a:blip r:embed="rId3"/>
          <a:stretch>
            <a:fillRect/>
          </a:stretch>
        </p:blipFill>
        <p:spPr>
          <a:xfrm>
            <a:off x="5669280" y="4992624"/>
            <a:ext cx="274320" cy="274320"/>
          </a:xfrm>
          <a:prstGeom prst="rect">
            <a:avLst/>
          </a:prstGeom>
        </p:spPr>
      </p:pic>
      <p:sp>
        <p:nvSpPr>
          <p:cNvPr id="30" name="TextBox 29"/>
          <p:cNvSpPr txBox="1"/>
          <p:nvPr/>
        </p:nvSpPr>
        <p:spPr>
          <a:xfrm>
            <a:off x="6080760" y="4965192"/>
            <a:ext cx="5577840" cy="365760"/>
          </a:xfrm>
          <a:prstGeom prst="rect">
            <a:avLst/>
          </a:prstGeom>
          <a:noFill/>
        </p:spPr>
        <p:txBody>
          <a:bodyPr wrap="square" lIns="0" rIns="0" tIns="0" bIns="0" anchor="t">
            <a:spAutoFit/>
          </a:bodyPr>
          <a:lstStyle/>
          <a:p>
            <a:pPr algn="l">
              <a:lnSpc>
                <a:spcPct val="100000"/>
              </a:lnSpc>
            </a:pPr>
            <a:r>
              <a:rPr sz="1250" b="0">
                <a:solidFill>
                  <a:srgbClr val="23272B"/>
                </a:solidFill>
                <a:latin typeface="Arial"/>
              </a:rPr>
              <a:t>Fuel allowance from the real GPS route</a:t>
            </a:r>
          </a:p>
        </p:txBody>
      </p:sp>
      <p:pic>
        <p:nvPicPr>
          <p:cNvPr id="31" name="Picture 30" descr="checkCircle_g.png"/>
          <p:cNvPicPr>
            <a:picLocks noChangeAspect="1"/>
          </p:cNvPicPr>
          <p:nvPr/>
        </p:nvPicPr>
        <p:blipFill>
          <a:blip r:embed="rId3"/>
          <a:stretch>
            <a:fillRect/>
          </a:stretch>
        </p:blipFill>
        <p:spPr>
          <a:xfrm>
            <a:off x="5669280" y="5394960"/>
            <a:ext cx="274320" cy="274320"/>
          </a:xfrm>
          <a:prstGeom prst="rect">
            <a:avLst/>
          </a:prstGeom>
        </p:spPr>
      </p:pic>
      <p:sp>
        <p:nvSpPr>
          <p:cNvPr id="32" name="TextBox 31"/>
          <p:cNvSpPr txBox="1"/>
          <p:nvPr/>
        </p:nvSpPr>
        <p:spPr>
          <a:xfrm>
            <a:off x="6080760" y="5367528"/>
            <a:ext cx="5577840" cy="365760"/>
          </a:xfrm>
          <a:prstGeom prst="rect">
            <a:avLst/>
          </a:prstGeom>
          <a:noFill/>
        </p:spPr>
        <p:txBody>
          <a:bodyPr wrap="square" lIns="0" rIns="0" tIns="0" bIns="0" anchor="t">
            <a:spAutoFit/>
          </a:bodyPr>
          <a:lstStyle/>
          <a:p>
            <a:pPr algn="l">
              <a:lnSpc>
                <a:spcPct val="100000"/>
              </a:lnSpc>
            </a:pPr>
            <a:r>
              <a:rPr sz="1250" b="0">
                <a:solidFill>
                  <a:srgbClr val="23272B"/>
                </a:solidFill>
                <a:latin typeface="Arial"/>
              </a:rPr>
              <a:t>ERP orders and payments matched to app records</a:t>
            </a:r>
          </a:p>
        </p:txBody>
      </p:sp>
      <p:pic>
        <p:nvPicPr>
          <p:cNvPr id="33" name="Picture 32" descr="checkCircle_g.png"/>
          <p:cNvPicPr>
            <a:picLocks noChangeAspect="1"/>
          </p:cNvPicPr>
          <p:nvPr/>
        </p:nvPicPr>
        <p:blipFill>
          <a:blip r:embed="rId3"/>
          <a:stretch>
            <a:fillRect/>
          </a:stretch>
        </p:blipFill>
        <p:spPr>
          <a:xfrm>
            <a:off x="5669280" y="5797296"/>
            <a:ext cx="274320" cy="274320"/>
          </a:xfrm>
          <a:prstGeom prst="rect">
            <a:avLst/>
          </a:prstGeom>
        </p:spPr>
      </p:pic>
      <p:sp>
        <p:nvSpPr>
          <p:cNvPr id="34" name="TextBox 33"/>
          <p:cNvSpPr txBox="1"/>
          <p:nvPr/>
        </p:nvSpPr>
        <p:spPr>
          <a:xfrm>
            <a:off x="6080760" y="5769864"/>
            <a:ext cx="5577840" cy="365760"/>
          </a:xfrm>
          <a:prstGeom prst="rect">
            <a:avLst/>
          </a:prstGeom>
          <a:noFill/>
        </p:spPr>
        <p:txBody>
          <a:bodyPr wrap="square" lIns="0" rIns="0" tIns="0" bIns="0" anchor="t">
            <a:spAutoFit/>
          </a:bodyPr>
          <a:lstStyle/>
          <a:p>
            <a:pPr algn="l">
              <a:lnSpc>
                <a:spcPct val="100000"/>
              </a:lnSpc>
            </a:pPr>
            <a:r>
              <a:rPr sz="1250" b="0">
                <a:solidFill>
                  <a:srgbClr val="23272B"/>
                </a:solidFill>
                <a:latin typeface="Arial"/>
              </a:rPr>
              <a:t>FX moves 2%? A price-review task for the owners</a:t>
            </a:r>
          </a:p>
        </p:txBody>
      </p:sp>
      <p:cxnSp>
        <p:nvCxnSpPr>
          <p:cNvPr id="35" name="Connector 34"/>
          <p:cNvCxnSpPr/>
          <p:nvPr/>
        </p:nvCxnSpPr>
        <p:spPr>
          <a:xfrm>
            <a:off x="548640" y="6400800"/>
            <a:ext cx="11094415" cy="0"/>
          </a:xfrm>
          <a:prstGeom prst="line">
            <a:avLst/>
          </a:prstGeom>
          <a:ln w="9525">
            <a:solidFill>
              <a:srgbClr val="D9DEDB"/>
            </a:solidFill>
          </a:ln>
        </p:spPr>
      </p:cxnSp>
      <p:pic>
        <p:nvPicPr>
          <p:cNvPr id="36" name="Picture 35" descr="kad-wordmark.png"/>
          <p:cNvPicPr>
            <a:picLocks noChangeAspect="1"/>
          </p:cNvPicPr>
          <p:nvPr/>
        </p:nvPicPr>
        <p:blipFill>
          <a:blip r:embed="rId4"/>
          <a:stretch>
            <a:fillRect/>
          </a:stretch>
        </p:blipFill>
        <p:spPr>
          <a:xfrm>
            <a:off x="548640" y="6519672"/>
            <a:ext cx="759129" cy="155448"/>
          </a:xfrm>
          <a:prstGeom prst="rect">
            <a:avLst/>
          </a:prstGeom>
        </p:spPr>
      </p:pic>
      <p:sp>
        <p:nvSpPr>
          <p:cNvPr id="37" name="TextBox 36"/>
          <p:cNvSpPr txBox="1"/>
          <p:nvPr/>
        </p:nvSpPr>
        <p:spPr>
          <a:xfrm>
            <a:off x="1417320" y="6492240"/>
            <a:ext cx="6400800" cy="228600"/>
          </a:xfrm>
          <a:prstGeom prst="rect">
            <a:avLst/>
          </a:prstGeom>
          <a:noFill/>
        </p:spPr>
        <p:txBody>
          <a:bodyPr wrap="square" lIns="0" rIns="0" tIns="0" bIns="0" anchor="t">
            <a:spAutoFit/>
          </a:bodyPr>
          <a:lstStyle/>
          <a:p>
            <a:pPr algn="l">
              <a:lnSpc>
                <a:spcPct val="100000"/>
              </a:lnSpc>
            </a:pPr>
            <a:r>
              <a:rPr sz="900" b="0">
                <a:solidFill>
                  <a:srgbClr val="5F6670"/>
                </a:solidFill>
                <a:latin typeface="Arial"/>
              </a:rPr>
              <a:t>Digital Sales Platform for Castrol Distribution</a:t>
            </a:r>
          </a:p>
        </p:txBody>
      </p:sp>
      <p:sp>
        <p:nvSpPr>
          <p:cNvPr id="38" name="TextBox 37"/>
          <p:cNvSpPr txBox="1"/>
          <p:nvPr/>
        </p:nvSpPr>
        <p:spPr>
          <a:xfrm>
            <a:off x="10728655" y="6492240"/>
            <a:ext cx="914400" cy="228600"/>
          </a:xfrm>
          <a:prstGeom prst="rect">
            <a:avLst/>
          </a:prstGeom>
          <a:noFill/>
        </p:spPr>
        <p:txBody>
          <a:bodyPr wrap="square" lIns="0" rIns="0" tIns="0" bIns="0" anchor="t">
            <a:spAutoFit/>
          </a:bodyPr>
          <a:lstStyle/>
          <a:p>
            <a:pPr algn="r">
              <a:lnSpc>
                <a:spcPct val="100000"/>
              </a:lnSpc>
            </a:pPr>
            <a:r>
              <a:rPr sz="900" b="0">
                <a:solidFill>
                  <a:srgbClr val="5F6670"/>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347472"/>
            <a:ext cx="592531" cy="64008"/>
          </a:xfrm>
          <a:prstGeom prst="rect">
            <a:avLst/>
          </a:prstGeom>
          <a:solidFill>
            <a:srgbClr val="009343"/>
          </a:solidFill>
          <a:ln>
            <a:noFill/>
          </a:ln>
          <a:effectLst/>
        </p:spPr>
        <p:txBody>
          <a:bodyPr rtlCol="0" anchor="ctr"/>
          <a:lstStyle/>
          <a:p/>
        </p:txBody>
      </p:sp>
      <p:sp>
        <p:nvSpPr>
          <p:cNvPr id="3" name="Rectangle 2"/>
          <p:cNvSpPr/>
          <p:nvPr/>
        </p:nvSpPr>
        <p:spPr>
          <a:xfrm>
            <a:off x="1141171" y="347472"/>
            <a:ext cx="230428" cy="64008"/>
          </a:xfrm>
          <a:prstGeom prst="rect">
            <a:avLst/>
          </a:prstGeom>
          <a:solidFill>
            <a:srgbClr val="E2001A"/>
          </a:solidFill>
          <a:ln>
            <a:noFill/>
          </a:ln>
          <a:effectLst/>
        </p:spPr>
        <p:txBody>
          <a:bodyPr rtlCol="0" anchor="ctr"/>
          <a:lstStyle/>
          <a:p/>
        </p:txBody>
      </p:sp>
      <p:sp>
        <p:nvSpPr>
          <p:cNvPr id="4" name="TextBox 3"/>
          <p:cNvSpPr txBox="1"/>
          <p:nvPr/>
        </p:nvSpPr>
        <p:spPr>
          <a:xfrm>
            <a:off x="548640" y="502920"/>
            <a:ext cx="9144000" cy="274320"/>
          </a:xfrm>
          <a:prstGeom prst="rect">
            <a:avLst/>
          </a:prstGeom>
          <a:noFill/>
        </p:spPr>
        <p:txBody>
          <a:bodyPr wrap="square" lIns="0" rIns="0" tIns="0" bIns="0" anchor="t">
            <a:spAutoFit/>
          </a:bodyPr>
          <a:lstStyle/>
          <a:p>
            <a:pPr algn="l">
              <a:lnSpc>
                <a:spcPct val="100000"/>
              </a:lnSpc>
            </a:pPr>
            <a:r>
              <a:rPr sz="1200" b="1">
                <a:solidFill>
                  <a:srgbClr val="009343"/>
                </a:solidFill>
                <a:latin typeface="Arial"/>
              </a:rPr>
              <a:t>FINANCIAL AND MANAGEMENT REPORTS</a:t>
            </a:r>
          </a:p>
        </p:txBody>
      </p:sp>
      <p:sp>
        <p:nvSpPr>
          <p:cNvPr id="5" name="TextBox 4"/>
          <p:cNvSpPr txBox="1"/>
          <p:nvPr/>
        </p:nvSpPr>
        <p:spPr>
          <a:xfrm>
            <a:off x="548640" y="777240"/>
            <a:ext cx="11064240" cy="914400"/>
          </a:xfrm>
          <a:prstGeom prst="rect">
            <a:avLst/>
          </a:prstGeom>
          <a:noFill/>
        </p:spPr>
        <p:txBody>
          <a:bodyPr wrap="square" lIns="0" rIns="0" tIns="0" bIns="0" anchor="t">
            <a:spAutoFit/>
          </a:bodyPr>
          <a:lstStyle/>
          <a:p>
            <a:pPr algn="l">
              <a:lnSpc>
                <a:spcPct val="95000"/>
              </a:lnSpc>
            </a:pPr>
            <a:r>
              <a:rPr sz="3000" b="1">
                <a:solidFill>
                  <a:srgbClr val="23272B"/>
                </a:solidFill>
                <a:latin typeface="Arial"/>
              </a:rPr>
              <a:t>Every report a distributor needs, live and on the phone</a:t>
            </a:r>
          </a:p>
        </p:txBody>
      </p:sp>
      <p:pic>
        <p:nvPicPr>
          <p:cNvPr id="6" name="Picture 5" descr="reports.png"/>
          <p:cNvPicPr>
            <a:picLocks noChangeAspect="1"/>
          </p:cNvPicPr>
          <p:nvPr/>
        </p:nvPicPr>
        <p:blipFill>
          <a:blip r:embed="rId2"/>
          <a:stretch>
            <a:fillRect/>
          </a:stretch>
        </p:blipFill>
        <p:spPr>
          <a:xfrm>
            <a:off x="502920" y="1600200"/>
            <a:ext cx="2228070" cy="4572000"/>
          </a:xfrm>
          <a:prstGeom prst="rect">
            <a:avLst/>
          </a:prstGeom>
        </p:spPr>
      </p:pic>
      <p:sp>
        <p:nvSpPr>
          <p:cNvPr id="7" name="Rounded Rectangle 6"/>
          <p:cNvSpPr/>
          <p:nvPr/>
        </p:nvSpPr>
        <p:spPr>
          <a:xfrm>
            <a:off x="3017520" y="1691640"/>
            <a:ext cx="4160520" cy="2103120"/>
          </a:xfrm>
          <a:prstGeom prst="roundRect">
            <a:avLst>
              <a:gd name="adj" fmla="val 5217"/>
            </a:avLst>
          </a:prstGeom>
          <a:solidFill>
            <a:srgbClr val="F4F5F6"/>
          </a:solidFill>
          <a:ln>
            <a:noFill/>
          </a:ln>
          <a:effectLst/>
        </p:spPr>
        <p:txBody>
          <a:bodyPr rtlCol="0" anchor="ctr"/>
          <a:lstStyle/>
          <a:p/>
        </p:txBody>
      </p:sp>
      <p:sp>
        <p:nvSpPr>
          <p:cNvPr id="8" name="Oval 7"/>
          <p:cNvSpPr/>
          <p:nvPr/>
        </p:nvSpPr>
        <p:spPr>
          <a:xfrm>
            <a:off x="3200400" y="1856232"/>
            <a:ext cx="502920" cy="502920"/>
          </a:xfrm>
          <a:prstGeom prst="ellipse">
            <a:avLst/>
          </a:prstGeom>
          <a:solidFill>
            <a:srgbClr val="E6F4EC"/>
          </a:solidFill>
          <a:ln>
            <a:noFill/>
          </a:ln>
          <a:effectLst/>
        </p:spPr>
        <p:txBody>
          <a:bodyPr rtlCol="0" anchor="ctr"/>
          <a:lstStyle/>
          <a:p>
            <a:pPr algn="ctr"/>
          </a:p>
        </p:txBody>
      </p:sp>
      <p:pic>
        <p:nvPicPr>
          <p:cNvPr id="9" name="Picture 8" descr="wallet_g.png"/>
          <p:cNvPicPr>
            <a:picLocks noChangeAspect="1"/>
          </p:cNvPicPr>
          <p:nvPr/>
        </p:nvPicPr>
        <p:blipFill>
          <a:blip r:embed="rId3"/>
          <a:stretch>
            <a:fillRect/>
          </a:stretch>
        </p:blipFill>
        <p:spPr>
          <a:xfrm>
            <a:off x="3311042" y="1966874"/>
            <a:ext cx="281635" cy="281635"/>
          </a:xfrm>
          <a:prstGeom prst="rect">
            <a:avLst/>
          </a:prstGeom>
        </p:spPr>
      </p:pic>
      <p:sp>
        <p:nvSpPr>
          <p:cNvPr id="10" name="TextBox 9"/>
          <p:cNvSpPr txBox="1"/>
          <p:nvPr/>
        </p:nvSpPr>
        <p:spPr>
          <a:xfrm>
            <a:off x="3840480" y="1920240"/>
            <a:ext cx="3200400" cy="365760"/>
          </a:xfrm>
          <a:prstGeom prst="rect">
            <a:avLst/>
          </a:prstGeom>
          <a:noFill/>
        </p:spPr>
        <p:txBody>
          <a:bodyPr wrap="square" lIns="0" rIns="0" tIns="0" bIns="0" anchor="t">
            <a:spAutoFit/>
          </a:bodyPr>
          <a:lstStyle/>
          <a:p>
            <a:pPr algn="l">
              <a:lnSpc>
                <a:spcPct val="100000"/>
              </a:lnSpc>
            </a:pPr>
            <a:r>
              <a:rPr sz="1500" b="1">
                <a:solidFill>
                  <a:srgbClr val="23272B"/>
                </a:solidFill>
                <a:latin typeface="Arial"/>
              </a:rPr>
              <a:t>Money &amp; debt</a:t>
            </a:r>
          </a:p>
        </p:txBody>
      </p:sp>
      <p:sp>
        <p:nvSpPr>
          <p:cNvPr id="11" name="TextBox 10"/>
          <p:cNvSpPr txBox="1"/>
          <p:nvPr/>
        </p:nvSpPr>
        <p:spPr>
          <a:xfrm>
            <a:off x="3246120" y="2468880"/>
            <a:ext cx="3840480" cy="1325880"/>
          </a:xfrm>
          <a:prstGeom prst="rect">
            <a:avLst/>
          </a:prstGeom>
          <a:noFill/>
        </p:spPr>
        <p:txBody>
          <a:bodyPr wrap="square" lIns="0" rIns="0" tIns="0" bIns="0" anchor="t">
            <a:spAutoFit/>
          </a:bodyPr>
          <a:lstStyle/>
          <a:p>
            <a:pPr algn="l">
              <a:lnSpc>
                <a:spcPct val="100000"/>
              </a:lnSpc>
            </a:pPr>
            <a:r>
              <a:rPr sz="1150" b="0">
                <a:solidFill>
                  <a:srgbClr val="23272B"/>
                </a:solidFill>
                <a:latin typeface="Arial"/>
              </a:rPr>
              <a:t>Customer debt, as of any date</a:t>
            </a:r>
          </a:p>
          <a:p>
            <a:pPr algn="l">
              <a:lnSpc>
                <a:spcPct val="100000"/>
              </a:lnSpc>
              <a:spcBef>
                <a:spcPts val="150"/>
              </a:spcBef>
            </a:pPr>
            <a:r>
              <a:rPr sz="1150" b="0">
                <a:solidFill>
                  <a:srgbClr val="23272B"/>
                </a:solidFill>
                <a:latin typeface="Arial"/>
              </a:rPr>
              <a:t>Unpaid invoices by age</a:t>
            </a:r>
          </a:p>
          <a:p>
            <a:pPr algn="l">
              <a:lnSpc>
                <a:spcPct val="100000"/>
              </a:lnSpc>
              <a:spcBef>
                <a:spcPts val="150"/>
              </a:spcBef>
            </a:pPr>
            <a:r>
              <a:rPr sz="1150" b="0">
                <a:solidFill>
                  <a:srgbClr val="23272B"/>
                </a:solidFill>
                <a:latin typeface="Arial"/>
              </a:rPr>
              <a:t>Debt statement PDF for the customer</a:t>
            </a:r>
          </a:p>
          <a:p>
            <a:pPr algn="l">
              <a:lnSpc>
                <a:spcPct val="100000"/>
              </a:lnSpc>
              <a:spcBef>
                <a:spcPts val="150"/>
              </a:spcBef>
            </a:pPr>
            <a:r>
              <a:rPr sz="1150" b="0">
                <a:solidFill>
                  <a:srgbClr val="23272B"/>
                </a:solidFill>
                <a:latin typeface="Arial"/>
              </a:rPr>
              <a:t>Payments and cash custody</a:t>
            </a:r>
          </a:p>
          <a:p>
            <a:pPr algn="l">
              <a:lnSpc>
                <a:spcPct val="100000"/>
              </a:lnSpc>
              <a:spcBef>
                <a:spcPts val="150"/>
              </a:spcBef>
            </a:pPr>
            <a:r>
              <a:rPr sz="1150" b="0">
                <a:solidFill>
                  <a:srgbClr val="23272B"/>
                </a:solidFill>
                <a:latin typeface="Arial"/>
              </a:rPr>
              <a:t>Bank statement matching</a:t>
            </a:r>
          </a:p>
        </p:txBody>
      </p:sp>
      <p:sp>
        <p:nvSpPr>
          <p:cNvPr id="12" name="Rounded Rectangle 11"/>
          <p:cNvSpPr/>
          <p:nvPr/>
        </p:nvSpPr>
        <p:spPr>
          <a:xfrm>
            <a:off x="7360920" y="1691640"/>
            <a:ext cx="4160520" cy="2103120"/>
          </a:xfrm>
          <a:prstGeom prst="roundRect">
            <a:avLst>
              <a:gd name="adj" fmla="val 5217"/>
            </a:avLst>
          </a:prstGeom>
          <a:solidFill>
            <a:srgbClr val="F4F5F6"/>
          </a:solidFill>
          <a:ln>
            <a:noFill/>
          </a:ln>
          <a:effectLst/>
        </p:spPr>
        <p:txBody>
          <a:bodyPr rtlCol="0" anchor="ctr"/>
          <a:lstStyle/>
          <a:p/>
        </p:txBody>
      </p:sp>
      <p:sp>
        <p:nvSpPr>
          <p:cNvPr id="13" name="Oval 12"/>
          <p:cNvSpPr/>
          <p:nvPr/>
        </p:nvSpPr>
        <p:spPr>
          <a:xfrm>
            <a:off x="7543800" y="1856232"/>
            <a:ext cx="502920" cy="502920"/>
          </a:xfrm>
          <a:prstGeom prst="ellipse">
            <a:avLst/>
          </a:prstGeom>
          <a:solidFill>
            <a:srgbClr val="E6F4EC"/>
          </a:solidFill>
          <a:ln>
            <a:noFill/>
          </a:ln>
          <a:effectLst/>
        </p:spPr>
        <p:txBody>
          <a:bodyPr rtlCol="0" anchor="ctr"/>
          <a:lstStyle/>
          <a:p>
            <a:pPr algn="ctr"/>
          </a:p>
        </p:txBody>
      </p:sp>
      <p:pic>
        <p:nvPicPr>
          <p:cNvPr id="14" name="Picture 13" descr="chart_g.png"/>
          <p:cNvPicPr>
            <a:picLocks noChangeAspect="1"/>
          </p:cNvPicPr>
          <p:nvPr/>
        </p:nvPicPr>
        <p:blipFill>
          <a:blip r:embed="rId4"/>
          <a:stretch>
            <a:fillRect/>
          </a:stretch>
        </p:blipFill>
        <p:spPr>
          <a:xfrm>
            <a:off x="7654442" y="1966874"/>
            <a:ext cx="281635" cy="281635"/>
          </a:xfrm>
          <a:prstGeom prst="rect">
            <a:avLst/>
          </a:prstGeom>
        </p:spPr>
      </p:pic>
      <p:sp>
        <p:nvSpPr>
          <p:cNvPr id="15" name="TextBox 14"/>
          <p:cNvSpPr txBox="1"/>
          <p:nvPr/>
        </p:nvSpPr>
        <p:spPr>
          <a:xfrm>
            <a:off x="8183880" y="1920240"/>
            <a:ext cx="3200400" cy="365760"/>
          </a:xfrm>
          <a:prstGeom prst="rect">
            <a:avLst/>
          </a:prstGeom>
          <a:noFill/>
        </p:spPr>
        <p:txBody>
          <a:bodyPr wrap="square" lIns="0" rIns="0" tIns="0" bIns="0" anchor="t">
            <a:spAutoFit/>
          </a:bodyPr>
          <a:lstStyle/>
          <a:p>
            <a:pPr algn="l">
              <a:lnSpc>
                <a:spcPct val="100000"/>
              </a:lnSpc>
            </a:pPr>
            <a:r>
              <a:rPr sz="1500" b="1">
                <a:solidFill>
                  <a:srgbClr val="23272B"/>
                </a:solidFill>
                <a:latin typeface="Arial"/>
              </a:rPr>
              <a:t>Sales &amp; margin</a:t>
            </a:r>
          </a:p>
        </p:txBody>
      </p:sp>
      <p:sp>
        <p:nvSpPr>
          <p:cNvPr id="16" name="TextBox 15"/>
          <p:cNvSpPr txBox="1"/>
          <p:nvPr/>
        </p:nvSpPr>
        <p:spPr>
          <a:xfrm>
            <a:off x="7589520" y="2468880"/>
            <a:ext cx="3840480" cy="1325880"/>
          </a:xfrm>
          <a:prstGeom prst="rect">
            <a:avLst/>
          </a:prstGeom>
          <a:noFill/>
        </p:spPr>
        <p:txBody>
          <a:bodyPr wrap="square" lIns="0" rIns="0" tIns="0" bIns="0" anchor="t">
            <a:spAutoFit/>
          </a:bodyPr>
          <a:lstStyle/>
          <a:p>
            <a:pPr algn="l">
              <a:lnSpc>
                <a:spcPct val="100000"/>
              </a:lnSpc>
            </a:pPr>
            <a:r>
              <a:rPr sz="1150" b="0">
                <a:solidFill>
                  <a:srgbClr val="23272B"/>
                </a:solidFill>
                <a:latin typeface="Arial"/>
              </a:rPr>
              <a:t>Sales vs plan, by rep and channel</a:t>
            </a:r>
          </a:p>
          <a:p>
            <a:pPr algn="l">
              <a:lnSpc>
                <a:spcPct val="100000"/>
              </a:lnSpc>
              <a:spcBef>
                <a:spcPts val="150"/>
              </a:spcBef>
            </a:pPr>
            <a:r>
              <a:rPr sz="1150" b="0">
                <a:solidFill>
                  <a:srgbClr val="23272B"/>
                </a:solidFill>
                <a:latin typeface="Arial"/>
              </a:rPr>
              <a:t>Litres by product line and region</a:t>
            </a:r>
          </a:p>
          <a:p>
            <a:pPr algn="l">
              <a:lnSpc>
                <a:spcPct val="100000"/>
              </a:lnSpc>
              <a:spcBef>
                <a:spcPts val="150"/>
              </a:spcBef>
            </a:pPr>
            <a:r>
              <a:rPr sz="1150" b="0">
                <a:solidFill>
                  <a:srgbClr val="23272B"/>
                </a:solidFill>
                <a:latin typeface="Arial"/>
              </a:rPr>
              <a:t>Margin and price realisation</a:t>
            </a:r>
          </a:p>
          <a:p>
            <a:pPr algn="l">
              <a:lnSpc>
                <a:spcPct val="100000"/>
              </a:lnSpc>
              <a:spcBef>
                <a:spcPts val="150"/>
              </a:spcBef>
            </a:pPr>
            <a:r>
              <a:rPr sz="1150" b="0">
                <a:solidFill>
                  <a:srgbClr val="23272B"/>
                </a:solidFill>
                <a:latin typeface="Arial"/>
              </a:rPr>
              <a:t>Below-cost sales</a:t>
            </a:r>
          </a:p>
          <a:p>
            <a:pPr algn="l">
              <a:lnSpc>
                <a:spcPct val="100000"/>
              </a:lnSpc>
              <a:spcBef>
                <a:spcPts val="150"/>
              </a:spcBef>
            </a:pPr>
            <a:r>
              <a:rPr sz="1150" b="0">
                <a:solidFill>
                  <a:srgbClr val="23272B"/>
                </a:solidFill>
                <a:latin typeface="Arial"/>
              </a:rPr>
              <a:t>Brand volume</a:t>
            </a:r>
          </a:p>
        </p:txBody>
      </p:sp>
      <p:sp>
        <p:nvSpPr>
          <p:cNvPr id="17" name="Rounded Rectangle 16"/>
          <p:cNvSpPr/>
          <p:nvPr/>
        </p:nvSpPr>
        <p:spPr>
          <a:xfrm>
            <a:off x="3017520" y="3931920"/>
            <a:ext cx="4160520" cy="2103120"/>
          </a:xfrm>
          <a:prstGeom prst="roundRect">
            <a:avLst>
              <a:gd name="adj" fmla="val 5217"/>
            </a:avLst>
          </a:prstGeom>
          <a:solidFill>
            <a:srgbClr val="F4F5F6"/>
          </a:solidFill>
          <a:ln>
            <a:noFill/>
          </a:ln>
          <a:effectLst/>
        </p:spPr>
        <p:txBody>
          <a:bodyPr rtlCol="0" anchor="ctr"/>
          <a:lstStyle/>
          <a:p/>
        </p:txBody>
      </p:sp>
      <p:sp>
        <p:nvSpPr>
          <p:cNvPr id="18" name="Oval 17"/>
          <p:cNvSpPr/>
          <p:nvPr/>
        </p:nvSpPr>
        <p:spPr>
          <a:xfrm>
            <a:off x="3200400" y="4096512"/>
            <a:ext cx="502920" cy="502920"/>
          </a:xfrm>
          <a:prstGeom prst="ellipse">
            <a:avLst/>
          </a:prstGeom>
          <a:solidFill>
            <a:srgbClr val="E6F4EC"/>
          </a:solidFill>
          <a:ln>
            <a:noFill/>
          </a:ln>
          <a:effectLst/>
        </p:spPr>
        <p:txBody>
          <a:bodyPr rtlCol="0" anchor="ctr"/>
          <a:lstStyle/>
          <a:p>
            <a:pPr algn="ctr"/>
          </a:p>
        </p:txBody>
      </p:sp>
      <p:pic>
        <p:nvPicPr>
          <p:cNvPr id="19" name="Picture 18" descr="team_g.png"/>
          <p:cNvPicPr>
            <a:picLocks noChangeAspect="1"/>
          </p:cNvPicPr>
          <p:nvPr/>
        </p:nvPicPr>
        <p:blipFill>
          <a:blip r:embed="rId5"/>
          <a:stretch>
            <a:fillRect/>
          </a:stretch>
        </p:blipFill>
        <p:spPr>
          <a:xfrm>
            <a:off x="3311042" y="4207154"/>
            <a:ext cx="281635" cy="281635"/>
          </a:xfrm>
          <a:prstGeom prst="rect">
            <a:avLst/>
          </a:prstGeom>
        </p:spPr>
      </p:pic>
      <p:sp>
        <p:nvSpPr>
          <p:cNvPr id="20" name="TextBox 19"/>
          <p:cNvSpPr txBox="1"/>
          <p:nvPr/>
        </p:nvSpPr>
        <p:spPr>
          <a:xfrm>
            <a:off x="3840480" y="4160520"/>
            <a:ext cx="3200400" cy="365760"/>
          </a:xfrm>
          <a:prstGeom prst="rect">
            <a:avLst/>
          </a:prstGeom>
          <a:noFill/>
        </p:spPr>
        <p:txBody>
          <a:bodyPr wrap="square" lIns="0" rIns="0" tIns="0" bIns="0" anchor="t">
            <a:spAutoFit/>
          </a:bodyPr>
          <a:lstStyle/>
          <a:p>
            <a:pPr algn="l">
              <a:lnSpc>
                <a:spcPct val="100000"/>
              </a:lnSpc>
            </a:pPr>
            <a:r>
              <a:rPr sz="1500" b="1">
                <a:solidFill>
                  <a:srgbClr val="23272B"/>
                </a:solidFill>
                <a:latin typeface="Arial"/>
              </a:rPr>
              <a:t>Team &amp; field</a:t>
            </a:r>
          </a:p>
        </p:txBody>
      </p:sp>
      <p:sp>
        <p:nvSpPr>
          <p:cNvPr id="21" name="TextBox 20"/>
          <p:cNvSpPr txBox="1"/>
          <p:nvPr/>
        </p:nvSpPr>
        <p:spPr>
          <a:xfrm>
            <a:off x="3246120" y="4709160"/>
            <a:ext cx="3840480" cy="1325880"/>
          </a:xfrm>
          <a:prstGeom prst="rect">
            <a:avLst/>
          </a:prstGeom>
          <a:noFill/>
        </p:spPr>
        <p:txBody>
          <a:bodyPr wrap="square" lIns="0" rIns="0" tIns="0" bIns="0" anchor="t">
            <a:spAutoFit/>
          </a:bodyPr>
          <a:lstStyle/>
          <a:p>
            <a:pPr algn="l">
              <a:lnSpc>
                <a:spcPct val="100000"/>
              </a:lnSpc>
            </a:pPr>
            <a:r>
              <a:rPr sz="1150" b="0">
                <a:solidFill>
                  <a:srgbClr val="23272B"/>
                </a:solidFill>
                <a:latin typeface="Arial"/>
              </a:rPr>
              <a:t>Weekly scorecard per rep</a:t>
            </a:r>
          </a:p>
          <a:p>
            <a:pPr algn="l">
              <a:lnSpc>
                <a:spcPct val="100000"/>
              </a:lnSpc>
              <a:spcBef>
                <a:spcPts val="150"/>
              </a:spcBef>
            </a:pPr>
            <a:r>
              <a:rPr sz="1150" b="0">
                <a:solidFill>
                  <a:srgbClr val="23272B"/>
                </a:solidFill>
                <a:latin typeface="Arial"/>
              </a:rPr>
              <a:t>Progress by reps, day by day</a:t>
            </a:r>
          </a:p>
          <a:p>
            <a:pPr algn="l">
              <a:lnSpc>
                <a:spcPct val="100000"/>
              </a:lnSpc>
              <a:spcBef>
                <a:spcPts val="150"/>
              </a:spcBef>
            </a:pPr>
            <a:r>
              <a:rPr sz="1150" b="0">
                <a:solidFill>
                  <a:srgbClr val="23272B"/>
                </a:solidFill>
                <a:latin typeface="Arial"/>
              </a:rPr>
              <a:t>Visits and shelf presence</a:t>
            </a:r>
          </a:p>
          <a:p>
            <a:pPr algn="l">
              <a:lnSpc>
                <a:spcPct val="100000"/>
              </a:lnSpc>
              <a:spcBef>
                <a:spcPts val="150"/>
              </a:spcBef>
            </a:pPr>
            <a:r>
              <a:rPr sz="1150" b="0">
                <a:solidFill>
                  <a:srgbClr val="23272B"/>
                </a:solidFill>
                <a:latin typeface="Arial"/>
              </a:rPr>
              <a:t>New customer pipeline</a:t>
            </a:r>
          </a:p>
          <a:p>
            <a:pPr algn="l">
              <a:lnSpc>
                <a:spcPct val="100000"/>
              </a:lnSpc>
              <a:spcBef>
                <a:spcPts val="150"/>
              </a:spcBef>
            </a:pPr>
            <a:r>
              <a:rPr sz="1150" b="0">
                <a:solidFill>
                  <a:srgbClr val="23272B"/>
                </a:solidFill>
                <a:latin typeface="Arial"/>
              </a:rPr>
              <a:t>Fuel allowance</a:t>
            </a:r>
          </a:p>
        </p:txBody>
      </p:sp>
      <p:sp>
        <p:nvSpPr>
          <p:cNvPr id="22" name="Rounded Rectangle 21"/>
          <p:cNvSpPr/>
          <p:nvPr/>
        </p:nvSpPr>
        <p:spPr>
          <a:xfrm>
            <a:off x="7360920" y="3931920"/>
            <a:ext cx="4160520" cy="2103120"/>
          </a:xfrm>
          <a:prstGeom prst="roundRect">
            <a:avLst>
              <a:gd name="adj" fmla="val 5217"/>
            </a:avLst>
          </a:prstGeom>
          <a:solidFill>
            <a:srgbClr val="F4F5F6"/>
          </a:solidFill>
          <a:ln>
            <a:noFill/>
          </a:ln>
          <a:effectLst/>
        </p:spPr>
        <p:txBody>
          <a:bodyPr rtlCol="0" anchor="ctr"/>
          <a:lstStyle/>
          <a:p/>
        </p:txBody>
      </p:sp>
      <p:sp>
        <p:nvSpPr>
          <p:cNvPr id="23" name="Oval 22"/>
          <p:cNvSpPr/>
          <p:nvPr/>
        </p:nvSpPr>
        <p:spPr>
          <a:xfrm>
            <a:off x="7543800" y="4096512"/>
            <a:ext cx="502920" cy="502920"/>
          </a:xfrm>
          <a:prstGeom prst="ellipse">
            <a:avLst/>
          </a:prstGeom>
          <a:solidFill>
            <a:srgbClr val="E6F4EC"/>
          </a:solidFill>
          <a:ln>
            <a:noFill/>
          </a:ln>
          <a:effectLst/>
        </p:spPr>
        <p:txBody>
          <a:bodyPr rtlCol="0" anchor="ctr"/>
          <a:lstStyle/>
          <a:p>
            <a:pPr algn="ctr"/>
          </a:p>
        </p:txBody>
      </p:sp>
      <p:pic>
        <p:nvPicPr>
          <p:cNvPr id="24" name="Picture 23" descr="box_g.png"/>
          <p:cNvPicPr>
            <a:picLocks noChangeAspect="1"/>
          </p:cNvPicPr>
          <p:nvPr/>
        </p:nvPicPr>
        <p:blipFill>
          <a:blip r:embed="rId6"/>
          <a:stretch>
            <a:fillRect/>
          </a:stretch>
        </p:blipFill>
        <p:spPr>
          <a:xfrm>
            <a:off x="7654442" y="4207154"/>
            <a:ext cx="281635" cy="281635"/>
          </a:xfrm>
          <a:prstGeom prst="rect">
            <a:avLst/>
          </a:prstGeom>
        </p:spPr>
      </p:pic>
      <p:sp>
        <p:nvSpPr>
          <p:cNvPr id="25" name="TextBox 24"/>
          <p:cNvSpPr txBox="1"/>
          <p:nvPr/>
        </p:nvSpPr>
        <p:spPr>
          <a:xfrm>
            <a:off x="8183880" y="4160520"/>
            <a:ext cx="3200400" cy="365760"/>
          </a:xfrm>
          <a:prstGeom prst="rect">
            <a:avLst/>
          </a:prstGeom>
          <a:noFill/>
        </p:spPr>
        <p:txBody>
          <a:bodyPr wrap="square" lIns="0" rIns="0" tIns="0" bIns="0" anchor="t">
            <a:spAutoFit/>
          </a:bodyPr>
          <a:lstStyle/>
          <a:p>
            <a:pPr algn="l">
              <a:lnSpc>
                <a:spcPct val="100000"/>
              </a:lnSpc>
            </a:pPr>
            <a:r>
              <a:rPr sz="1500" b="1">
                <a:solidFill>
                  <a:srgbClr val="23272B"/>
                </a:solidFill>
                <a:latin typeface="Arial"/>
              </a:rPr>
              <a:t>Operations</a:t>
            </a:r>
          </a:p>
        </p:txBody>
      </p:sp>
      <p:sp>
        <p:nvSpPr>
          <p:cNvPr id="26" name="TextBox 25"/>
          <p:cNvSpPr txBox="1"/>
          <p:nvPr/>
        </p:nvSpPr>
        <p:spPr>
          <a:xfrm>
            <a:off x="7589520" y="4709160"/>
            <a:ext cx="3840480" cy="1325880"/>
          </a:xfrm>
          <a:prstGeom prst="rect">
            <a:avLst/>
          </a:prstGeom>
          <a:noFill/>
        </p:spPr>
        <p:txBody>
          <a:bodyPr wrap="square" lIns="0" rIns="0" tIns="0" bIns="0" anchor="t">
            <a:spAutoFit/>
          </a:bodyPr>
          <a:lstStyle/>
          <a:p>
            <a:pPr algn="l">
              <a:lnSpc>
                <a:spcPct val="100000"/>
              </a:lnSpc>
            </a:pPr>
            <a:r>
              <a:rPr sz="1150" b="0">
                <a:solidFill>
                  <a:srgbClr val="23272B"/>
                </a:solidFill>
                <a:latin typeface="Arial"/>
              </a:rPr>
              <a:t>Order flow vs time limits</a:t>
            </a:r>
          </a:p>
          <a:p>
            <a:pPr algn="l">
              <a:lnSpc>
                <a:spcPct val="100000"/>
              </a:lnSpc>
              <a:spcBef>
                <a:spcPts val="150"/>
              </a:spcBef>
            </a:pPr>
            <a:r>
              <a:rPr sz="1150" b="0">
                <a:solidFill>
                  <a:srgbClr val="23272B"/>
                </a:solidFill>
                <a:latin typeface="Arial"/>
              </a:rPr>
              <a:t>Delivery speed</a:t>
            </a:r>
          </a:p>
          <a:p>
            <a:pPr algn="l">
              <a:lnSpc>
                <a:spcPct val="100000"/>
              </a:lnSpc>
              <a:spcBef>
                <a:spcPts val="150"/>
              </a:spcBef>
            </a:pPr>
            <a:r>
              <a:rPr sz="1150" b="0">
                <a:solidFill>
                  <a:srgbClr val="23272B"/>
                </a:solidFill>
                <a:latin typeface="Arial"/>
              </a:rPr>
              <a:t>Stock days and dead stock</a:t>
            </a:r>
          </a:p>
          <a:p>
            <a:pPr algn="l">
              <a:lnSpc>
                <a:spcPct val="100000"/>
              </a:lnSpc>
              <a:spcBef>
                <a:spcPts val="150"/>
              </a:spcBef>
            </a:pPr>
            <a:r>
              <a:rPr sz="1150" b="0">
                <a:solidFill>
                  <a:srgbClr val="23272B"/>
                </a:solidFill>
                <a:latin typeface="Arial"/>
              </a:rPr>
              <a:t>Data quality score</a:t>
            </a:r>
          </a:p>
          <a:p>
            <a:pPr algn="l">
              <a:lnSpc>
                <a:spcPct val="100000"/>
              </a:lnSpc>
              <a:spcBef>
                <a:spcPts val="150"/>
              </a:spcBef>
            </a:pPr>
            <a:r>
              <a:rPr sz="1150" b="0">
                <a:solidFill>
                  <a:srgbClr val="23272B"/>
                </a:solidFill>
                <a:latin typeface="Arial"/>
              </a:rPr>
              <a:t>Daily, weekly, monthly bot briefs</a:t>
            </a:r>
          </a:p>
        </p:txBody>
      </p:sp>
      <p:cxnSp>
        <p:nvCxnSpPr>
          <p:cNvPr id="27" name="Connector 26"/>
          <p:cNvCxnSpPr/>
          <p:nvPr/>
        </p:nvCxnSpPr>
        <p:spPr>
          <a:xfrm>
            <a:off x="548640" y="6400800"/>
            <a:ext cx="11094415" cy="0"/>
          </a:xfrm>
          <a:prstGeom prst="line">
            <a:avLst/>
          </a:prstGeom>
          <a:ln w="9525">
            <a:solidFill>
              <a:srgbClr val="D9DEDB"/>
            </a:solidFill>
          </a:ln>
        </p:spPr>
      </p:cxnSp>
      <p:pic>
        <p:nvPicPr>
          <p:cNvPr id="28" name="Picture 27" descr="kad-wordmark.png"/>
          <p:cNvPicPr>
            <a:picLocks noChangeAspect="1"/>
          </p:cNvPicPr>
          <p:nvPr/>
        </p:nvPicPr>
        <p:blipFill>
          <a:blip r:embed="rId7"/>
          <a:stretch>
            <a:fillRect/>
          </a:stretch>
        </p:blipFill>
        <p:spPr>
          <a:xfrm>
            <a:off x="548640" y="6519672"/>
            <a:ext cx="759129" cy="155448"/>
          </a:xfrm>
          <a:prstGeom prst="rect">
            <a:avLst/>
          </a:prstGeom>
        </p:spPr>
      </p:pic>
      <p:sp>
        <p:nvSpPr>
          <p:cNvPr id="29" name="TextBox 28"/>
          <p:cNvSpPr txBox="1"/>
          <p:nvPr/>
        </p:nvSpPr>
        <p:spPr>
          <a:xfrm>
            <a:off x="1417320" y="6492240"/>
            <a:ext cx="6400800" cy="228600"/>
          </a:xfrm>
          <a:prstGeom prst="rect">
            <a:avLst/>
          </a:prstGeom>
          <a:noFill/>
        </p:spPr>
        <p:txBody>
          <a:bodyPr wrap="square" lIns="0" rIns="0" tIns="0" bIns="0" anchor="t">
            <a:spAutoFit/>
          </a:bodyPr>
          <a:lstStyle/>
          <a:p>
            <a:pPr algn="l">
              <a:lnSpc>
                <a:spcPct val="100000"/>
              </a:lnSpc>
            </a:pPr>
            <a:r>
              <a:rPr sz="900" b="0">
                <a:solidFill>
                  <a:srgbClr val="5F6670"/>
                </a:solidFill>
                <a:latin typeface="Arial"/>
              </a:rPr>
              <a:t>Digital Sales Platform for Castrol Distribution</a:t>
            </a:r>
          </a:p>
        </p:txBody>
      </p:sp>
      <p:sp>
        <p:nvSpPr>
          <p:cNvPr id="30" name="TextBox 29"/>
          <p:cNvSpPr txBox="1"/>
          <p:nvPr/>
        </p:nvSpPr>
        <p:spPr>
          <a:xfrm>
            <a:off x="10728655" y="6492240"/>
            <a:ext cx="914400" cy="228600"/>
          </a:xfrm>
          <a:prstGeom prst="rect">
            <a:avLst/>
          </a:prstGeom>
          <a:noFill/>
        </p:spPr>
        <p:txBody>
          <a:bodyPr wrap="square" lIns="0" rIns="0" tIns="0" bIns="0" anchor="t">
            <a:spAutoFit/>
          </a:bodyPr>
          <a:lstStyle/>
          <a:p>
            <a:pPr algn="r">
              <a:lnSpc>
                <a:spcPct val="100000"/>
              </a:lnSpc>
            </a:pPr>
            <a:r>
              <a:rPr sz="900" b="0">
                <a:solidFill>
                  <a:srgbClr val="5F6670"/>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347472"/>
            <a:ext cx="592531" cy="64008"/>
          </a:xfrm>
          <a:prstGeom prst="rect">
            <a:avLst/>
          </a:prstGeom>
          <a:solidFill>
            <a:srgbClr val="009343"/>
          </a:solidFill>
          <a:ln>
            <a:noFill/>
          </a:ln>
          <a:effectLst/>
        </p:spPr>
        <p:txBody>
          <a:bodyPr rtlCol="0" anchor="ctr"/>
          <a:lstStyle/>
          <a:p/>
        </p:txBody>
      </p:sp>
      <p:sp>
        <p:nvSpPr>
          <p:cNvPr id="3" name="Rectangle 2"/>
          <p:cNvSpPr/>
          <p:nvPr/>
        </p:nvSpPr>
        <p:spPr>
          <a:xfrm>
            <a:off x="1141171" y="347472"/>
            <a:ext cx="230428" cy="64008"/>
          </a:xfrm>
          <a:prstGeom prst="rect">
            <a:avLst/>
          </a:prstGeom>
          <a:solidFill>
            <a:srgbClr val="E2001A"/>
          </a:solidFill>
          <a:ln>
            <a:noFill/>
          </a:ln>
          <a:effectLst/>
        </p:spPr>
        <p:txBody>
          <a:bodyPr rtlCol="0" anchor="ctr"/>
          <a:lstStyle/>
          <a:p/>
        </p:txBody>
      </p:sp>
      <p:sp>
        <p:nvSpPr>
          <p:cNvPr id="4" name="TextBox 3"/>
          <p:cNvSpPr txBox="1"/>
          <p:nvPr/>
        </p:nvSpPr>
        <p:spPr>
          <a:xfrm>
            <a:off x="548640" y="502920"/>
            <a:ext cx="9144000" cy="274320"/>
          </a:xfrm>
          <a:prstGeom prst="rect">
            <a:avLst/>
          </a:prstGeom>
          <a:noFill/>
        </p:spPr>
        <p:txBody>
          <a:bodyPr wrap="square" lIns="0" rIns="0" tIns="0" bIns="0" anchor="t">
            <a:spAutoFit/>
          </a:bodyPr>
          <a:lstStyle/>
          <a:p>
            <a:pPr algn="l">
              <a:lnSpc>
                <a:spcPct val="100000"/>
              </a:lnSpc>
            </a:pPr>
            <a:r>
              <a:rPr sz="1200" b="1">
                <a:solidFill>
                  <a:srgbClr val="009343"/>
                </a:solidFill>
                <a:latin typeface="Arial"/>
              </a:rPr>
              <a:t>MANAGEMENT VISIBILITY</a:t>
            </a:r>
          </a:p>
        </p:txBody>
      </p:sp>
      <p:sp>
        <p:nvSpPr>
          <p:cNvPr id="5" name="TextBox 4"/>
          <p:cNvSpPr txBox="1"/>
          <p:nvPr/>
        </p:nvSpPr>
        <p:spPr>
          <a:xfrm>
            <a:off x="548640" y="777240"/>
            <a:ext cx="11064240" cy="914400"/>
          </a:xfrm>
          <a:prstGeom prst="rect">
            <a:avLst/>
          </a:prstGeom>
          <a:noFill/>
        </p:spPr>
        <p:txBody>
          <a:bodyPr wrap="square" lIns="0" rIns="0" tIns="0" bIns="0" anchor="t">
            <a:spAutoFit/>
          </a:bodyPr>
          <a:lstStyle/>
          <a:p>
            <a:pPr algn="l">
              <a:lnSpc>
                <a:spcPct val="95000"/>
              </a:lnSpc>
            </a:pPr>
            <a:r>
              <a:rPr sz="3000" b="1">
                <a:solidFill>
                  <a:srgbClr val="23272B"/>
                </a:solidFill>
                <a:latin typeface="Arial"/>
              </a:rPr>
              <a:t>Management sees every rep, region and KPI, every day</a:t>
            </a:r>
          </a:p>
        </p:txBody>
      </p:sp>
      <p:pic>
        <p:nvPicPr>
          <p:cNvPr id="6" name="Picture 5" descr="dashboard.png"/>
          <p:cNvPicPr>
            <a:picLocks noChangeAspect="1"/>
          </p:cNvPicPr>
          <p:nvPr/>
        </p:nvPicPr>
        <p:blipFill>
          <a:blip r:embed="rId2"/>
          <a:stretch>
            <a:fillRect/>
          </a:stretch>
        </p:blipFill>
        <p:spPr>
          <a:xfrm>
            <a:off x="502920" y="1600200"/>
            <a:ext cx="2228070" cy="4572000"/>
          </a:xfrm>
          <a:prstGeom prst="rect">
            <a:avLst/>
          </a:prstGeom>
        </p:spPr>
      </p:pic>
      <p:pic>
        <p:nvPicPr>
          <p:cNvPr id="7" name="Picture 6" descr="team.png"/>
          <p:cNvPicPr>
            <a:picLocks noChangeAspect="1"/>
          </p:cNvPicPr>
          <p:nvPr/>
        </p:nvPicPr>
        <p:blipFill>
          <a:blip r:embed="rId3"/>
          <a:stretch>
            <a:fillRect/>
          </a:stretch>
        </p:blipFill>
        <p:spPr>
          <a:xfrm>
            <a:off x="2926080" y="1600200"/>
            <a:ext cx="2228070" cy="4572000"/>
          </a:xfrm>
          <a:prstGeom prst="rect">
            <a:avLst/>
          </a:prstGeom>
        </p:spPr>
      </p:pic>
      <p:sp>
        <p:nvSpPr>
          <p:cNvPr id="8" name="Rounded Rectangle 7"/>
          <p:cNvSpPr/>
          <p:nvPr/>
        </p:nvSpPr>
        <p:spPr>
          <a:xfrm>
            <a:off x="5806440" y="1783080"/>
            <a:ext cx="2743200" cy="749808"/>
          </a:xfrm>
          <a:prstGeom prst="roundRect">
            <a:avLst>
              <a:gd name="adj" fmla="val 14634"/>
            </a:avLst>
          </a:prstGeom>
          <a:solidFill>
            <a:srgbClr val="F4F5F6"/>
          </a:solidFill>
          <a:ln>
            <a:noFill/>
          </a:ln>
          <a:effectLst/>
        </p:spPr>
        <p:txBody>
          <a:bodyPr rtlCol="0" anchor="ctr"/>
          <a:lstStyle/>
          <a:p/>
        </p:txBody>
      </p:sp>
      <p:sp>
        <p:nvSpPr>
          <p:cNvPr id="9" name="Oval 8"/>
          <p:cNvSpPr/>
          <p:nvPr/>
        </p:nvSpPr>
        <p:spPr>
          <a:xfrm>
            <a:off x="5934455" y="1901952"/>
            <a:ext cx="512064" cy="512064"/>
          </a:xfrm>
          <a:prstGeom prst="ellipse">
            <a:avLst/>
          </a:prstGeom>
          <a:solidFill>
            <a:srgbClr val="E6F4EC"/>
          </a:solidFill>
          <a:ln>
            <a:noFill/>
          </a:ln>
          <a:effectLst/>
        </p:spPr>
        <p:txBody>
          <a:bodyPr rtlCol="0" anchor="ctr"/>
          <a:lstStyle/>
          <a:p>
            <a:pPr algn="ctr"/>
          </a:p>
        </p:txBody>
      </p:sp>
      <p:pic>
        <p:nvPicPr>
          <p:cNvPr id="10" name="Picture 9" descr="chart_g.png"/>
          <p:cNvPicPr>
            <a:picLocks noChangeAspect="1"/>
          </p:cNvPicPr>
          <p:nvPr/>
        </p:nvPicPr>
        <p:blipFill>
          <a:blip r:embed="rId4"/>
          <a:stretch>
            <a:fillRect/>
          </a:stretch>
        </p:blipFill>
        <p:spPr>
          <a:xfrm>
            <a:off x="6047110" y="2014606"/>
            <a:ext cx="286755" cy="286755"/>
          </a:xfrm>
          <a:prstGeom prst="rect">
            <a:avLst/>
          </a:prstGeom>
        </p:spPr>
      </p:pic>
      <p:sp>
        <p:nvSpPr>
          <p:cNvPr id="11" name="TextBox 10"/>
          <p:cNvSpPr txBox="1"/>
          <p:nvPr/>
        </p:nvSpPr>
        <p:spPr>
          <a:xfrm>
            <a:off x="6583679" y="1783080"/>
            <a:ext cx="1920240" cy="749808"/>
          </a:xfrm>
          <a:prstGeom prst="rect">
            <a:avLst/>
          </a:prstGeom>
          <a:noFill/>
        </p:spPr>
        <p:txBody>
          <a:bodyPr wrap="square" lIns="0" rIns="0" tIns="0" bIns="0" anchor="ctr">
            <a:spAutoFit/>
          </a:bodyPr>
          <a:lstStyle/>
          <a:p>
            <a:pPr algn="l">
              <a:lnSpc>
                <a:spcPct val="100000"/>
              </a:lnSpc>
            </a:pPr>
            <a:r>
              <a:rPr sz="1450" b="1">
                <a:solidFill>
                  <a:srgbClr val="23272B"/>
                </a:solidFill>
                <a:latin typeface="Arial"/>
              </a:rPr>
              <a:t>Sales vs plan</a:t>
            </a:r>
          </a:p>
        </p:txBody>
      </p:sp>
      <p:sp>
        <p:nvSpPr>
          <p:cNvPr id="12" name="Rounded Rectangle 11"/>
          <p:cNvSpPr/>
          <p:nvPr/>
        </p:nvSpPr>
        <p:spPr>
          <a:xfrm>
            <a:off x="8732520" y="1783080"/>
            <a:ext cx="2743200" cy="749808"/>
          </a:xfrm>
          <a:prstGeom prst="roundRect">
            <a:avLst>
              <a:gd name="adj" fmla="val 14634"/>
            </a:avLst>
          </a:prstGeom>
          <a:solidFill>
            <a:srgbClr val="F4F5F6"/>
          </a:solidFill>
          <a:ln>
            <a:noFill/>
          </a:ln>
          <a:effectLst/>
        </p:spPr>
        <p:txBody>
          <a:bodyPr rtlCol="0" anchor="ctr"/>
          <a:lstStyle/>
          <a:p/>
        </p:txBody>
      </p:sp>
      <p:sp>
        <p:nvSpPr>
          <p:cNvPr id="13" name="Oval 12"/>
          <p:cNvSpPr/>
          <p:nvPr/>
        </p:nvSpPr>
        <p:spPr>
          <a:xfrm>
            <a:off x="8860536" y="1901952"/>
            <a:ext cx="512064" cy="512064"/>
          </a:xfrm>
          <a:prstGeom prst="ellipse">
            <a:avLst/>
          </a:prstGeom>
          <a:solidFill>
            <a:srgbClr val="E6F4EC"/>
          </a:solidFill>
          <a:ln>
            <a:noFill/>
          </a:ln>
          <a:effectLst/>
        </p:spPr>
        <p:txBody>
          <a:bodyPr rtlCol="0" anchor="ctr"/>
          <a:lstStyle/>
          <a:p>
            <a:pPr algn="ctr"/>
          </a:p>
        </p:txBody>
      </p:sp>
      <p:pic>
        <p:nvPicPr>
          <p:cNvPr id="14" name="Picture 13" descr="wallet_g.png"/>
          <p:cNvPicPr>
            <a:picLocks noChangeAspect="1"/>
          </p:cNvPicPr>
          <p:nvPr/>
        </p:nvPicPr>
        <p:blipFill>
          <a:blip r:embed="rId5"/>
          <a:stretch>
            <a:fillRect/>
          </a:stretch>
        </p:blipFill>
        <p:spPr>
          <a:xfrm>
            <a:off x="8973190" y="2014606"/>
            <a:ext cx="286755" cy="286755"/>
          </a:xfrm>
          <a:prstGeom prst="rect">
            <a:avLst/>
          </a:prstGeom>
        </p:spPr>
      </p:pic>
      <p:sp>
        <p:nvSpPr>
          <p:cNvPr id="15" name="TextBox 14"/>
          <p:cNvSpPr txBox="1"/>
          <p:nvPr/>
        </p:nvSpPr>
        <p:spPr>
          <a:xfrm>
            <a:off x="9509760" y="1783080"/>
            <a:ext cx="1920240" cy="749808"/>
          </a:xfrm>
          <a:prstGeom prst="rect">
            <a:avLst/>
          </a:prstGeom>
          <a:noFill/>
        </p:spPr>
        <p:txBody>
          <a:bodyPr wrap="square" lIns="0" rIns="0" tIns="0" bIns="0" anchor="ctr">
            <a:spAutoFit/>
          </a:bodyPr>
          <a:lstStyle/>
          <a:p>
            <a:pPr algn="l">
              <a:lnSpc>
                <a:spcPct val="100000"/>
              </a:lnSpc>
            </a:pPr>
            <a:r>
              <a:rPr sz="1450" b="1">
                <a:solidFill>
                  <a:srgbClr val="23272B"/>
                </a:solidFill>
                <a:latin typeface="Arial"/>
              </a:rPr>
              <a:t>Cash collected</a:t>
            </a:r>
          </a:p>
        </p:txBody>
      </p:sp>
      <p:sp>
        <p:nvSpPr>
          <p:cNvPr id="16" name="Rounded Rectangle 15"/>
          <p:cNvSpPr/>
          <p:nvPr/>
        </p:nvSpPr>
        <p:spPr>
          <a:xfrm>
            <a:off x="5806440" y="2697480"/>
            <a:ext cx="2743200" cy="749808"/>
          </a:xfrm>
          <a:prstGeom prst="roundRect">
            <a:avLst>
              <a:gd name="adj" fmla="val 14634"/>
            </a:avLst>
          </a:prstGeom>
          <a:solidFill>
            <a:srgbClr val="F4F5F6"/>
          </a:solidFill>
          <a:ln>
            <a:noFill/>
          </a:ln>
          <a:effectLst/>
        </p:spPr>
        <p:txBody>
          <a:bodyPr rtlCol="0" anchor="ctr"/>
          <a:lstStyle/>
          <a:p/>
        </p:txBody>
      </p:sp>
      <p:sp>
        <p:nvSpPr>
          <p:cNvPr id="17" name="Oval 16"/>
          <p:cNvSpPr/>
          <p:nvPr/>
        </p:nvSpPr>
        <p:spPr>
          <a:xfrm>
            <a:off x="5934455" y="2816352"/>
            <a:ext cx="512064" cy="512064"/>
          </a:xfrm>
          <a:prstGeom prst="ellipse">
            <a:avLst/>
          </a:prstGeom>
          <a:solidFill>
            <a:srgbClr val="E6F4EC"/>
          </a:solidFill>
          <a:ln>
            <a:noFill/>
          </a:ln>
          <a:effectLst/>
        </p:spPr>
        <p:txBody>
          <a:bodyPr rtlCol="0" anchor="ctr"/>
          <a:lstStyle/>
          <a:p>
            <a:pPr algn="ctr"/>
          </a:p>
        </p:txBody>
      </p:sp>
      <p:pic>
        <p:nvPicPr>
          <p:cNvPr id="18" name="Picture 17" descr="mapPinCheck_g.png"/>
          <p:cNvPicPr>
            <a:picLocks noChangeAspect="1"/>
          </p:cNvPicPr>
          <p:nvPr/>
        </p:nvPicPr>
        <p:blipFill>
          <a:blip r:embed="rId6"/>
          <a:stretch>
            <a:fillRect/>
          </a:stretch>
        </p:blipFill>
        <p:spPr>
          <a:xfrm>
            <a:off x="6047110" y="2929006"/>
            <a:ext cx="286755" cy="286755"/>
          </a:xfrm>
          <a:prstGeom prst="rect">
            <a:avLst/>
          </a:prstGeom>
        </p:spPr>
      </p:pic>
      <p:sp>
        <p:nvSpPr>
          <p:cNvPr id="19" name="TextBox 18"/>
          <p:cNvSpPr txBox="1"/>
          <p:nvPr/>
        </p:nvSpPr>
        <p:spPr>
          <a:xfrm>
            <a:off x="6583679" y="2697480"/>
            <a:ext cx="1920240" cy="749808"/>
          </a:xfrm>
          <a:prstGeom prst="rect">
            <a:avLst/>
          </a:prstGeom>
          <a:noFill/>
        </p:spPr>
        <p:txBody>
          <a:bodyPr wrap="square" lIns="0" rIns="0" tIns="0" bIns="0" anchor="ctr">
            <a:spAutoFit/>
          </a:bodyPr>
          <a:lstStyle/>
          <a:p>
            <a:pPr algn="l">
              <a:lnSpc>
                <a:spcPct val="100000"/>
              </a:lnSpc>
            </a:pPr>
            <a:r>
              <a:rPr sz="1450" b="1">
                <a:solidFill>
                  <a:srgbClr val="23272B"/>
                </a:solidFill>
                <a:latin typeface="Arial"/>
              </a:rPr>
              <a:t>Visits &amp; coverage</a:t>
            </a:r>
          </a:p>
        </p:txBody>
      </p:sp>
      <p:sp>
        <p:nvSpPr>
          <p:cNvPr id="20" name="Rounded Rectangle 19"/>
          <p:cNvSpPr/>
          <p:nvPr/>
        </p:nvSpPr>
        <p:spPr>
          <a:xfrm>
            <a:off x="8732520" y="2697480"/>
            <a:ext cx="2743200" cy="749808"/>
          </a:xfrm>
          <a:prstGeom prst="roundRect">
            <a:avLst>
              <a:gd name="adj" fmla="val 14634"/>
            </a:avLst>
          </a:prstGeom>
          <a:solidFill>
            <a:srgbClr val="F4F5F6"/>
          </a:solidFill>
          <a:ln>
            <a:noFill/>
          </a:ln>
          <a:effectLst/>
        </p:spPr>
        <p:txBody>
          <a:bodyPr rtlCol="0" anchor="ctr"/>
          <a:lstStyle/>
          <a:p/>
        </p:txBody>
      </p:sp>
      <p:sp>
        <p:nvSpPr>
          <p:cNvPr id="21" name="Oval 20"/>
          <p:cNvSpPr/>
          <p:nvPr/>
        </p:nvSpPr>
        <p:spPr>
          <a:xfrm>
            <a:off x="8860536" y="2816352"/>
            <a:ext cx="512064" cy="512064"/>
          </a:xfrm>
          <a:prstGeom prst="ellipse">
            <a:avLst/>
          </a:prstGeom>
          <a:solidFill>
            <a:srgbClr val="E6F4EC"/>
          </a:solidFill>
          <a:ln>
            <a:noFill/>
          </a:ln>
          <a:effectLst/>
        </p:spPr>
        <p:txBody>
          <a:bodyPr rtlCol="0" anchor="ctr"/>
          <a:lstStyle/>
          <a:p>
            <a:pPr algn="ctr"/>
          </a:p>
        </p:txBody>
      </p:sp>
      <p:pic>
        <p:nvPicPr>
          <p:cNvPr id="22" name="Picture 21" descr="layers_g.png"/>
          <p:cNvPicPr>
            <a:picLocks noChangeAspect="1"/>
          </p:cNvPicPr>
          <p:nvPr/>
        </p:nvPicPr>
        <p:blipFill>
          <a:blip r:embed="rId7"/>
          <a:stretch>
            <a:fillRect/>
          </a:stretch>
        </p:blipFill>
        <p:spPr>
          <a:xfrm>
            <a:off x="8973190" y="2929006"/>
            <a:ext cx="286755" cy="286755"/>
          </a:xfrm>
          <a:prstGeom prst="rect">
            <a:avLst/>
          </a:prstGeom>
        </p:spPr>
      </p:pic>
      <p:sp>
        <p:nvSpPr>
          <p:cNvPr id="23" name="TextBox 22"/>
          <p:cNvSpPr txBox="1"/>
          <p:nvPr/>
        </p:nvSpPr>
        <p:spPr>
          <a:xfrm>
            <a:off x="9509760" y="2697480"/>
            <a:ext cx="1920240" cy="749808"/>
          </a:xfrm>
          <a:prstGeom prst="rect">
            <a:avLst/>
          </a:prstGeom>
          <a:noFill/>
        </p:spPr>
        <p:txBody>
          <a:bodyPr wrap="square" lIns="0" rIns="0" tIns="0" bIns="0" anchor="ctr">
            <a:spAutoFit/>
          </a:bodyPr>
          <a:lstStyle/>
          <a:p>
            <a:pPr algn="l">
              <a:lnSpc>
                <a:spcPct val="100000"/>
              </a:lnSpc>
            </a:pPr>
            <a:r>
              <a:rPr sz="1450" b="1">
                <a:solidFill>
                  <a:srgbClr val="23272B"/>
                </a:solidFill>
                <a:latin typeface="Arial"/>
              </a:rPr>
              <a:t>Litres by product line</a:t>
            </a:r>
          </a:p>
        </p:txBody>
      </p:sp>
      <p:sp>
        <p:nvSpPr>
          <p:cNvPr id="24" name="Rounded Rectangle 23"/>
          <p:cNvSpPr/>
          <p:nvPr/>
        </p:nvSpPr>
        <p:spPr>
          <a:xfrm>
            <a:off x="5806440" y="3611880"/>
            <a:ext cx="2743200" cy="749808"/>
          </a:xfrm>
          <a:prstGeom prst="roundRect">
            <a:avLst>
              <a:gd name="adj" fmla="val 14634"/>
            </a:avLst>
          </a:prstGeom>
          <a:solidFill>
            <a:srgbClr val="F4F5F6"/>
          </a:solidFill>
          <a:ln>
            <a:noFill/>
          </a:ln>
          <a:effectLst/>
        </p:spPr>
        <p:txBody>
          <a:bodyPr rtlCol="0" anchor="ctr"/>
          <a:lstStyle/>
          <a:p/>
        </p:txBody>
      </p:sp>
      <p:sp>
        <p:nvSpPr>
          <p:cNvPr id="25" name="Oval 24"/>
          <p:cNvSpPr/>
          <p:nvPr/>
        </p:nvSpPr>
        <p:spPr>
          <a:xfrm>
            <a:off x="5934455" y="3730752"/>
            <a:ext cx="512064" cy="512064"/>
          </a:xfrm>
          <a:prstGeom prst="ellipse">
            <a:avLst/>
          </a:prstGeom>
          <a:solidFill>
            <a:srgbClr val="E6F4EC"/>
          </a:solidFill>
          <a:ln>
            <a:noFill/>
          </a:ln>
          <a:effectLst/>
        </p:spPr>
        <p:txBody>
          <a:bodyPr rtlCol="0" anchor="ctr"/>
          <a:lstStyle/>
          <a:p>
            <a:pPr algn="ctr"/>
          </a:p>
        </p:txBody>
      </p:sp>
      <p:pic>
        <p:nvPicPr>
          <p:cNvPr id="26" name="Picture 25" descr="history_g.png"/>
          <p:cNvPicPr>
            <a:picLocks noChangeAspect="1"/>
          </p:cNvPicPr>
          <p:nvPr/>
        </p:nvPicPr>
        <p:blipFill>
          <a:blip r:embed="rId8"/>
          <a:stretch>
            <a:fillRect/>
          </a:stretch>
        </p:blipFill>
        <p:spPr>
          <a:xfrm>
            <a:off x="6047110" y="3843406"/>
            <a:ext cx="286755" cy="286755"/>
          </a:xfrm>
          <a:prstGeom prst="rect">
            <a:avLst/>
          </a:prstGeom>
        </p:spPr>
      </p:pic>
      <p:sp>
        <p:nvSpPr>
          <p:cNvPr id="27" name="TextBox 26"/>
          <p:cNvSpPr txBox="1"/>
          <p:nvPr/>
        </p:nvSpPr>
        <p:spPr>
          <a:xfrm>
            <a:off x="6583679" y="3611880"/>
            <a:ext cx="1920240" cy="749808"/>
          </a:xfrm>
          <a:prstGeom prst="rect">
            <a:avLst/>
          </a:prstGeom>
          <a:noFill/>
        </p:spPr>
        <p:txBody>
          <a:bodyPr wrap="square" lIns="0" rIns="0" tIns="0" bIns="0" anchor="ctr">
            <a:spAutoFit/>
          </a:bodyPr>
          <a:lstStyle/>
          <a:p>
            <a:pPr algn="l">
              <a:lnSpc>
                <a:spcPct val="100000"/>
              </a:lnSpc>
            </a:pPr>
            <a:r>
              <a:rPr sz="1450" b="1">
                <a:solidFill>
                  <a:srgbClr val="23272B"/>
                </a:solidFill>
                <a:latin typeface="Arial"/>
              </a:rPr>
              <a:t>Debt ageing</a:t>
            </a:r>
          </a:p>
        </p:txBody>
      </p:sp>
      <p:sp>
        <p:nvSpPr>
          <p:cNvPr id="28" name="Rounded Rectangle 27"/>
          <p:cNvSpPr/>
          <p:nvPr/>
        </p:nvSpPr>
        <p:spPr>
          <a:xfrm>
            <a:off x="8732520" y="3611880"/>
            <a:ext cx="2743200" cy="749808"/>
          </a:xfrm>
          <a:prstGeom prst="roundRect">
            <a:avLst>
              <a:gd name="adj" fmla="val 14634"/>
            </a:avLst>
          </a:prstGeom>
          <a:solidFill>
            <a:srgbClr val="F4F5F6"/>
          </a:solidFill>
          <a:ln>
            <a:noFill/>
          </a:ln>
          <a:effectLst/>
        </p:spPr>
        <p:txBody>
          <a:bodyPr rtlCol="0" anchor="ctr"/>
          <a:lstStyle/>
          <a:p/>
        </p:txBody>
      </p:sp>
      <p:sp>
        <p:nvSpPr>
          <p:cNvPr id="29" name="Oval 28"/>
          <p:cNvSpPr/>
          <p:nvPr/>
        </p:nvSpPr>
        <p:spPr>
          <a:xfrm>
            <a:off x="8860536" y="3730752"/>
            <a:ext cx="512064" cy="512064"/>
          </a:xfrm>
          <a:prstGeom prst="ellipse">
            <a:avLst/>
          </a:prstGeom>
          <a:solidFill>
            <a:srgbClr val="E6F4EC"/>
          </a:solidFill>
          <a:ln>
            <a:noFill/>
          </a:ln>
          <a:effectLst/>
        </p:spPr>
        <p:txBody>
          <a:bodyPr rtlCol="0" anchor="ctr"/>
          <a:lstStyle/>
          <a:p>
            <a:pPr algn="ctr"/>
          </a:p>
        </p:txBody>
      </p:sp>
      <p:pic>
        <p:nvPicPr>
          <p:cNvPr id="30" name="Picture 29" descr="team_g.png"/>
          <p:cNvPicPr>
            <a:picLocks noChangeAspect="1"/>
          </p:cNvPicPr>
          <p:nvPr/>
        </p:nvPicPr>
        <p:blipFill>
          <a:blip r:embed="rId9"/>
          <a:stretch>
            <a:fillRect/>
          </a:stretch>
        </p:blipFill>
        <p:spPr>
          <a:xfrm>
            <a:off x="8973190" y="3843406"/>
            <a:ext cx="286755" cy="286755"/>
          </a:xfrm>
          <a:prstGeom prst="rect">
            <a:avLst/>
          </a:prstGeom>
        </p:spPr>
      </p:pic>
      <p:sp>
        <p:nvSpPr>
          <p:cNvPr id="31" name="TextBox 30"/>
          <p:cNvSpPr txBox="1"/>
          <p:nvPr/>
        </p:nvSpPr>
        <p:spPr>
          <a:xfrm>
            <a:off x="9509760" y="3611880"/>
            <a:ext cx="1920240" cy="749808"/>
          </a:xfrm>
          <a:prstGeom prst="rect">
            <a:avLst/>
          </a:prstGeom>
          <a:noFill/>
        </p:spPr>
        <p:txBody>
          <a:bodyPr wrap="square" lIns="0" rIns="0" tIns="0" bIns="0" anchor="ctr">
            <a:spAutoFit/>
          </a:bodyPr>
          <a:lstStyle/>
          <a:p>
            <a:pPr algn="l">
              <a:lnSpc>
                <a:spcPct val="100000"/>
              </a:lnSpc>
            </a:pPr>
            <a:r>
              <a:rPr sz="1450" b="1">
                <a:solidFill>
                  <a:srgbClr val="23272B"/>
                </a:solidFill>
                <a:latin typeface="Arial"/>
              </a:rPr>
              <a:t>Rep scorecards</a:t>
            </a:r>
          </a:p>
        </p:txBody>
      </p:sp>
      <p:sp>
        <p:nvSpPr>
          <p:cNvPr id="32" name="Rounded Rectangle 31"/>
          <p:cNvSpPr/>
          <p:nvPr/>
        </p:nvSpPr>
        <p:spPr>
          <a:xfrm>
            <a:off x="5806440" y="4663440"/>
            <a:ext cx="5669280" cy="1280160"/>
          </a:xfrm>
          <a:prstGeom prst="roundRect">
            <a:avLst>
              <a:gd name="adj" fmla="val 10000"/>
            </a:avLst>
          </a:prstGeom>
          <a:solidFill>
            <a:srgbClr val="009343"/>
          </a:solidFill>
          <a:ln>
            <a:noFill/>
          </a:ln>
          <a:effectLst/>
        </p:spPr>
        <p:txBody>
          <a:bodyPr rtlCol="0" anchor="ctr"/>
          <a:lstStyle/>
          <a:p/>
        </p:txBody>
      </p:sp>
      <p:sp>
        <p:nvSpPr>
          <p:cNvPr id="33" name="Oval 32"/>
          <p:cNvSpPr/>
          <p:nvPr/>
        </p:nvSpPr>
        <p:spPr>
          <a:xfrm>
            <a:off x="6035040" y="4910328"/>
            <a:ext cx="777240" cy="777240"/>
          </a:xfrm>
          <a:prstGeom prst="ellipse">
            <a:avLst/>
          </a:prstGeom>
          <a:solidFill>
            <a:srgbClr val="FFFFFF"/>
          </a:solidFill>
          <a:ln>
            <a:noFill/>
          </a:ln>
          <a:effectLst/>
        </p:spPr>
        <p:txBody>
          <a:bodyPr rtlCol="0" anchor="ctr"/>
          <a:lstStyle/>
          <a:p>
            <a:pPr algn="ctr"/>
          </a:p>
        </p:txBody>
      </p:sp>
      <p:pic>
        <p:nvPicPr>
          <p:cNvPr id="34" name="Picture 33" descr="bot_g.png"/>
          <p:cNvPicPr>
            <a:picLocks noChangeAspect="1"/>
          </p:cNvPicPr>
          <p:nvPr/>
        </p:nvPicPr>
        <p:blipFill>
          <a:blip r:embed="rId10"/>
          <a:stretch>
            <a:fillRect/>
          </a:stretch>
        </p:blipFill>
        <p:spPr>
          <a:xfrm>
            <a:off x="6206032" y="5081320"/>
            <a:ext cx="435254" cy="435254"/>
          </a:xfrm>
          <a:prstGeom prst="rect">
            <a:avLst/>
          </a:prstGeom>
        </p:spPr>
      </p:pic>
      <p:sp>
        <p:nvSpPr>
          <p:cNvPr id="35" name="TextBox 34"/>
          <p:cNvSpPr txBox="1"/>
          <p:nvPr/>
        </p:nvSpPr>
        <p:spPr>
          <a:xfrm>
            <a:off x="7040880" y="4663440"/>
            <a:ext cx="4297680" cy="1280160"/>
          </a:xfrm>
          <a:prstGeom prst="rect">
            <a:avLst/>
          </a:prstGeom>
          <a:noFill/>
        </p:spPr>
        <p:txBody>
          <a:bodyPr wrap="square" lIns="0" rIns="0" tIns="0" bIns="0" anchor="ctr">
            <a:spAutoFit/>
          </a:bodyPr>
          <a:lstStyle/>
          <a:p>
            <a:pPr algn="l">
              <a:lnSpc>
                <a:spcPct val="100000"/>
              </a:lnSpc>
            </a:pPr>
            <a:r>
              <a:rPr sz="1700" b="1">
                <a:solidFill>
                  <a:srgbClr val="FFFFFF"/>
                </a:solidFill>
                <a:latin typeface="Arial"/>
              </a:rPr>
              <a:t>CEO bot on Telegram</a:t>
            </a:r>
          </a:p>
          <a:p>
            <a:pPr algn="l">
              <a:lnSpc>
                <a:spcPct val="100000"/>
              </a:lnSpc>
              <a:spcBef>
                <a:spcPts val="300"/>
              </a:spcBef>
            </a:pPr>
            <a:r>
              <a:rPr sz="1350" b="0">
                <a:solidFill>
                  <a:srgbClr val="FFFFFF"/>
                </a:solidFill>
                <a:latin typeface="Arial"/>
              </a:rPr>
              <a:t>Daily, weekly and monthly reports as soon as the ERP file arrives.</a:t>
            </a:r>
          </a:p>
        </p:txBody>
      </p:sp>
      <p:cxnSp>
        <p:nvCxnSpPr>
          <p:cNvPr id="36" name="Connector 35"/>
          <p:cNvCxnSpPr/>
          <p:nvPr/>
        </p:nvCxnSpPr>
        <p:spPr>
          <a:xfrm>
            <a:off x="548640" y="6400800"/>
            <a:ext cx="11094415" cy="0"/>
          </a:xfrm>
          <a:prstGeom prst="line">
            <a:avLst/>
          </a:prstGeom>
          <a:ln w="9525">
            <a:solidFill>
              <a:srgbClr val="D9DEDB"/>
            </a:solidFill>
          </a:ln>
        </p:spPr>
      </p:cxnSp>
      <p:pic>
        <p:nvPicPr>
          <p:cNvPr id="37" name="Picture 36" descr="kad-wordmark.png"/>
          <p:cNvPicPr>
            <a:picLocks noChangeAspect="1"/>
          </p:cNvPicPr>
          <p:nvPr/>
        </p:nvPicPr>
        <p:blipFill>
          <a:blip r:embed="rId11"/>
          <a:stretch>
            <a:fillRect/>
          </a:stretch>
        </p:blipFill>
        <p:spPr>
          <a:xfrm>
            <a:off x="548640" y="6519672"/>
            <a:ext cx="759129" cy="155448"/>
          </a:xfrm>
          <a:prstGeom prst="rect">
            <a:avLst/>
          </a:prstGeom>
        </p:spPr>
      </p:pic>
      <p:sp>
        <p:nvSpPr>
          <p:cNvPr id="38" name="TextBox 37"/>
          <p:cNvSpPr txBox="1"/>
          <p:nvPr/>
        </p:nvSpPr>
        <p:spPr>
          <a:xfrm>
            <a:off x="1417320" y="6492240"/>
            <a:ext cx="6400800" cy="228600"/>
          </a:xfrm>
          <a:prstGeom prst="rect">
            <a:avLst/>
          </a:prstGeom>
          <a:noFill/>
        </p:spPr>
        <p:txBody>
          <a:bodyPr wrap="square" lIns="0" rIns="0" tIns="0" bIns="0" anchor="t">
            <a:spAutoFit/>
          </a:bodyPr>
          <a:lstStyle/>
          <a:p>
            <a:pPr algn="l">
              <a:lnSpc>
                <a:spcPct val="100000"/>
              </a:lnSpc>
            </a:pPr>
            <a:r>
              <a:rPr sz="900" b="0">
                <a:solidFill>
                  <a:srgbClr val="5F6670"/>
                </a:solidFill>
                <a:latin typeface="Arial"/>
              </a:rPr>
              <a:t>Digital Sales Platform for Castrol Distribution</a:t>
            </a:r>
          </a:p>
        </p:txBody>
      </p:sp>
      <p:sp>
        <p:nvSpPr>
          <p:cNvPr id="39" name="TextBox 38"/>
          <p:cNvSpPr txBox="1"/>
          <p:nvPr/>
        </p:nvSpPr>
        <p:spPr>
          <a:xfrm>
            <a:off x="10728655" y="6492240"/>
            <a:ext cx="914400" cy="228600"/>
          </a:xfrm>
          <a:prstGeom prst="rect">
            <a:avLst/>
          </a:prstGeom>
          <a:noFill/>
        </p:spPr>
        <p:txBody>
          <a:bodyPr wrap="square" lIns="0" rIns="0" tIns="0" bIns="0" anchor="t">
            <a:spAutoFit/>
          </a:bodyPr>
          <a:lstStyle/>
          <a:p>
            <a:pPr algn="r">
              <a:lnSpc>
                <a:spcPct val="100000"/>
              </a:lnSpc>
            </a:pPr>
            <a:r>
              <a:rPr sz="900" b="0">
                <a:solidFill>
                  <a:srgbClr val="5F6670"/>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347472"/>
            <a:ext cx="592531" cy="64008"/>
          </a:xfrm>
          <a:prstGeom prst="rect">
            <a:avLst/>
          </a:prstGeom>
          <a:solidFill>
            <a:srgbClr val="009343"/>
          </a:solidFill>
          <a:ln>
            <a:noFill/>
          </a:ln>
          <a:effectLst/>
        </p:spPr>
        <p:txBody>
          <a:bodyPr rtlCol="0" anchor="ctr"/>
          <a:lstStyle/>
          <a:p/>
        </p:txBody>
      </p:sp>
      <p:sp>
        <p:nvSpPr>
          <p:cNvPr id="3" name="Rectangle 2"/>
          <p:cNvSpPr/>
          <p:nvPr/>
        </p:nvSpPr>
        <p:spPr>
          <a:xfrm>
            <a:off x="1141171" y="347472"/>
            <a:ext cx="230428" cy="64008"/>
          </a:xfrm>
          <a:prstGeom prst="rect">
            <a:avLst/>
          </a:prstGeom>
          <a:solidFill>
            <a:srgbClr val="E2001A"/>
          </a:solidFill>
          <a:ln>
            <a:noFill/>
          </a:ln>
          <a:effectLst/>
        </p:spPr>
        <p:txBody>
          <a:bodyPr rtlCol="0" anchor="ctr"/>
          <a:lstStyle/>
          <a:p/>
        </p:txBody>
      </p:sp>
      <p:sp>
        <p:nvSpPr>
          <p:cNvPr id="4" name="TextBox 3"/>
          <p:cNvSpPr txBox="1"/>
          <p:nvPr/>
        </p:nvSpPr>
        <p:spPr>
          <a:xfrm>
            <a:off x="548640" y="502920"/>
            <a:ext cx="9144000" cy="274320"/>
          </a:xfrm>
          <a:prstGeom prst="rect">
            <a:avLst/>
          </a:prstGeom>
          <a:noFill/>
        </p:spPr>
        <p:txBody>
          <a:bodyPr wrap="square" lIns="0" rIns="0" tIns="0" bIns="0" anchor="t">
            <a:spAutoFit/>
          </a:bodyPr>
          <a:lstStyle/>
          <a:p>
            <a:pPr algn="l">
              <a:lnSpc>
                <a:spcPct val="100000"/>
              </a:lnSpc>
            </a:pPr>
            <a:r>
              <a:rPr sz="1200" b="1">
                <a:solidFill>
                  <a:srgbClr val="009343"/>
                </a:solidFill>
                <a:latin typeface="Arial"/>
              </a:rPr>
              <a:t>WHAT MAKES IT UNIQUE</a:t>
            </a:r>
          </a:p>
        </p:txBody>
      </p:sp>
      <p:sp>
        <p:nvSpPr>
          <p:cNvPr id="5" name="TextBox 4"/>
          <p:cNvSpPr txBox="1"/>
          <p:nvPr/>
        </p:nvSpPr>
        <p:spPr>
          <a:xfrm>
            <a:off x="548640" y="777240"/>
            <a:ext cx="11064240" cy="914400"/>
          </a:xfrm>
          <a:prstGeom prst="rect">
            <a:avLst/>
          </a:prstGeom>
          <a:noFill/>
        </p:spPr>
        <p:txBody>
          <a:bodyPr wrap="square" lIns="0" rIns="0" tIns="0" bIns="0" anchor="t">
            <a:spAutoFit/>
          </a:bodyPr>
          <a:lstStyle/>
          <a:p>
            <a:pPr algn="l">
              <a:lnSpc>
                <a:spcPct val="95000"/>
              </a:lnSpc>
            </a:pPr>
            <a:r>
              <a:rPr sz="3000" b="1">
                <a:solidFill>
                  <a:srgbClr val="23272B"/>
                </a:solidFill>
                <a:latin typeface="Arial"/>
              </a:rPr>
              <a:t>Twelve things we have not seen in other distributor tools</a:t>
            </a:r>
          </a:p>
        </p:txBody>
      </p:sp>
      <p:sp>
        <p:nvSpPr>
          <p:cNvPr id="6" name="Rounded Rectangle 5"/>
          <p:cNvSpPr/>
          <p:nvPr/>
        </p:nvSpPr>
        <p:spPr>
          <a:xfrm>
            <a:off x="548640" y="1691640"/>
            <a:ext cx="2670048" cy="1325880"/>
          </a:xfrm>
          <a:prstGeom prst="roundRect">
            <a:avLst>
              <a:gd name="adj" fmla="val 8275"/>
            </a:avLst>
          </a:prstGeom>
          <a:solidFill>
            <a:srgbClr val="F4F5F6"/>
          </a:solidFill>
          <a:ln>
            <a:noFill/>
          </a:ln>
          <a:effectLst/>
        </p:spPr>
        <p:txBody>
          <a:bodyPr rtlCol="0" anchor="ctr"/>
          <a:lstStyle/>
          <a:p/>
        </p:txBody>
      </p:sp>
      <p:sp>
        <p:nvSpPr>
          <p:cNvPr id="7" name="Oval 6"/>
          <p:cNvSpPr/>
          <p:nvPr/>
        </p:nvSpPr>
        <p:spPr>
          <a:xfrm>
            <a:off x="713232" y="1874520"/>
            <a:ext cx="566928" cy="566928"/>
          </a:xfrm>
          <a:prstGeom prst="ellipse">
            <a:avLst/>
          </a:prstGeom>
          <a:solidFill>
            <a:srgbClr val="E6F4EC"/>
          </a:solidFill>
          <a:ln>
            <a:noFill/>
          </a:ln>
          <a:effectLst/>
        </p:spPr>
        <p:txBody>
          <a:bodyPr rtlCol="0" anchor="ctr"/>
          <a:lstStyle/>
          <a:p>
            <a:pPr algn="ctr"/>
          </a:p>
        </p:txBody>
      </p:sp>
      <p:pic>
        <p:nvPicPr>
          <p:cNvPr id="8" name="Picture 7" descr="vaghinak_g.png"/>
          <p:cNvPicPr>
            <a:picLocks noChangeAspect="1"/>
          </p:cNvPicPr>
          <p:nvPr/>
        </p:nvPicPr>
        <p:blipFill>
          <a:blip r:embed="rId2"/>
          <a:stretch>
            <a:fillRect/>
          </a:stretch>
        </p:blipFill>
        <p:spPr>
          <a:xfrm>
            <a:off x="837956" y="1999244"/>
            <a:ext cx="317479" cy="317479"/>
          </a:xfrm>
          <a:prstGeom prst="rect">
            <a:avLst/>
          </a:prstGeom>
        </p:spPr>
      </p:pic>
      <p:sp>
        <p:nvSpPr>
          <p:cNvPr id="9" name="TextBox 8"/>
          <p:cNvSpPr txBox="1"/>
          <p:nvPr/>
        </p:nvSpPr>
        <p:spPr>
          <a:xfrm>
            <a:off x="1417319" y="1874520"/>
            <a:ext cx="1737360" cy="566928"/>
          </a:xfrm>
          <a:prstGeom prst="rect">
            <a:avLst/>
          </a:prstGeom>
          <a:noFill/>
        </p:spPr>
        <p:txBody>
          <a:bodyPr wrap="square" lIns="0" rIns="0" tIns="0" bIns="0" anchor="ctr">
            <a:spAutoFit/>
          </a:bodyPr>
          <a:lstStyle/>
          <a:p>
            <a:pPr algn="l">
              <a:lnSpc>
                <a:spcPct val="95000"/>
              </a:lnSpc>
            </a:pPr>
            <a:r>
              <a:rPr sz="1350" b="1">
                <a:solidFill>
                  <a:srgbClr val="23272B"/>
                </a:solidFill>
                <a:latin typeface="Arial"/>
              </a:rPr>
              <a:t>AI deputy director</a:t>
            </a:r>
          </a:p>
        </p:txBody>
      </p:sp>
      <p:sp>
        <p:nvSpPr>
          <p:cNvPr id="10" name="TextBox 9"/>
          <p:cNvSpPr txBox="1"/>
          <p:nvPr/>
        </p:nvSpPr>
        <p:spPr>
          <a:xfrm>
            <a:off x="713232" y="2514600"/>
            <a:ext cx="2395728" cy="457200"/>
          </a:xfrm>
          <a:prstGeom prst="rect">
            <a:avLst/>
          </a:prstGeom>
          <a:noFill/>
        </p:spPr>
        <p:txBody>
          <a:bodyPr wrap="square" lIns="0" rIns="0" tIns="0" bIns="0" anchor="t">
            <a:spAutoFit/>
          </a:bodyPr>
          <a:lstStyle/>
          <a:p>
            <a:pPr algn="l">
              <a:lnSpc>
                <a:spcPct val="100000"/>
              </a:lnSpc>
            </a:pPr>
            <a:r>
              <a:rPr sz="1100" b="0">
                <a:solidFill>
                  <a:srgbClr val="5F6670"/>
                </a:solidFill>
                <a:latin typeface="Arial"/>
              </a:rPr>
              <a:t>Finds problems, assigns, chases, escalates</a:t>
            </a:r>
          </a:p>
        </p:txBody>
      </p:sp>
      <p:sp>
        <p:nvSpPr>
          <p:cNvPr id="11" name="Rounded Rectangle 10"/>
          <p:cNvSpPr/>
          <p:nvPr/>
        </p:nvSpPr>
        <p:spPr>
          <a:xfrm>
            <a:off x="3355848" y="1691640"/>
            <a:ext cx="2670048" cy="1325880"/>
          </a:xfrm>
          <a:prstGeom prst="roundRect">
            <a:avLst>
              <a:gd name="adj" fmla="val 8275"/>
            </a:avLst>
          </a:prstGeom>
          <a:solidFill>
            <a:srgbClr val="F4F5F6"/>
          </a:solidFill>
          <a:ln>
            <a:noFill/>
          </a:ln>
          <a:effectLst/>
        </p:spPr>
        <p:txBody>
          <a:bodyPr rtlCol="0" anchor="ctr"/>
          <a:lstStyle/>
          <a:p/>
        </p:txBody>
      </p:sp>
      <p:sp>
        <p:nvSpPr>
          <p:cNvPr id="12" name="Oval 11"/>
          <p:cNvSpPr/>
          <p:nvPr/>
        </p:nvSpPr>
        <p:spPr>
          <a:xfrm>
            <a:off x="3520440" y="1874520"/>
            <a:ext cx="566928" cy="566928"/>
          </a:xfrm>
          <a:prstGeom prst="ellipse">
            <a:avLst/>
          </a:prstGeom>
          <a:solidFill>
            <a:srgbClr val="E6F4EC"/>
          </a:solidFill>
          <a:ln>
            <a:noFill/>
          </a:ln>
          <a:effectLst/>
        </p:spPr>
        <p:txBody>
          <a:bodyPr rtlCol="0" anchor="ctr"/>
          <a:lstStyle/>
          <a:p>
            <a:pPr algn="ctr"/>
          </a:p>
        </p:txBody>
      </p:sp>
      <p:pic>
        <p:nvPicPr>
          <p:cNvPr id="13" name="Picture 12" descr="eye_g.png"/>
          <p:cNvPicPr>
            <a:picLocks noChangeAspect="1"/>
          </p:cNvPicPr>
          <p:nvPr/>
        </p:nvPicPr>
        <p:blipFill>
          <a:blip r:embed="rId3"/>
          <a:stretch>
            <a:fillRect/>
          </a:stretch>
        </p:blipFill>
        <p:spPr>
          <a:xfrm>
            <a:off x="3645164" y="1999244"/>
            <a:ext cx="317479" cy="317479"/>
          </a:xfrm>
          <a:prstGeom prst="rect">
            <a:avLst/>
          </a:prstGeom>
        </p:spPr>
      </p:pic>
      <p:sp>
        <p:nvSpPr>
          <p:cNvPr id="14" name="TextBox 13"/>
          <p:cNvSpPr txBox="1"/>
          <p:nvPr/>
        </p:nvSpPr>
        <p:spPr>
          <a:xfrm>
            <a:off x="4224528" y="1874520"/>
            <a:ext cx="1737360" cy="566928"/>
          </a:xfrm>
          <a:prstGeom prst="rect">
            <a:avLst/>
          </a:prstGeom>
          <a:noFill/>
        </p:spPr>
        <p:txBody>
          <a:bodyPr wrap="square" lIns="0" rIns="0" tIns="0" bIns="0" anchor="ctr">
            <a:spAutoFit/>
          </a:bodyPr>
          <a:lstStyle/>
          <a:p>
            <a:pPr algn="l">
              <a:lnSpc>
                <a:spcPct val="95000"/>
              </a:lnSpc>
            </a:pPr>
            <a:r>
              <a:rPr sz="1350" b="1">
                <a:solidFill>
                  <a:srgbClr val="23272B"/>
                </a:solidFill>
                <a:latin typeface="Arial"/>
              </a:rPr>
              <a:t>Shelf &amp; fake tracking</a:t>
            </a:r>
          </a:p>
        </p:txBody>
      </p:sp>
      <p:sp>
        <p:nvSpPr>
          <p:cNvPr id="15" name="TextBox 14"/>
          <p:cNvSpPr txBox="1"/>
          <p:nvPr/>
        </p:nvSpPr>
        <p:spPr>
          <a:xfrm>
            <a:off x="3520440" y="2514600"/>
            <a:ext cx="2395728" cy="457200"/>
          </a:xfrm>
          <a:prstGeom prst="rect">
            <a:avLst/>
          </a:prstGeom>
          <a:noFill/>
        </p:spPr>
        <p:txBody>
          <a:bodyPr wrap="square" lIns="0" rIns="0" tIns="0" bIns="0" anchor="t">
            <a:spAutoFit/>
          </a:bodyPr>
          <a:lstStyle/>
          <a:p>
            <a:pPr algn="l">
              <a:lnSpc>
                <a:spcPct val="100000"/>
              </a:lnSpc>
            </a:pPr>
            <a:r>
              <a:rPr sz="1100" b="0">
                <a:solidFill>
                  <a:srgbClr val="5F6670"/>
                </a:solidFill>
                <a:latin typeface="Arial"/>
              </a:rPr>
              <a:t>Fakes, parallel imports, no QR/excise</a:t>
            </a:r>
          </a:p>
        </p:txBody>
      </p:sp>
      <p:sp>
        <p:nvSpPr>
          <p:cNvPr id="16" name="Rounded Rectangle 15"/>
          <p:cNvSpPr/>
          <p:nvPr/>
        </p:nvSpPr>
        <p:spPr>
          <a:xfrm>
            <a:off x="6163055" y="1691640"/>
            <a:ext cx="2670048" cy="1325880"/>
          </a:xfrm>
          <a:prstGeom prst="roundRect">
            <a:avLst>
              <a:gd name="adj" fmla="val 8275"/>
            </a:avLst>
          </a:prstGeom>
          <a:solidFill>
            <a:srgbClr val="F4F5F6"/>
          </a:solidFill>
          <a:ln>
            <a:noFill/>
          </a:ln>
          <a:effectLst/>
        </p:spPr>
        <p:txBody>
          <a:bodyPr rtlCol="0" anchor="ctr"/>
          <a:lstStyle/>
          <a:p/>
        </p:txBody>
      </p:sp>
      <p:sp>
        <p:nvSpPr>
          <p:cNvPr id="17" name="Oval 16"/>
          <p:cNvSpPr/>
          <p:nvPr/>
        </p:nvSpPr>
        <p:spPr>
          <a:xfrm>
            <a:off x="6327647" y="1874520"/>
            <a:ext cx="566928" cy="566928"/>
          </a:xfrm>
          <a:prstGeom prst="ellipse">
            <a:avLst/>
          </a:prstGeom>
          <a:solidFill>
            <a:srgbClr val="E6F4EC"/>
          </a:solidFill>
          <a:ln>
            <a:noFill/>
          </a:ln>
          <a:effectLst/>
        </p:spPr>
        <p:txBody>
          <a:bodyPr rtlCol="0" anchor="ctr"/>
          <a:lstStyle/>
          <a:p>
            <a:pPr algn="ctr"/>
          </a:p>
        </p:txBody>
      </p:sp>
      <p:pic>
        <p:nvPicPr>
          <p:cNvPr id="18" name="Picture 17" descr="tag_g.png"/>
          <p:cNvPicPr>
            <a:picLocks noChangeAspect="1"/>
          </p:cNvPicPr>
          <p:nvPr/>
        </p:nvPicPr>
        <p:blipFill>
          <a:blip r:embed="rId4"/>
          <a:stretch>
            <a:fillRect/>
          </a:stretch>
        </p:blipFill>
        <p:spPr>
          <a:xfrm>
            <a:off x="6452372" y="1999244"/>
            <a:ext cx="317479" cy="317479"/>
          </a:xfrm>
          <a:prstGeom prst="rect">
            <a:avLst/>
          </a:prstGeom>
        </p:spPr>
      </p:pic>
      <p:sp>
        <p:nvSpPr>
          <p:cNvPr id="19" name="TextBox 18"/>
          <p:cNvSpPr txBox="1"/>
          <p:nvPr/>
        </p:nvSpPr>
        <p:spPr>
          <a:xfrm>
            <a:off x="7031736" y="1874520"/>
            <a:ext cx="1737360" cy="566928"/>
          </a:xfrm>
          <a:prstGeom prst="rect">
            <a:avLst/>
          </a:prstGeom>
          <a:noFill/>
        </p:spPr>
        <p:txBody>
          <a:bodyPr wrap="square" lIns="0" rIns="0" tIns="0" bIns="0" anchor="ctr">
            <a:spAutoFit/>
          </a:bodyPr>
          <a:lstStyle/>
          <a:p>
            <a:pPr algn="l">
              <a:lnSpc>
                <a:spcPct val="95000"/>
              </a:lnSpc>
            </a:pPr>
            <a:r>
              <a:rPr sz="1350" b="1">
                <a:solidFill>
                  <a:srgbClr val="23272B"/>
                </a:solidFill>
                <a:latin typeface="Arial"/>
              </a:rPr>
              <a:t>Price floor</a:t>
            </a:r>
          </a:p>
        </p:txBody>
      </p:sp>
      <p:sp>
        <p:nvSpPr>
          <p:cNvPr id="20" name="TextBox 19"/>
          <p:cNvSpPr txBox="1"/>
          <p:nvPr/>
        </p:nvSpPr>
        <p:spPr>
          <a:xfrm>
            <a:off x="6327647" y="2514600"/>
            <a:ext cx="2395728" cy="457200"/>
          </a:xfrm>
          <a:prstGeom prst="rect">
            <a:avLst/>
          </a:prstGeom>
          <a:noFill/>
        </p:spPr>
        <p:txBody>
          <a:bodyPr wrap="square" lIns="0" rIns="0" tIns="0" bIns="0" anchor="t">
            <a:spAutoFit/>
          </a:bodyPr>
          <a:lstStyle/>
          <a:p>
            <a:pPr algn="l">
              <a:lnSpc>
                <a:spcPct val="100000"/>
              </a:lnSpc>
            </a:pPr>
            <a:r>
              <a:rPr sz="1100" b="0">
                <a:solidFill>
                  <a:srgbClr val="5F6670"/>
                </a:solidFill>
                <a:latin typeface="Arial"/>
              </a:rPr>
              <a:t>Below landing cost? Only the CEO approves</a:t>
            </a:r>
          </a:p>
        </p:txBody>
      </p:sp>
      <p:sp>
        <p:nvSpPr>
          <p:cNvPr id="21" name="Rounded Rectangle 20"/>
          <p:cNvSpPr/>
          <p:nvPr/>
        </p:nvSpPr>
        <p:spPr>
          <a:xfrm>
            <a:off x="8970263" y="1691640"/>
            <a:ext cx="2670048" cy="1325880"/>
          </a:xfrm>
          <a:prstGeom prst="roundRect">
            <a:avLst>
              <a:gd name="adj" fmla="val 8275"/>
            </a:avLst>
          </a:prstGeom>
          <a:solidFill>
            <a:srgbClr val="F4F5F6"/>
          </a:solidFill>
          <a:ln>
            <a:noFill/>
          </a:ln>
          <a:effectLst/>
        </p:spPr>
        <p:txBody>
          <a:bodyPr rtlCol="0" anchor="ctr"/>
          <a:lstStyle/>
          <a:p/>
        </p:txBody>
      </p:sp>
      <p:sp>
        <p:nvSpPr>
          <p:cNvPr id="22" name="Oval 21"/>
          <p:cNvSpPr/>
          <p:nvPr/>
        </p:nvSpPr>
        <p:spPr>
          <a:xfrm>
            <a:off x="9134855" y="1874520"/>
            <a:ext cx="566928" cy="566928"/>
          </a:xfrm>
          <a:prstGeom prst="ellipse">
            <a:avLst/>
          </a:prstGeom>
          <a:solidFill>
            <a:srgbClr val="E6F4EC"/>
          </a:solidFill>
          <a:ln>
            <a:noFill/>
          </a:ln>
          <a:effectLst/>
        </p:spPr>
        <p:txBody>
          <a:bodyPr rtlCol="0" anchor="ctr"/>
          <a:lstStyle/>
          <a:p>
            <a:pPr algn="ctr"/>
          </a:p>
        </p:txBody>
      </p:sp>
      <p:pic>
        <p:nvPicPr>
          <p:cNvPr id="23" name="Picture 22" descr="history_g.png"/>
          <p:cNvPicPr>
            <a:picLocks noChangeAspect="1"/>
          </p:cNvPicPr>
          <p:nvPr/>
        </p:nvPicPr>
        <p:blipFill>
          <a:blip r:embed="rId5"/>
          <a:stretch>
            <a:fillRect/>
          </a:stretch>
        </p:blipFill>
        <p:spPr>
          <a:xfrm>
            <a:off x="9259580" y="1999244"/>
            <a:ext cx="317479" cy="317479"/>
          </a:xfrm>
          <a:prstGeom prst="rect">
            <a:avLst/>
          </a:prstGeom>
        </p:spPr>
      </p:pic>
      <p:sp>
        <p:nvSpPr>
          <p:cNvPr id="24" name="TextBox 23"/>
          <p:cNvSpPr txBox="1"/>
          <p:nvPr/>
        </p:nvSpPr>
        <p:spPr>
          <a:xfrm>
            <a:off x="9838943" y="1874520"/>
            <a:ext cx="1737360" cy="566928"/>
          </a:xfrm>
          <a:prstGeom prst="rect">
            <a:avLst/>
          </a:prstGeom>
          <a:noFill/>
        </p:spPr>
        <p:txBody>
          <a:bodyPr wrap="square" lIns="0" rIns="0" tIns="0" bIns="0" anchor="ctr">
            <a:spAutoFit/>
          </a:bodyPr>
          <a:lstStyle/>
          <a:p>
            <a:pPr algn="l">
              <a:lnSpc>
                <a:spcPct val="95000"/>
              </a:lnSpc>
            </a:pPr>
            <a:r>
              <a:rPr sz="1350" b="1">
                <a:solidFill>
                  <a:srgbClr val="23272B"/>
                </a:solidFill>
                <a:latin typeface="Arial"/>
              </a:rPr>
              <a:t>Debt per invoice</a:t>
            </a:r>
          </a:p>
        </p:txBody>
      </p:sp>
      <p:sp>
        <p:nvSpPr>
          <p:cNvPr id="25" name="TextBox 24"/>
          <p:cNvSpPr txBox="1"/>
          <p:nvPr/>
        </p:nvSpPr>
        <p:spPr>
          <a:xfrm>
            <a:off x="9134855" y="2514600"/>
            <a:ext cx="2395728" cy="457200"/>
          </a:xfrm>
          <a:prstGeom prst="rect">
            <a:avLst/>
          </a:prstGeom>
          <a:noFill/>
        </p:spPr>
        <p:txBody>
          <a:bodyPr wrap="square" lIns="0" rIns="0" tIns="0" bIns="0" anchor="t">
            <a:spAutoFit/>
          </a:bodyPr>
          <a:lstStyle/>
          <a:p>
            <a:pPr algn="l">
              <a:lnSpc>
                <a:spcPct val="100000"/>
              </a:lnSpc>
            </a:pPr>
            <a:r>
              <a:rPr sz="1100" b="0">
                <a:solidFill>
                  <a:srgbClr val="5F6670"/>
                </a:solidFill>
                <a:latin typeface="Arial"/>
              </a:rPr>
              <a:t>Real age of every unpaid invoice</a:t>
            </a:r>
          </a:p>
        </p:txBody>
      </p:sp>
      <p:sp>
        <p:nvSpPr>
          <p:cNvPr id="26" name="Rounded Rectangle 25"/>
          <p:cNvSpPr/>
          <p:nvPr/>
        </p:nvSpPr>
        <p:spPr>
          <a:xfrm>
            <a:off x="548640" y="3154680"/>
            <a:ext cx="2670048" cy="1325880"/>
          </a:xfrm>
          <a:prstGeom prst="roundRect">
            <a:avLst>
              <a:gd name="adj" fmla="val 8275"/>
            </a:avLst>
          </a:prstGeom>
          <a:solidFill>
            <a:srgbClr val="F4F5F6"/>
          </a:solidFill>
          <a:ln>
            <a:noFill/>
          </a:ln>
          <a:effectLst/>
        </p:spPr>
        <p:txBody>
          <a:bodyPr rtlCol="0" anchor="ctr"/>
          <a:lstStyle/>
          <a:p/>
        </p:txBody>
      </p:sp>
      <p:sp>
        <p:nvSpPr>
          <p:cNvPr id="27" name="Oval 26"/>
          <p:cNvSpPr/>
          <p:nvPr/>
        </p:nvSpPr>
        <p:spPr>
          <a:xfrm>
            <a:off x="713232" y="3337560"/>
            <a:ext cx="566928" cy="566928"/>
          </a:xfrm>
          <a:prstGeom prst="ellipse">
            <a:avLst/>
          </a:prstGeom>
          <a:solidFill>
            <a:srgbClr val="E6F4EC"/>
          </a:solidFill>
          <a:ln>
            <a:noFill/>
          </a:ln>
          <a:effectLst/>
        </p:spPr>
        <p:txBody>
          <a:bodyPr rtlCol="0" anchor="ctr"/>
          <a:lstStyle/>
          <a:p>
            <a:pPr algn="ctr"/>
          </a:p>
        </p:txBody>
      </p:sp>
      <p:pic>
        <p:nvPicPr>
          <p:cNvPr id="28" name="Picture 27" descr="checkCircle_g.png"/>
          <p:cNvPicPr>
            <a:picLocks noChangeAspect="1"/>
          </p:cNvPicPr>
          <p:nvPr/>
        </p:nvPicPr>
        <p:blipFill>
          <a:blip r:embed="rId6"/>
          <a:stretch>
            <a:fillRect/>
          </a:stretch>
        </p:blipFill>
        <p:spPr>
          <a:xfrm>
            <a:off x="837956" y="3462284"/>
            <a:ext cx="317479" cy="317479"/>
          </a:xfrm>
          <a:prstGeom prst="rect">
            <a:avLst/>
          </a:prstGeom>
        </p:spPr>
      </p:pic>
      <p:sp>
        <p:nvSpPr>
          <p:cNvPr id="29" name="TextBox 28"/>
          <p:cNvSpPr txBox="1"/>
          <p:nvPr/>
        </p:nvSpPr>
        <p:spPr>
          <a:xfrm>
            <a:off x="1417319" y="3337560"/>
            <a:ext cx="1737360" cy="566928"/>
          </a:xfrm>
          <a:prstGeom prst="rect">
            <a:avLst/>
          </a:prstGeom>
          <a:noFill/>
        </p:spPr>
        <p:txBody>
          <a:bodyPr wrap="square" lIns="0" rIns="0" tIns="0" bIns="0" anchor="ctr">
            <a:spAutoFit/>
          </a:bodyPr>
          <a:lstStyle/>
          <a:p>
            <a:pPr algn="l">
              <a:lnSpc>
                <a:spcPct val="95000"/>
              </a:lnSpc>
            </a:pPr>
            <a:r>
              <a:rPr sz="1350" b="1">
                <a:solidFill>
                  <a:srgbClr val="23272B"/>
                </a:solidFill>
                <a:latin typeface="Arial"/>
              </a:rPr>
              <a:t>Self-closing tasks</a:t>
            </a:r>
          </a:p>
        </p:txBody>
      </p:sp>
      <p:sp>
        <p:nvSpPr>
          <p:cNvPr id="30" name="TextBox 29"/>
          <p:cNvSpPr txBox="1"/>
          <p:nvPr/>
        </p:nvSpPr>
        <p:spPr>
          <a:xfrm>
            <a:off x="713232" y="3977640"/>
            <a:ext cx="2395728" cy="457200"/>
          </a:xfrm>
          <a:prstGeom prst="rect">
            <a:avLst/>
          </a:prstGeom>
          <a:noFill/>
        </p:spPr>
        <p:txBody>
          <a:bodyPr wrap="square" lIns="0" rIns="0" tIns="0" bIns="0" anchor="t">
            <a:spAutoFit/>
          </a:bodyPr>
          <a:lstStyle/>
          <a:p>
            <a:pPr algn="l">
              <a:lnSpc>
                <a:spcPct val="100000"/>
              </a:lnSpc>
            </a:pPr>
            <a:r>
              <a:rPr sz="1100" b="0">
                <a:solidFill>
                  <a:srgbClr val="5F6670"/>
                </a:solidFill>
                <a:latin typeface="Arial"/>
              </a:rPr>
              <a:t>Bank payment in the ERP closes the task</a:t>
            </a:r>
          </a:p>
        </p:txBody>
      </p:sp>
      <p:sp>
        <p:nvSpPr>
          <p:cNvPr id="31" name="Rounded Rectangle 30"/>
          <p:cNvSpPr/>
          <p:nvPr/>
        </p:nvSpPr>
        <p:spPr>
          <a:xfrm>
            <a:off x="3355848" y="3154680"/>
            <a:ext cx="2670048" cy="1325880"/>
          </a:xfrm>
          <a:prstGeom prst="roundRect">
            <a:avLst>
              <a:gd name="adj" fmla="val 8275"/>
            </a:avLst>
          </a:prstGeom>
          <a:solidFill>
            <a:srgbClr val="F4F5F6"/>
          </a:solidFill>
          <a:ln>
            <a:noFill/>
          </a:ln>
          <a:effectLst/>
        </p:spPr>
        <p:txBody>
          <a:bodyPr rtlCol="0" anchor="ctr"/>
          <a:lstStyle/>
          <a:p/>
        </p:txBody>
      </p:sp>
      <p:sp>
        <p:nvSpPr>
          <p:cNvPr id="32" name="Oval 31"/>
          <p:cNvSpPr/>
          <p:nvPr/>
        </p:nvSpPr>
        <p:spPr>
          <a:xfrm>
            <a:off x="3520440" y="3337560"/>
            <a:ext cx="566928" cy="566928"/>
          </a:xfrm>
          <a:prstGeom prst="ellipse">
            <a:avLst/>
          </a:prstGeom>
          <a:solidFill>
            <a:srgbClr val="E6F4EC"/>
          </a:solidFill>
          <a:ln>
            <a:noFill/>
          </a:ln>
          <a:effectLst/>
        </p:spPr>
        <p:txBody>
          <a:bodyPr rtlCol="0" anchor="ctr"/>
          <a:lstStyle/>
          <a:p>
            <a:pPr algn="ctr"/>
          </a:p>
        </p:txBody>
      </p:sp>
      <p:pic>
        <p:nvPicPr>
          <p:cNvPr id="33" name="Picture 32" descr="mapPinCheck_g.png"/>
          <p:cNvPicPr>
            <a:picLocks noChangeAspect="1"/>
          </p:cNvPicPr>
          <p:nvPr/>
        </p:nvPicPr>
        <p:blipFill>
          <a:blip r:embed="rId7"/>
          <a:stretch>
            <a:fillRect/>
          </a:stretch>
        </p:blipFill>
        <p:spPr>
          <a:xfrm>
            <a:off x="3645164" y="3462284"/>
            <a:ext cx="317479" cy="317479"/>
          </a:xfrm>
          <a:prstGeom prst="rect">
            <a:avLst/>
          </a:prstGeom>
        </p:spPr>
      </p:pic>
      <p:sp>
        <p:nvSpPr>
          <p:cNvPr id="34" name="TextBox 33"/>
          <p:cNvSpPr txBox="1"/>
          <p:nvPr/>
        </p:nvSpPr>
        <p:spPr>
          <a:xfrm>
            <a:off x="4224528" y="3337560"/>
            <a:ext cx="1737360" cy="566928"/>
          </a:xfrm>
          <a:prstGeom prst="rect">
            <a:avLst/>
          </a:prstGeom>
          <a:noFill/>
        </p:spPr>
        <p:txBody>
          <a:bodyPr wrap="square" lIns="0" rIns="0" tIns="0" bIns="0" anchor="ctr">
            <a:spAutoFit/>
          </a:bodyPr>
          <a:lstStyle/>
          <a:p>
            <a:pPr algn="l">
              <a:lnSpc>
                <a:spcPct val="95000"/>
              </a:lnSpc>
            </a:pPr>
            <a:r>
              <a:rPr sz="1350" b="1">
                <a:solidFill>
                  <a:srgbClr val="23272B"/>
                </a:solidFill>
                <a:latin typeface="Arial"/>
              </a:rPr>
              <a:t>Pin review</a:t>
            </a:r>
          </a:p>
        </p:txBody>
      </p:sp>
      <p:sp>
        <p:nvSpPr>
          <p:cNvPr id="35" name="TextBox 34"/>
          <p:cNvSpPr txBox="1"/>
          <p:nvPr/>
        </p:nvSpPr>
        <p:spPr>
          <a:xfrm>
            <a:off x="3520440" y="3977640"/>
            <a:ext cx="2395728" cy="457200"/>
          </a:xfrm>
          <a:prstGeom prst="rect">
            <a:avLst/>
          </a:prstGeom>
          <a:noFill/>
        </p:spPr>
        <p:txBody>
          <a:bodyPr wrap="square" lIns="0" rIns="0" tIns="0" bIns="0" anchor="t">
            <a:spAutoFit/>
          </a:bodyPr>
          <a:lstStyle/>
          <a:p>
            <a:pPr algn="l">
              <a:lnSpc>
                <a:spcPct val="100000"/>
              </a:lnSpc>
            </a:pPr>
            <a:r>
              <a:rPr sz="1100" b="0">
                <a:solidFill>
                  <a:srgbClr val="5F6670"/>
                </a:solidFill>
                <a:latin typeface="Arial"/>
              </a:rPr>
              <a:t>GPS evidence finds wrong shop locations</a:t>
            </a:r>
          </a:p>
        </p:txBody>
      </p:sp>
      <p:sp>
        <p:nvSpPr>
          <p:cNvPr id="36" name="Rounded Rectangle 35"/>
          <p:cNvSpPr/>
          <p:nvPr/>
        </p:nvSpPr>
        <p:spPr>
          <a:xfrm>
            <a:off x="6163055" y="3154680"/>
            <a:ext cx="2670048" cy="1325880"/>
          </a:xfrm>
          <a:prstGeom prst="roundRect">
            <a:avLst>
              <a:gd name="adj" fmla="val 8275"/>
            </a:avLst>
          </a:prstGeom>
          <a:solidFill>
            <a:srgbClr val="F4F5F6"/>
          </a:solidFill>
          <a:ln>
            <a:noFill/>
          </a:ln>
          <a:effectLst/>
        </p:spPr>
        <p:txBody>
          <a:bodyPr rtlCol="0" anchor="ctr"/>
          <a:lstStyle/>
          <a:p/>
        </p:txBody>
      </p:sp>
      <p:sp>
        <p:nvSpPr>
          <p:cNvPr id="37" name="Oval 36"/>
          <p:cNvSpPr/>
          <p:nvPr/>
        </p:nvSpPr>
        <p:spPr>
          <a:xfrm>
            <a:off x="6327647" y="3337560"/>
            <a:ext cx="566928" cy="566928"/>
          </a:xfrm>
          <a:prstGeom prst="ellipse">
            <a:avLst/>
          </a:prstGeom>
          <a:solidFill>
            <a:srgbClr val="E6F4EC"/>
          </a:solidFill>
          <a:ln>
            <a:noFill/>
          </a:ln>
          <a:effectLst/>
        </p:spPr>
        <p:txBody>
          <a:bodyPr rtlCol="0" anchor="ctr"/>
          <a:lstStyle/>
          <a:p>
            <a:pPr algn="ctr"/>
          </a:p>
        </p:txBody>
      </p:sp>
      <p:pic>
        <p:nvPicPr>
          <p:cNvPr id="38" name="Picture 37" descr="route_g.png"/>
          <p:cNvPicPr>
            <a:picLocks noChangeAspect="1"/>
          </p:cNvPicPr>
          <p:nvPr/>
        </p:nvPicPr>
        <p:blipFill>
          <a:blip r:embed="rId8"/>
          <a:stretch>
            <a:fillRect/>
          </a:stretch>
        </p:blipFill>
        <p:spPr>
          <a:xfrm>
            <a:off x="6452372" y="3462284"/>
            <a:ext cx="317479" cy="317479"/>
          </a:xfrm>
          <a:prstGeom prst="rect">
            <a:avLst/>
          </a:prstGeom>
        </p:spPr>
      </p:pic>
      <p:sp>
        <p:nvSpPr>
          <p:cNvPr id="39" name="TextBox 38"/>
          <p:cNvSpPr txBox="1"/>
          <p:nvPr/>
        </p:nvSpPr>
        <p:spPr>
          <a:xfrm>
            <a:off x="7031736" y="3337560"/>
            <a:ext cx="1737360" cy="566928"/>
          </a:xfrm>
          <a:prstGeom prst="rect">
            <a:avLst/>
          </a:prstGeom>
          <a:noFill/>
        </p:spPr>
        <p:txBody>
          <a:bodyPr wrap="square" lIns="0" rIns="0" tIns="0" bIns="0" anchor="ctr">
            <a:spAutoFit/>
          </a:bodyPr>
          <a:lstStyle/>
          <a:p>
            <a:pPr algn="l">
              <a:lnSpc>
                <a:spcPct val="95000"/>
              </a:lnSpc>
            </a:pPr>
            <a:r>
              <a:rPr sz="1350" b="1">
                <a:solidFill>
                  <a:srgbClr val="23272B"/>
                </a:solidFill>
                <a:latin typeface="Arial"/>
              </a:rPr>
              <a:t>Auto route planner</a:t>
            </a:r>
          </a:p>
        </p:txBody>
      </p:sp>
      <p:sp>
        <p:nvSpPr>
          <p:cNvPr id="40" name="TextBox 39"/>
          <p:cNvSpPr txBox="1"/>
          <p:nvPr/>
        </p:nvSpPr>
        <p:spPr>
          <a:xfrm>
            <a:off x="6327647" y="3977640"/>
            <a:ext cx="2395728" cy="457200"/>
          </a:xfrm>
          <a:prstGeom prst="rect">
            <a:avLst/>
          </a:prstGeom>
          <a:noFill/>
        </p:spPr>
        <p:txBody>
          <a:bodyPr wrap="square" lIns="0" rIns="0" tIns="0" bIns="0" anchor="t">
            <a:spAutoFit/>
          </a:bodyPr>
          <a:lstStyle/>
          <a:p>
            <a:pPr algn="l">
              <a:lnSpc>
                <a:spcPct val="100000"/>
              </a:lnSpc>
            </a:pPr>
            <a:r>
              <a:rPr sz="1100" b="0">
                <a:solidFill>
                  <a:srgbClr val="5F6670"/>
                </a:solidFill>
                <a:latin typeface="Arial"/>
              </a:rPr>
              <a:t>Balanced weekly routes for every rep</a:t>
            </a:r>
          </a:p>
        </p:txBody>
      </p:sp>
      <p:sp>
        <p:nvSpPr>
          <p:cNvPr id="41" name="Rounded Rectangle 40"/>
          <p:cNvSpPr/>
          <p:nvPr/>
        </p:nvSpPr>
        <p:spPr>
          <a:xfrm>
            <a:off x="8970263" y="3154680"/>
            <a:ext cx="2670048" cy="1325880"/>
          </a:xfrm>
          <a:prstGeom prst="roundRect">
            <a:avLst>
              <a:gd name="adj" fmla="val 8275"/>
            </a:avLst>
          </a:prstGeom>
          <a:solidFill>
            <a:srgbClr val="F4F5F6"/>
          </a:solidFill>
          <a:ln>
            <a:noFill/>
          </a:ln>
          <a:effectLst/>
        </p:spPr>
        <p:txBody>
          <a:bodyPr rtlCol="0" anchor="ctr"/>
          <a:lstStyle/>
          <a:p/>
        </p:txBody>
      </p:sp>
      <p:sp>
        <p:nvSpPr>
          <p:cNvPr id="42" name="Oval 41"/>
          <p:cNvSpPr/>
          <p:nvPr/>
        </p:nvSpPr>
        <p:spPr>
          <a:xfrm>
            <a:off x="9134855" y="3337560"/>
            <a:ext cx="566928" cy="566928"/>
          </a:xfrm>
          <a:prstGeom prst="ellipse">
            <a:avLst/>
          </a:prstGeom>
          <a:solidFill>
            <a:srgbClr val="E6F4EC"/>
          </a:solidFill>
          <a:ln>
            <a:noFill/>
          </a:ln>
          <a:effectLst/>
        </p:spPr>
        <p:txBody>
          <a:bodyPr rtlCol="0" anchor="ctr"/>
          <a:lstStyle/>
          <a:p>
            <a:pPr algn="ctr"/>
          </a:p>
        </p:txBody>
      </p:sp>
      <p:pic>
        <p:nvPicPr>
          <p:cNvPr id="43" name="Picture 42" descr="truck_g.png"/>
          <p:cNvPicPr>
            <a:picLocks noChangeAspect="1"/>
          </p:cNvPicPr>
          <p:nvPr/>
        </p:nvPicPr>
        <p:blipFill>
          <a:blip r:embed="rId9"/>
          <a:stretch>
            <a:fillRect/>
          </a:stretch>
        </p:blipFill>
        <p:spPr>
          <a:xfrm>
            <a:off x="9259580" y="3462284"/>
            <a:ext cx="317479" cy="317479"/>
          </a:xfrm>
          <a:prstGeom prst="rect">
            <a:avLst/>
          </a:prstGeom>
        </p:spPr>
      </p:pic>
      <p:sp>
        <p:nvSpPr>
          <p:cNvPr id="44" name="TextBox 43"/>
          <p:cNvSpPr txBox="1"/>
          <p:nvPr/>
        </p:nvSpPr>
        <p:spPr>
          <a:xfrm>
            <a:off x="9838943" y="3337560"/>
            <a:ext cx="1737360" cy="566928"/>
          </a:xfrm>
          <a:prstGeom prst="rect">
            <a:avLst/>
          </a:prstGeom>
          <a:noFill/>
        </p:spPr>
        <p:txBody>
          <a:bodyPr wrap="square" lIns="0" rIns="0" tIns="0" bIns="0" anchor="ctr">
            <a:spAutoFit/>
          </a:bodyPr>
          <a:lstStyle/>
          <a:p>
            <a:pPr algn="l">
              <a:lnSpc>
                <a:spcPct val="95000"/>
              </a:lnSpc>
            </a:pPr>
            <a:r>
              <a:rPr sz="1350" b="1">
                <a:solidFill>
                  <a:srgbClr val="23272B"/>
                </a:solidFill>
                <a:latin typeface="Arial"/>
              </a:rPr>
              <a:t>Fuel by real route</a:t>
            </a:r>
          </a:p>
        </p:txBody>
      </p:sp>
      <p:sp>
        <p:nvSpPr>
          <p:cNvPr id="45" name="TextBox 44"/>
          <p:cNvSpPr txBox="1"/>
          <p:nvPr/>
        </p:nvSpPr>
        <p:spPr>
          <a:xfrm>
            <a:off x="9134855" y="3977640"/>
            <a:ext cx="2395728" cy="457200"/>
          </a:xfrm>
          <a:prstGeom prst="rect">
            <a:avLst/>
          </a:prstGeom>
          <a:noFill/>
        </p:spPr>
        <p:txBody>
          <a:bodyPr wrap="square" lIns="0" rIns="0" tIns="0" bIns="0" anchor="t">
            <a:spAutoFit/>
          </a:bodyPr>
          <a:lstStyle/>
          <a:p>
            <a:pPr algn="l">
              <a:lnSpc>
                <a:spcPct val="100000"/>
              </a:lnSpc>
            </a:pPr>
            <a:r>
              <a:rPr sz="1100" b="0">
                <a:solidFill>
                  <a:srgbClr val="5F6670"/>
                </a:solidFill>
                <a:latin typeface="Arial"/>
              </a:rPr>
              <a:t>Allowance from the GPS route, city vs highway</a:t>
            </a:r>
          </a:p>
        </p:txBody>
      </p:sp>
      <p:sp>
        <p:nvSpPr>
          <p:cNvPr id="46" name="Rounded Rectangle 45"/>
          <p:cNvSpPr/>
          <p:nvPr/>
        </p:nvSpPr>
        <p:spPr>
          <a:xfrm>
            <a:off x="548640" y="4617720"/>
            <a:ext cx="2670048" cy="1325880"/>
          </a:xfrm>
          <a:prstGeom prst="roundRect">
            <a:avLst>
              <a:gd name="adj" fmla="val 8275"/>
            </a:avLst>
          </a:prstGeom>
          <a:solidFill>
            <a:srgbClr val="F4F5F6"/>
          </a:solidFill>
          <a:ln>
            <a:noFill/>
          </a:ln>
          <a:effectLst/>
        </p:spPr>
        <p:txBody>
          <a:bodyPr rtlCol="0" anchor="ctr"/>
          <a:lstStyle/>
          <a:p/>
        </p:txBody>
      </p:sp>
      <p:sp>
        <p:nvSpPr>
          <p:cNvPr id="47" name="Oval 46"/>
          <p:cNvSpPr/>
          <p:nvPr/>
        </p:nvSpPr>
        <p:spPr>
          <a:xfrm>
            <a:off x="713232" y="4800600"/>
            <a:ext cx="566928" cy="566928"/>
          </a:xfrm>
          <a:prstGeom prst="ellipse">
            <a:avLst/>
          </a:prstGeom>
          <a:solidFill>
            <a:srgbClr val="E6F4EC"/>
          </a:solidFill>
          <a:ln>
            <a:noFill/>
          </a:ln>
          <a:effectLst/>
        </p:spPr>
        <p:txBody>
          <a:bodyPr rtlCol="0" anchor="ctr"/>
          <a:lstStyle/>
          <a:p>
            <a:pPr algn="ctr"/>
          </a:p>
        </p:txBody>
      </p:sp>
      <p:pic>
        <p:nvPicPr>
          <p:cNvPr id="48" name="Picture 47" descr="gauge_g.png"/>
          <p:cNvPicPr>
            <a:picLocks noChangeAspect="1"/>
          </p:cNvPicPr>
          <p:nvPr/>
        </p:nvPicPr>
        <p:blipFill>
          <a:blip r:embed="rId10"/>
          <a:stretch>
            <a:fillRect/>
          </a:stretch>
        </p:blipFill>
        <p:spPr>
          <a:xfrm>
            <a:off x="837956" y="4925324"/>
            <a:ext cx="317479" cy="317479"/>
          </a:xfrm>
          <a:prstGeom prst="rect">
            <a:avLst/>
          </a:prstGeom>
        </p:spPr>
      </p:pic>
      <p:sp>
        <p:nvSpPr>
          <p:cNvPr id="49" name="TextBox 48"/>
          <p:cNvSpPr txBox="1"/>
          <p:nvPr/>
        </p:nvSpPr>
        <p:spPr>
          <a:xfrm>
            <a:off x="1417319" y="4800600"/>
            <a:ext cx="1737360" cy="566928"/>
          </a:xfrm>
          <a:prstGeom prst="rect">
            <a:avLst/>
          </a:prstGeom>
          <a:noFill/>
        </p:spPr>
        <p:txBody>
          <a:bodyPr wrap="square" lIns="0" rIns="0" tIns="0" bIns="0" anchor="ctr">
            <a:spAutoFit/>
          </a:bodyPr>
          <a:lstStyle/>
          <a:p>
            <a:pPr algn="l">
              <a:lnSpc>
                <a:spcPct val="95000"/>
              </a:lnSpc>
            </a:pPr>
            <a:r>
              <a:rPr sz="1350" b="1">
                <a:solidFill>
                  <a:srgbClr val="23272B"/>
                </a:solidFill>
                <a:latin typeface="Arial"/>
              </a:rPr>
              <a:t>Order speed measured</a:t>
            </a:r>
          </a:p>
        </p:txBody>
      </p:sp>
      <p:sp>
        <p:nvSpPr>
          <p:cNvPr id="50" name="TextBox 49"/>
          <p:cNvSpPr txBox="1"/>
          <p:nvPr/>
        </p:nvSpPr>
        <p:spPr>
          <a:xfrm>
            <a:off x="713232" y="5440680"/>
            <a:ext cx="2395728" cy="457200"/>
          </a:xfrm>
          <a:prstGeom prst="rect">
            <a:avLst/>
          </a:prstGeom>
          <a:noFill/>
        </p:spPr>
        <p:txBody>
          <a:bodyPr wrap="square" lIns="0" rIns="0" tIns="0" bIns="0" anchor="t">
            <a:spAutoFit/>
          </a:bodyPr>
          <a:lstStyle/>
          <a:p>
            <a:pPr algn="l">
              <a:lnSpc>
                <a:spcPct val="100000"/>
              </a:lnSpc>
            </a:pPr>
            <a:r>
              <a:rPr sz="1100" b="0">
                <a:solidFill>
                  <a:srgbClr val="5F6670"/>
                </a:solidFill>
                <a:latin typeface="Arial"/>
              </a:rPr>
              <a:t>Seconds and taps per order, per rep</a:t>
            </a:r>
          </a:p>
        </p:txBody>
      </p:sp>
      <p:sp>
        <p:nvSpPr>
          <p:cNvPr id="51" name="Rounded Rectangle 50"/>
          <p:cNvSpPr/>
          <p:nvPr/>
        </p:nvSpPr>
        <p:spPr>
          <a:xfrm>
            <a:off x="3355848" y="4617720"/>
            <a:ext cx="2670048" cy="1325880"/>
          </a:xfrm>
          <a:prstGeom prst="roundRect">
            <a:avLst>
              <a:gd name="adj" fmla="val 8275"/>
            </a:avLst>
          </a:prstGeom>
          <a:solidFill>
            <a:srgbClr val="F4F5F6"/>
          </a:solidFill>
          <a:ln>
            <a:noFill/>
          </a:ln>
          <a:effectLst/>
        </p:spPr>
        <p:txBody>
          <a:bodyPr rtlCol="0" anchor="ctr"/>
          <a:lstStyle/>
          <a:p/>
        </p:txBody>
      </p:sp>
      <p:sp>
        <p:nvSpPr>
          <p:cNvPr id="52" name="Oval 51"/>
          <p:cNvSpPr/>
          <p:nvPr/>
        </p:nvSpPr>
        <p:spPr>
          <a:xfrm>
            <a:off x="3520440" y="4800600"/>
            <a:ext cx="566928" cy="566928"/>
          </a:xfrm>
          <a:prstGeom prst="ellipse">
            <a:avLst/>
          </a:prstGeom>
          <a:solidFill>
            <a:srgbClr val="E6F4EC"/>
          </a:solidFill>
          <a:ln>
            <a:noFill/>
          </a:ln>
          <a:effectLst/>
        </p:spPr>
        <p:txBody>
          <a:bodyPr rtlCol="0" anchor="ctr"/>
          <a:lstStyle/>
          <a:p>
            <a:pPr algn="ctr"/>
          </a:p>
        </p:txBody>
      </p:sp>
      <p:pic>
        <p:nvPicPr>
          <p:cNvPr id="53" name="Picture 52" descr="wifioff_g.png"/>
          <p:cNvPicPr>
            <a:picLocks noChangeAspect="1"/>
          </p:cNvPicPr>
          <p:nvPr/>
        </p:nvPicPr>
        <p:blipFill>
          <a:blip r:embed="rId11"/>
          <a:stretch>
            <a:fillRect/>
          </a:stretch>
        </p:blipFill>
        <p:spPr>
          <a:xfrm>
            <a:off x="3645164" y="4925324"/>
            <a:ext cx="317479" cy="317479"/>
          </a:xfrm>
          <a:prstGeom prst="rect">
            <a:avLst/>
          </a:prstGeom>
        </p:spPr>
      </p:pic>
      <p:sp>
        <p:nvSpPr>
          <p:cNvPr id="54" name="TextBox 53"/>
          <p:cNvSpPr txBox="1"/>
          <p:nvPr/>
        </p:nvSpPr>
        <p:spPr>
          <a:xfrm>
            <a:off x="4224528" y="4800600"/>
            <a:ext cx="1737360" cy="566928"/>
          </a:xfrm>
          <a:prstGeom prst="rect">
            <a:avLst/>
          </a:prstGeom>
          <a:noFill/>
        </p:spPr>
        <p:txBody>
          <a:bodyPr wrap="square" lIns="0" rIns="0" tIns="0" bIns="0" anchor="ctr">
            <a:spAutoFit/>
          </a:bodyPr>
          <a:lstStyle/>
          <a:p>
            <a:pPr algn="l">
              <a:lnSpc>
                <a:spcPct val="95000"/>
              </a:lnSpc>
            </a:pPr>
            <a:r>
              <a:rPr sz="1350" b="1">
                <a:solidFill>
                  <a:srgbClr val="23272B"/>
                </a:solidFill>
                <a:latin typeface="Arial"/>
              </a:rPr>
              <a:t>Truly offline</a:t>
            </a:r>
          </a:p>
        </p:txBody>
      </p:sp>
      <p:sp>
        <p:nvSpPr>
          <p:cNvPr id="55" name="TextBox 54"/>
          <p:cNvSpPr txBox="1"/>
          <p:nvPr/>
        </p:nvSpPr>
        <p:spPr>
          <a:xfrm>
            <a:off x="3520440" y="5440680"/>
            <a:ext cx="2395728" cy="457200"/>
          </a:xfrm>
          <a:prstGeom prst="rect">
            <a:avLst/>
          </a:prstGeom>
          <a:noFill/>
        </p:spPr>
        <p:txBody>
          <a:bodyPr wrap="square" lIns="0" rIns="0" tIns="0" bIns="0" anchor="t">
            <a:spAutoFit/>
          </a:bodyPr>
          <a:lstStyle/>
          <a:p>
            <a:pPr algn="l">
              <a:lnSpc>
                <a:spcPct val="100000"/>
              </a:lnSpc>
            </a:pPr>
            <a:r>
              <a:rPr sz="1100" b="0">
                <a:solidFill>
                  <a:srgbClr val="5F6670"/>
                </a:solidFill>
                <a:latin typeface="Arial"/>
              </a:rPr>
              <a:t>Visits and orders saved without signal</a:t>
            </a:r>
          </a:p>
        </p:txBody>
      </p:sp>
      <p:sp>
        <p:nvSpPr>
          <p:cNvPr id="56" name="Rounded Rectangle 55"/>
          <p:cNvSpPr/>
          <p:nvPr/>
        </p:nvSpPr>
        <p:spPr>
          <a:xfrm>
            <a:off x="6163055" y="4617720"/>
            <a:ext cx="2670048" cy="1325880"/>
          </a:xfrm>
          <a:prstGeom prst="roundRect">
            <a:avLst>
              <a:gd name="adj" fmla="val 8275"/>
            </a:avLst>
          </a:prstGeom>
          <a:solidFill>
            <a:srgbClr val="F4F5F6"/>
          </a:solidFill>
          <a:ln>
            <a:noFill/>
          </a:ln>
          <a:effectLst/>
        </p:spPr>
        <p:txBody>
          <a:bodyPr rtlCol="0" anchor="ctr"/>
          <a:lstStyle/>
          <a:p/>
        </p:txBody>
      </p:sp>
      <p:sp>
        <p:nvSpPr>
          <p:cNvPr id="57" name="Oval 56"/>
          <p:cNvSpPr/>
          <p:nvPr/>
        </p:nvSpPr>
        <p:spPr>
          <a:xfrm>
            <a:off x="6327647" y="4800600"/>
            <a:ext cx="566928" cy="566928"/>
          </a:xfrm>
          <a:prstGeom prst="ellipse">
            <a:avLst/>
          </a:prstGeom>
          <a:solidFill>
            <a:srgbClr val="E6F4EC"/>
          </a:solidFill>
          <a:ln>
            <a:noFill/>
          </a:ln>
          <a:effectLst/>
        </p:spPr>
        <p:txBody>
          <a:bodyPr rtlCol="0" anchor="ctr"/>
          <a:lstStyle/>
          <a:p>
            <a:pPr algn="ctr"/>
          </a:p>
        </p:txBody>
      </p:sp>
      <p:pic>
        <p:nvPicPr>
          <p:cNvPr id="58" name="Picture 57" descr="lock_g.png"/>
          <p:cNvPicPr>
            <a:picLocks noChangeAspect="1"/>
          </p:cNvPicPr>
          <p:nvPr/>
        </p:nvPicPr>
        <p:blipFill>
          <a:blip r:embed="rId12"/>
          <a:stretch>
            <a:fillRect/>
          </a:stretch>
        </p:blipFill>
        <p:spPr>
          <a:xfrm>
            <a:off x="6452372" y="4925324"/>
            <a:ext cx="317479" cy="317479"/>
          </a:xfrm>
          <a:prstGeom prst="rect">
            <a:avLst/>
          </a:prstGeom>
        </p:spPr>
      </p:pic>
      <p:sp>
        <p:nvSpPr>
          <p:cNvPr id="59" name="TextBox 58"/>
          <p:cNvSpPr txBox="1"/>
          <p:nvPr/>
        </p:nvSpPr>
        <p:spPr>
          <a:xfrm>
            <a:off x="7031736" y="4800600"/>
            <a:ext cx="1737360" cy="566928"/>
          </a:xfrm>
          <a:prstGeom prst="rect">
            <a:avLst/>
          </a:prstGeom>
          <a:noFill/>
        </p:spPr>
        <p:txBody>
          <a:bodyPr wrap="square" lIns="0" rIns="0" tIns="0" bIns="0" anchor="ctr">
            <a:spAutoFit/>
          </a:bodyPr>
          <a:lstStyle/>
          <a:p>
            <a:pPr algn="l">
              <a:lnSpc>
                <a:spcPct val="95000"/>
              </a:lnSpc>
            </a:pPr>
            <a:r>
              <a:rPr sz="1350" b="1">
                <a:solidFill>
                  <a:srgbClr val="23272B"/>
                </a:solidFill>
                <a:latin typeface="Arial"/>
              </a:rPr>
              <a:t>Emergency lockdown</a:t>
            </a:r>
          </a:p>
        </p:txBody>
      </p:sp>
      <p:sp>
        <p:nvSpPr>
          <p:cNvPr id="60" name="TextBox 59"/>
          <p:cNvSpPr txBox="1"/>
          <p:nvPr/>
        </p:nvSpPr>
        <p:spPr>
          <a:xfrm>
            <a:off x="6327647" y="5440680"/>
            <a:ext cx="2395728" cy="457200"/>
          </a:xfrm>
          <a:prstGeom prst="rect">
            <a:avLst/>
          </a:prstGeom>
          <a:noFill/>
        </p:spPr>
        <p:txBody>
          <a:bodyPr wrap="square" lIns="0" rIns="0" tIns="0" bIns="0" anchor="t">
            <a:spAutoFit/>
          </a:bodyPr>
          <a:lstStyle/>
          <a:p>
            <a:pPr algn="l">
              <a:lnSpc>
                <a:spcPct val="100000"/>
              </a:lnSpc>
            </a:pPr>
            <a:r>
              <a:rPr sz="1100" b="0">
                <a:solidFill>
                  <a:srgbClr val="5F6670"/>
                </a:solidFill>
                <a:latin typeface="Arial"/>
              </a:rPr>
              <a:t>One switch locks the app on every phone</a:t>
            </a:r>
          </a:p>
        </p:txBody>
      </p:sp>
      <p:sp>
        <p:nvSpPr>
          <p:cNvPr id="61" name="Rounded Rectangle 60"/>
          <p:cNvSpPr/>
          <p:nvPr/>
        </p:nvSpPr>
        <p:spPr>
          <a:xfrm>
            <a:off x="8970263" y="4617720"/>
            <a:ext cx="2670048" cy="1325880"/>
          </a:xfrm>
          <a:prstGeom prst="roundRect">
            <a:avLst>
              <a:gd name="adj" fmla="val 8275"/>
            </a:avLst>
          </a:prstGeom>
          <a:solidFill>
            <a:srgbClr val="F4F5F6"/>
          </a:solidFill>
          <a:ln>
            <a:noFill/>
          </a:ln>
          <a:effectLst/>
        </p:spPr>
        <p:txBody>
          <a:bodyPr rtlCol="0" anchor="ctr"/>
          <a:lstStyle/>
          <a:p/>
        </p:txBody>
      </p:sp>
      <p:sp>
        <p:nvSpPr>
          <p:cNvPr id="62" name="Oval 61"/>
          <p:cNvSpPr/>
          <p:nvPr/>
        </p:nvSpPr>
        <p:spPr>
          <a:xfrm>
            <a:off x="9134855" y="4800600"/>
            <a:ext cx="566928" cy="566928"/>
          </a:xfrm>
          <a:prstGeom prst="ellipse">
            <a:avLst/>
          </a:prstGeom>
          <a:solidFill>
            <a:srgbClr val="E6F4EC"/>
          </a:solidFill>
          <a:ln>
            <a:noFill/>
          </a:ln>
          <a:effectLst/>
        </p:spPr>
        <p:txBody>
          <a:bodyPr rtlCol="0" anchor="ctr"/>
          <a:lstStyle/>
          <a:p>
            <a:pPr algn="ctr"/>
          </a:p>
        </p:txBody>
      </p:sp>
      <p:pic>
        <p:nvPicPr>
          <p:cNvPr id="63" name="Picture 62" descr="store_g.png"/>
          <p:cNvPicPr>
            <a:picLocks noChangeAspect="1"/>
          </p:cNvPicPr>
          <p:nvPr/>
        </p:nvPicPr>
        <p:blipFill>
          <a:blip r:embed="rId13"/>
          <a:stretch>
            <a:fillRect/>
          </a:stretch>
        </p:blipFill>
        <p:spPr>
          <a:xfrm>
            <a:off x="9259580" y="4925324"/>
            <a:ext cx="317479" cy="317479"/>
          </a:xfrm>
          <a:prstGeom prst="rect">
            <a:avLst/>
          </a:prstGeom>
        </p:spPr>
      </p:pic>
      <p:sp>
        <p:nvSpPr>
          <p:cNvPr id="64" name="TextBox 63"/>
          <p:cNvSpPr txBox="1"/>
          <p:nvPr/>
        </p:nvSpPr>
        <p:spPr>
          <a:xfrm>
            <a:off x="9838943" y="4800600"/>
            <a:ext cx="1737360" cy="566928"/>
          </a:xfrm>
          <a:prstGeom prst="rect">
            <a:avLst/>
          </a:prstGeom>
          <a:noFill/>
        </p:spPr>
        <p:txBody>
          <a:bodyPr wrap="square" lIns="0" rIns="0" tIns="0" bIns="0" anchor="ctr">
            <a:spAutoFit/>
          </a:bodyPr>
          <a:lstStyle/>
          <a:p>
            <a:pPr algn="l">
              <a:lnSpc>
                <a:spcPct val="95000"/>
              </a:lnSpc>
            </a:pPr>
            <a:r>
              <a:rPr sz="1350" b="1">
                <a:solidFill>
                  <a:srgbClr val="23272B"/>
                </a:solidFill>
                <a:latin typeface="Arial"/>
              </a:rPr>
              <a:t>KAD OS for customers</a:t>
            </a:r>
          </a:p>
        </p:txBody>
      </p:sp>
      <p:sp>
        <p:nvSpPr>
          <p:cNvPr id="65" name="TextBox 64"/>
          <p:cNvSpPr txBox="1"/>
          <p:nvPr/>
        </p:nvSpPr>
        <p:spPr>
          <a:xfrm>
            <a:off x="9134855" y="5440680"/>
            <a:ext cx="2395728" cy="457200"/>
          </a:xfrm>
          <a:prstGeom prst="rect">
            <a:avLst/>
          </a:prstGeom>
          <a:noFill/>
        </p:spPr>
        <p:txBody>
          <a:bodyPr wrap="square" lIns="0" rIns="0" tIns="0" bIns="0" anchor="t">
            <a:spAutoFit/>
          </a:bodyPr>
          <a:lstStyle/>
          <a:p>
            <a:pPr algn="l">
              <a:lnSpc>
                <a:spcPct val="100000"/>
              </a:lnSpc>
            </a:pPr>
            <a:r>
              <a:rPr sz="1100" b="0">
                <a:solidFill>
                  <a:srgbClr val="5F6670"/>
                </a:solidFill>
                <a:latin typeface="Arial"/>
              </a:rPr>
              <a:t>Free shop ERP that orders from us (pilot)</a:t>
            </a:r>
          </a:p>
        </p:txBody>
      </p:sp>
      <p:cxnSp>
        <p:nvCxnSpPr>
          <p:cNvPr id="66" name="Connector 65"/>
          <p:cNvCxnSpPr/>
          <p:nvPr/>
        </p:nvCxnSpPr>
        <p:spPr>
          <a:xfrm>
            <a:off x="548640" y="6400800"/>
            <a:ext cx="11094415" cy="0"/>
          </a:xfrm>
          <a:prstGeom prst="line">
            <a:avLst/>
          </a:prstGeom>
          <a:ln w="9525">
            <a:solidFill>
              <a:srgbClr val="D9DEDB"/>
            </a:solidFill>
          </a:ln>
        </p:spPr>
      </p:cxnSp>
      <p:pic>
        <p:nvPicPr>
          <p:cNvPr id="67" name="Picture 66" descr="kad-wordmark.png"/>
          <p:cNvPicPr>
            <a:picLocks noChangeAspect="1"/>
          </p:cNvPicPr>
          <p:nvPr/>
        </p:nvPicPr>
        <p:blipFill>
          <a:blip r:embed="rId14"/>
          <a:stretch>
            <a:fillRect/>
          </a:stretch>
        </p:blipFill>
        <p:spPr>
          <a:xfrm>
            <a:off x="548640" y="6519672"/>
            <a:ext cx="759129" cy="155448"/>
          </a:xfrm>
          <a:prstGeom prst="rect">
            <a:avLst/>
          </a:prstGeom>
        </p:spPr>
      </p:pic>
      <p:sp>
        <p:nvSpPr>
          <p:cNvPr id="68" name="TextBox 67"/>
          <p:cNvSpPr txBox="1"/>
          <p:nvPr/>
        </p:nvSpPr>
        <p:spPr>
          <a:xfrm>
            <a:off x="1417320" y="6492240"/>
            <a:ext cx="6400800" cy="228600"/>
          </a:xfrm>
          <a:prstGeom prst="rect">
            <a:avLst/>
          </a:prstGeom>
          <a:noFill/>
        </p:spPr>
        <p:txBody>
          <a:bodyPr wrap="square" lIns="0" rIns="0" tIns="0" bIns="0" anchor="t">
            <a:spAutoFit/>
          </a:bodyPr>
          <a:lstStyle/>
          <a:p>
            <a:pPr algn="l">
              <a:lnSpc>
                <a:spcPct val="100000"/>
              </a:lnSpc>
            </a:pPr>
            <a:r>
              <a:rPr sz="900" b="0">
                <a:solidFill>
                  <a:srgbClr val="5F6670"/>
                </a:solidFill>
                <a:latin typeface="Arial"/>
              </a:rPr>
              <a:t>Digital Sales Platform for Castrol Distribution</a:t>
            </a:r>
          </a:p>
        </p:txBody>
      </p:sp>
      <p:sp>
        <p:nvSpPr>
          <p:cNvPr id="69" name="TextBox 68"/>
          <p:cNvSpPr txBox="1"/>
          <p:nvPr/>
        </p:nvSpPr>
        <p:spPr>
          <a:xfrm>
            <a:off x="10728655" y="6492240"/>
            <a:ext cx="914400" cy="228600"/>
          </a:xfrm>
          <a:prstGeom prst="rect">
            <a:avLst/>
          </a:prstGeom>
          <a:noFill/>
        </p:spPr>
        <p:txBody>
          <a:bodyPr wrap="square" lIns="0" rIns="0" tIns="0" bIns="0" anchor="t">
            <a:spAutoFit/>
          </a:bodyPr>
          <a:lstStyle/>
          <a:p>
            <a:pPr algn="r">
              <a:lnSpc>
                <a:spcPct val="100000"/>
              </a:lnSpc>
            </a:pPr>
            <a:r>
              <a:rPr sz="900" b="0">
                <a:solidFill>
                  <a:srgbClr val="5F6670"/>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347472"/>
            <a:ext cx="592531" cy="64008"/>
          </a:xfrm>
          <a:prstGeom prst="rect">
            <a:avLst/>
          </a:prstGeom>
          <a:solidFill>
            <a:srgbClr val="009343"/>
          </a:solidFill>
          <a:ln>
            <a:noFill/>
          </a:ln>
          <a:effectLst/>
        </p:spPr>
        <p:txBody>
          <a:bodyPr rtlCol="0" anchor="ctr"/>
          <a:lstStyle/>
          <a:p/>
        </p:txBody>
      </p:sp>
      <p:sp>
        <p:nvSpPr>
          <p:cNvPr id="3" name="Rectangle 2"/>
          <p:cNvSpPr/>
          <p:nvPr/>
        </p:nvSpPr>
        <p:spPr>
          <a:xfrm>
            <a:off x="1141171" y="347472"/>
            <a:ext cx="230428" cy="64008"/>
          </a:xfrm>
          <a:prstGeom prst="rect">
            <a:avLst/>
          </a:prstGeom>
          <a:solidFill>
            <a:srgbClr val="E2001A"/>
          </a:solidFill>
          <a:ln>
            <a:noFill/>
          </a:ln>
          <a:effectLst/>
        </p:spPr>
        <p:txBody>
          <a:bodyPr rtlCol="0" anchor="ctr"/>
          <a:lstStyle/>
          <a:p/>
        </p:txBody>
      </p:sp>
      <p:sp>
        <p:nvSpPr>
          <p:cNvPr id="4" name="TextBox 3"/>
          <p:cNvSpPr txBox="1"/>
          <p:nvPr/>
        </p:nvSpPr>
        <p:spPr>
          <a:xfrm>
            <a:off x="548640" y="502920"/>
            <a:ext cx="9144000" cy="274320"/>
          </a:xfrm>
          <a:prstGeom prst="rect">
            <a:avLst/>
          </a:prstGeom>
          <a:noFill/>
        </p:spPr>
        <p:txBody>
          <a:bodyPr wrap="square" lIns="0" rIns="0" tIns="0" bIns="0" anchor="t">
            <a:spAutoFit/>
          </a:bodyPr>
          <a:lstStyle/>
          <a:p>
            <a:pPr algn="l">
              <a:lnSpc>
                <a:spcPct val="100000"/>
              </a:lnSpc>
            </a:pPr>
            <a:r>
              <a:rPr sz="1200" b="1">
                <a:solidFill>
                  <a:srgbClr val="009343"/>
                </a:solidFill>
                <a:latin typeface="Arial"/>
              </a:rPr>
              <a:t>WHAT MANAGEMENT SEES</a:t>
            </a:r>
          </a:p>
        </p:txBody>
      </p:sp>
      <p:sp>
        <p:nvSpPr>
          <p:cNvPr id="5" name="TextBox 4"/>
          <p:cNvSpPr txBox="1"/>
          <p:nvPr/>
        </p:nvSpPr>
        <p:spPr>
          <a:xfrm>
            <a:off x="548640" y="777240"/>
            <a:ext cx="11064240" cy="914400"/>
          </a:xfrm>
          <a:prstGeom prst="rect">
            <a:avLst/>
          </a:prstGeom>
          <a:noFill/>
        </p:spPr>
        <p:txBody>
          <a:bodyPr wrap="square" lIns="0" rIns="0" tIns="0" bIns="0" anchor="t">
            <a:spAutoFit/>
          </a:bodyPr>
          <a:lstStyle/>
          <a:p>
            <a:pPr algn="l">
              <a:lnSpc>
                <a:spcPct val="95000"/>
              </a:lnSpc>
            </a:pPr>
            <a:r>
              <a:rPr sz="3000" b="1">
                <a:solidFill>
                  <a:srgbClr val="23272B"/>
                </a:solidFill>
                <a:latin typeface="Arial"/>
              </a:rPr>
              <a:t>A month on the platform, at a glance</a:t>
            </a:r>
          </a:p>
        </p:txBody>
      </p:sp>
      <p:sp>
        <p:nvSpPr>
          <p:cNvPr id="6" name="Rounded Rectangle 5"/>
          <p:cNvSpPr/>
          <p:nvPr/>
        </p:nvSpPr>
        <p:spPr>
          <a:xfrm>
            <a:off x="8074152" y="868680"/>
            <a:ext cx="3566160" cy="310896"/>
          </a:xfrm>
          <a:prstGeom prst="roundRect">
            <a:avLst>
              <a:gd name="adj" fmla="val 50000"/>
            </a:avLst>
          </a:prstGeom>
          <a:solidFill>
            <a:srgbClr val="FDEBED"/>
          </a:solidFill>
          <a:ln>
            <a:noFill/>
          </a:ln>
          <a:effectLst/>
        </p:spPr>
        <p:txBody>
          <a:bodyPr rtlCol="0" anchor="ctr"/>
          <a:lstStyle/>
          <a:p/>
        </p:txBody>
      </p:sp>
      <p:sp>
        <p:nvSpPr>
          <p:cNvPr id="7" name="TextBox 6"/>
          <p:cNvSpPr txBox="1"/>
          <p:nvPr/>
        </p:nvSpPr>
        <p:spPr>
          <a:xfrm>
            <a:off x="8074152" y="868680"/>
            <a:ext cx="3566160" cy="310896"/>
          </a:xfrm>
          <a:prstGeom prst="rect">
            <a:avLst/>
          </a:prstGeom>
          <a:noFill/>
        </p:spPr>
        <p:txBody>
          <a:bodyPr wrap="square" lIns="0" rIns="0" tIns="0" bIns="0" anchor="ctr">
            <a:spAutoFit/>
          </a:bodyPr>
          <a:lstStyle/>
          <a:p>
            <a:pPr algn="ctr">
              <a:lnSpc>
                <a:spcPct val="100000"/>
              </a:lnSpc>
            </a:pPr>
            <a:r>
              <a:rPr sz="1000" b="1">
                <a:solidFill>
                  <a:srgbClr val="E2001A"/>
                </a:solidFill>
                <a:latin typeface="Arial"/>
              </a:rPr>
              <a:t>ILLUSTRATIVE VALUES · NOT COMPANY DATA</a:t>
            </a:r>
          </a:p>
        </p:txBody>
      </p:sp>
      <p:sp>
        <p:nvSpPr>
          <p:cNvPr id="8" name="Rounded Rectangle 7"/>
          <p:cNvSpPr/>
          <p:nvPr/>
        </p:nvSpPr>
        <p:spPr>
          <a:xfrm>
            <a:off x="548640" y="1691640"/>
            <a:ext cx="3566160" cy="1828800"/>
          </a:xfrm>
          <a:prstGeom prst="roundRect">
            <a:avLst>
              <a:gd name="adj" fmla="val 6000"/>
            </a:avLst>
          </a:prstGeom>
          <a:solidFill>
            <a:srgbClr val="F4F5F6"/>
          </a:solidFill>
          <a:ln>
            <a:noFill/>
          </a:ln>
          <a:effectLst/>
        </p:spPr>
        <p:txBody>
          <a:bodyPr rtlCol="0" anchor="ctr"/>
          <a:lstStyle/>
          <a:p/>
        </p:txBody>
      </p:sp>
      <p:sp>
        <p:nvSpPr>
          <p:cNvPr id="9" name="TextBox 8"/>
          <p:cNvSpPr txBox="1"/>
          <p:nvPr/>
        </p:nvSpPr>
        <p:spPr>
          <a:xfrm>
            <a:off x="822959" y="1874520"/>
            <a:ext cx="3108960" cy="685800"/>
          </a:xfrm>
          <a:prstGeom prst="rect">
            <a:avLst/>
          </a:prstGeom>
          <a:noFill/>
        </p:spPr>
        <p:txBody>
          <a:bodyPr wrap="square" lIns="0" rIns="0" tIns="0" bIns="0" anchor="t">
            <a:spAutoFit/>
          </a:bodyPr>
          <a:lstStyle/>
          <a:p>
            <a:pPr algn="l">
              <a:lnSpc>
                <a:spcPct val="100000"/>
              </a:lnSpc>
            </a:pPr>
            <a:r>
              <a:rPr sz="3800" b="1">
                <a:solidFill>
                  <a:srgbClr val="009343"/>
                </a:solidFill>
                <a:latin typeface="Arial"/>
              </a:rPr>
              <a:t>108%</a:t>
            </a:r>
          </a:p>
        </p:txBody>
      </p:sp>
      <p:sp>
        <p:nvSpPr>
          <p:cNvPr id="10" name="TextBox 9"/>
          <p:cNvSpPr txBox="1"/>
          <p:nvPr/>
        </p:nvSpPr>
        <p:spPr>
          <a:xfrm>
            <a:off x="822959" y="2587752"/>
            <a:ext cx="3108960" cy="365760"/>
          </a:xfrm>
          <a:prstGeom prst="rect">
            <a:avLst/>
          </a:prstGeom>
          <a:noFill/>
        </p:spPr>
        <p:txBody>
          <a:bodyPr wrap="square" lIns="0" rIns="0" tIns="0" bIns="0" anchor="t">
            <a:spAutoFit/>
          </a:bodyPr>
          <a:lstStyle/>
          <a:p>
            <a:pPr algn="l">
              <a:lnSpc>
                <a:spcPct val="100000"/>
              </a:lnSpc>
            </a:pPr>
            <a:r>
              <a:rPr sz="1400" b="1">
                <a:solidFill>
                  <a:srgbClr val="23272B"/>
                </a:solidFill>
                <a:latin typeface="Arial"/>
              </a:rPr>
              <a:t>sales vs plan</a:t>
            </a:r>
          </a:p>
        </p:txBody>
      </p:sp>
      <p:sp>
        <p:nvSpPr>
          <p:cNvPr id="11" name="TextBox 10"/>
          <p:cNvSpPr txBox="1"/>
          <p:nvPr/>
        </p:nvSpPr>
        <p:spPr>
          <a:xfrm>
            <a:off x="822959" y="2971800"/>
            <a:ext cx="3108960" cy="365760"/>
          </a:xfrm>
          <a:prstGeom prst="rect">
            <a:avLst/>
          </a:prstGeom>
          <a:noFill/>
        </p:spPr>
        <p:txBody>
          <a:bodyPr wrap="square" lIns="0" rIns="0" tIns="0" bIns="0" anchor="t">
            <a:spAutoFit/>
          </a:bodyPr>
          <a:lstStyle/>
          <a:p>
            <a:pPr algn="l">
              <a:lnSpc>
                <a:spcPct val="100000"/>
              </a:lnSpc>
            </a:pPr>
            <a:r>
              <a:rPr sz="1200" b="0">
                <a:solidFill>
                  <a:srgbClr val="5F6670"/>
                </a:solidFill>
                <a:latin typeface="Arial"/>
              </a:rPr>
              <a:t>$52.4k of $48.5k</a:t>
            </a:r>
          </a:p>
        </p:txBody>
      </p:sp>
      <p:sp>
        <p:nvSpPr>
          <p:cNvPr id="12" name="Rounded Rectangle 11"/>
          <p:cNvSpPr/>
          <p:nvPr/>
        </p:nvSpPr>
        <p:spPr>
          <a:xfrm>
            <a:off x="4297679" y="1691640"/>
            <a:ext cx="3566160" cy="1828800"/>
          </a:xfrm>
          <a:prstGeom prst="roundRect">
            <a:avLst>
              <a:gd name="adj" fmla="val 6000"/>
            </a:avLst>
          </a:prstGeom>
          <a:solidFill>
            <a:srgbClr val="F4F5F6"/>
          </a:solidFill>
          <a:ln>
            <a:noFill/>
          </a:ln>
          <a:effectLst/>
        </p:spPr>
        <p:txBody>
          <a:bodyPr rtlCol="0" anchor="ctr"/>
          <a:lstStyle/>
          <a:p/>
        </p:txBody>
      </p:sp>
      <p:sp>
        <p:nvSpPr>
          <p:cNvPr id="13" name="TextBox 12"/>
          <p:cNvSpPr txBox="1"/>
          <p:nvPr/>
        </p:nvSpPr>
        <p:spPr>
          <a:xfrm>
            <a:off x="4571999" y="1874520"/>
            <a:ext cx="3108960" cy="685800"/>
          </a:xfrm>
          <a:prstGeom prst="rect">
            <a:avLst/>
          </a:prstGeom>
          <a:noFill/>
        </p:spPr>
        <p:txBody>
          <a:bodyPr wrap="square" lIns="0" rIns="0" tIns="0" bIns="0" anchor="t">
            <a:spAutoFit/>
          </a:bodyPr>
          <a:lstStyle/>
          <a:p>
            <a:pPr algn="l">
              <a:lnSpc>
                <a:spcPct val="100000"/>
              </a:lnSpc>
            </a:pPr>
            <a:r>
              <a:rPr sz="3800" b="1">
                <a:solidFill>
                  <a:srgbClr val="009343"/>
                </a:solidFill>
                <a:latin typeface="Arial"/>
              </a:rPr>
              <a:t>91%</a:t>
            </a:r>
          </a:p>
        </p:txBody>
      </p:sp>
      <p:sp>
        <p:nvSpPr>
          <p:cNvPr id="14" name="TextBox 13"/>
          <p:cNvSpPr txBox="1"/>
          <p:nvPr/>
        </p:nvSpPr>
        <p:spPr>
          <a:xfrm>
            <a:off x="4571999" y="2587752"/>
            <a:ext cx="3108960" cy="365760"/>
          </a:xfrm>
          <a:prstGeom prst="rect">
            <a:avLst/>
          </a:prstGeom>
          <a:noFill/>
        </p:spPr>
        <p:txBody>
          <a:bodyPr wrap="square" lIns="0" rIns="0" tIns="0" bIns="0" anchor="t">
            <a:spAutoFit/>
          </a:bodyPr>
          <a:lstStyle/>
          <a:p>
            <a:pPr algn="l">
              <a:lnSpc>
                <a:spcPct val="100000"/>
              </a:lnSpc>
            </a:pPr>
            <a:r>
              <a:rPr sz="1400" b="1">
                <a:solidFill>
                  <a:srgbClr val="23272B"/>
                </a:solidFill>
                <a:latin typeface="Arial"/>
              </a:rPr>
              <a:t>of sales collected</a:t>
            </a:r>
          </a:p>
        </p:txBody>
      </p:sp>
      <p:sp>
        <p:nvSpPr>
          <p:cNvPr id="15" name="TextBox 14"/>
          <p:cNvSpPr txBox="1"/>
          <p:nvPr/>
        </p:nvSpPr>
        <p:spPr>
          <a:xfrm>
            <a:off x="4571999" y="2971800"/>
            <a:ext cx="3108960" cy="365760"/>
          </a:xfrm>
          <a:prstGeom prst="rect">
            <a:avLst/>
          </a:prstGeom>
          <a:noFill/>
        </p:spPr>
        <p:txBody>
          <a:bodyPr wrap="square" lIns="0" rIns="0" tIns="0" bIns="0" anchor="t">
            <a:spAutoFit/>
          </a:bodyPr>
          <a:lstStyle/>
          <a:p>
            <a:pPr algn="l">
              <a:lnSpc>
                <a:spcPct val="100000"/>
              </a:lnSpc>
            </a:pPr>
            <a:r>
              <a:rPr sz="1200" b="0">
                <a:solidFill>
                  <a:srgbClr val="5F6670"/>
                </a:solidFill>
                <a:latin typeface="Arial"/>
              </a:rPr>
              <a:t>$47.7k collected</a:t>
            </a:r>
          </a:p>
        </p:txBody>
      </p:sp>
      <p:sp>
        <p:nvSpPr>
          <p:cNvPr id="16" name="Rounded Rectangle 15"/>
          <p:cNvSpPr/>
          <p:nvPr/>
        </p:nvSpPr>
        <p:spPr>
          <a:xfrm>
            <a:off x="8046719" y="1691640"/>
            <a:ext cx="3566160" cy="1828800"/>
          </a:xfrm>
          <a:prstGeom prst="roundRect">
            <a:avLst>
              <a:gd name="adj" fmla="val 6000"/>
            </a:avLst>
          </a:prstGeom>
          <a:solidFill>
            <a:srgbClr val="F4F5F6"/>
          </a:solidFill>
          <a:ln>
            <a:noFill/>
          </a:ln>
          <a:effectLst/>
        </p:spPr>
        <p:txBody>
          <a:bodyPr rtlCol="0" anchor="ctr"/>
          <a:lstStyle/>
          <a:p/>
        </p:txBody>
      </p:sp>
      <p:sp>
        <p:nvSpPr>
          <p:cNvPr id="17" name="TextBox 16"/>
          <p:cNvSpPr txBox="1"/>
          <p:nvPr/>
        </p:nvSpPr>
        <p:spPr>
          <a:xfrm>
            <a:off x="8321040" y="1874520"/>
            <a:ext cx="3108960" cy="685800"/>
          </a:xfrm>
          <a:prstGeom prst="rect">
            <a:avLst/>
          </a:prstGeom>
          <a:noFill/>
        </p:spPr>
        <p:txBody>
          <a:bodyPr wrap="square" lIns="0" rIns="0" tIns="0" bIns="0" anchor="t">
            <a:spAutoFit/>
          </a:bodyPr>
          <a:lstStyle/>
          <a:p>
            <a:pPr algn="l">
              <a:lnSpc>
                <a:spcPct val="100000"/>
              </a:lnSpc>
            </a:pPr>
            <a:r>
              <a:rPr sz="3800" b="1">
                <a:solidFill>
                  <a:srgbClr val="009343"/>
                </a:solidFill>
                <a:latin typeface="Arial"/>
              </a:rPr>
              <a:t>1,240</a:t>
            </a:r>
          </a:p>
        </p:txBody>
      </p:sp>
      <p:sp>
        <p:nvSpPr>
          <p:cNvPr id="18" name="TextBox 17"/>
          <p:cNvSpPr txBox="1"/>
          <p:nvPr/>
        </p:nvSpPr>
        <p:spPr>
          <a:xfrm>
            <a:off x="8321040" y="2587752"/>
            <a:ext cx="3108960" cy="365760"/>
          </a:xfrm>
          <a:prstGeom prst="rect">
            <a:avLst/>
          </a:prstGeom>
          <a:noFill/>
        </p:spPr>
        <p:txBody>
          <a:bodyPr wrap="square" lIns="0" rIns="0" tIns="0" bIns="0" anchor="t">
            <a:spAutoFit/>
          </a:bodyPr>
          <a:lstStyle/>
          <a:p>
            <a:pPr algn="l">
              <a:lnSpc>
                <a:spcPct val="100000"/>
              </a:lnSpc>
            </a:pPr>
            <a:r>
              <a:rPr sz="1400" b="1">
                <a:solidFill>
                  <a:srgbClr val="23272B"/>
                </a:solidFill>
                <a:latin typeface="Arial"/>
              </a:rPr>
              <a:t>GPS-verified visits</a:t>
            </a:r>
          </a:p>
        </p:txBody>
      </p:sp>
      <p:sp>
        <p:nvSpPr>
          <p:cNvPr id="19" name="TextBox 18"/>
          <p:cNvSpPr txBox="1"/>
          <p:nvPr/>
        </p:nvSpPr>
        <p:spPr>
          <a:xfrm>
            <a:off x="8321040" y="2971800"/>
            <a:ext cx="3108960" cy="365760"/>
          </a:xfrm>
          <a:prstGeom prst="rect">
            <a:avLst/>
          </a:prstGeom>
          <a:noFill/>
        </p:spPr>
        <p:txBody>
          <a:bodyPr wrap="square" lIns="0" rIns="0" tIns="0" bIns="0" anchor="t">
            <a:spAutoFit/>
          </a:bodyPr>
          <a:lstStyle/>
          <a:p>
            <a:pPr algn="l">
              <a:lnSpc>
                <a:spcPct val="100000"/>
              </a:lnSpc>
            </a:pPr>
            <a:r>
              <a:rPr sz="1200" b="0">
                <a:solidFill>
                  <a:srgbClr val="5F6670"/>
                </a:solidFill>
                <a:latin typeface="Arial"/>
              </a:rPr>
              <a:t>96% of planned visits</a:t>
            </a:r>
          </a:p>
        </p:txBody>
      </p:sp>
      <p:sp>
        <p:nvSpPr>
          <p:cNvPr id="20" name="Rounded Rectangle 19"/>
          <p:cNvSpPr/>
          <p:nvPr/>
        </p:nvSpPr>
        <p:spPr>
          <a:xfrm>
            <a:off x="548640" y="3703320"/>
            <a:ext cx="3566160" cy="1828800"/>
          </a:xfrm>
          <a:prstGeom prst="roundRect">
            <a:avLst>
              <a:gd name="adj" fmla="val 6000"/>
            </a:avLst>
          </a:prstGeom>
          <a:solidFill>
            <a:srgbClr val="E6F4EC"/>
          </a:solidFill>
          <a:ln>
            <a:noFill/>
          </a:ln>
          <a:effectLst/>
        </p:spPr>
        <p:txBody>
          <a:bodyPr rtlCol="0" anchor="ctr"/>
          <a:lstStyle/>
          <a:p/>
        </p:txBody>
      </p:sp>
      <p:sp>
        <p:nvSpPr>
          <p:cNvPr id="21" name="TextBox 20"/>
          <p:cNvSpPr txBox="1"/>
          <p:nvPr/>
        </p:nvSpPr>
        <p:spPr>
          <a:xfrm>
            <a:off x="822959" y="3886200"/>
            <a:ext cx="3108960" cy="685800"/>
          </a:xfrm>
          <a:prstGeom prst="rect">
            <a:avLst/>
          </a:prstGeom>
          <a:noFill/>
        </p:spPr>
        <p:txBody>
          <a:bodyPr wrap="square" lIns="0" rIns="0" tIns="0" bIns="0" anchor="t">
            <a:spAutoFit/>
          </a:bodyPr>
          <a:lstStyle/>
          <a:p>
            <a:pPr algn="l">
              <a:lnSpc>
                <a:spcPct val="100000"/>
              </a:lnSpc>
            </a:pPr>
            <a:r>
              <a:rPr sz="3800" b="1">
                <a:solidFill>
                  <a:srgbClr val="009343"/>
                </a:solidFill>
                <a:latin typeface="Arial"/>
              </a:rPr>
              <a:t>64%</a:t>
            </a:r>
          </a:p>
        </p:txBody>
      </p:sp>
      <p:sp>
        <p:nvSpPr>
          <p:cNvPr id="22" name="TextBox 21"/>
          <p:cNvSpPr txBox="1"/>
          <p:nvPr/>
        </p:nvSpPr>
        <p:spPr>
          <a:xfrm>
            <a:off x="822959" y="4599432"/>
            <a:ext cx="3108960" cy="365760"/>
          </a:xfrm>
          <a:prstGeom prst="rect">
            <a:avLst/>
          </a:prstGeom>
          <a:noFill/>
        </p:spPr>
        <p:txBody>
          <a:bodyPr wrap="square" lIns="0" rIns="0" tIns="0" bIns="0" anchor="t">
            <a:spAutoFit/>
          </a:bodyPr>
          <a:lstStyle/>
          <a:p>
            <a:pPr algn="l">
              <a:lnSpc>
                <a:spcPct val="100000"/>
              </a:lnSpc>
            </a:pPr>
            <a:r>
              <a:rPr sz="1400" b="1">
                <a:solidFill>
                  <a:srgbClr val="23272B"/>
                </a:solidFill>
                <a:latin typeface="Arial"/>
              </a:rPr>
              <a:t>outlets with Castrol on the shelf</a:t>
            </a:r>
          </a:p>
        </p:txBody>
      </p:sp>
      <p:sp>
        <p:nvSpPr>
          <p:cNvPr id="23" name="TextBox 22"/>
          <p:cNvSpPr txBox="1"/>
          <p:nvPr/>
        </p:nvSpPr>
        <p:spPr>
          <a:xfrm>
            <a:off x="822959" y="4983480"/>
            <a:ext cx="3108960" cy="365760"/>
          </a:xfrm>
          <a:prstGeom prst="rect">
            <a:avLst/>
          </a:prstGeom>
          <a:noFill/>
        </p:spPr>
        <p:txBody>
          <a:bodyPr wrap="square" lIns="0" rIns="0" tIns="0" bIns="0" anchor="t">
            <a:spAutoFit/>
          </a:bodyPr>
          <a:lstStyle/>
          <a:p>
            <a:pPr algn="l">
              <a:lnSpc>
                <a:spcPct val="100000"/>
              </a:lnSpc>
            </a:pPr>
            <a:r>
              <a:rPr sz="1200" b="0">
                <a:solidFill>
                  <a:srgbClr val="5F6670"/>
                </a:solidFill>
                <a:latin typeface="Arial"/>
              </a:rPr>
              <a:t>Stage 1 target: 70%</a:t>
            </a:r>
          </a:p>
        </p:txBody>
      </p:sp>
      <p:sp>
        <p:nvSpPr>
          <p:cNvPr id="24" name="Rounded Rectangle 23"/>
          <p:cNvSpPr/>
          <p:nvPr/>
        </p:nvSpPr>
        <p:spPr>
          <a:xfrm>
            <a:off x="4297679" y="3703320"/>
            <a:ext cx="3566160" cy="1828800"/>
          </a:xfrm>
          <a:prstGeom prst="roundRect">
            <a:avLst>
              <a:gd name="adj" fmla="val 6000"/>
            </a:avLst>
          </a:prstGeom>
          <a:solidFill>
            <a:srgbClr val="E6F4EC"/>
          </a:solidFill>
          <a:ln>
            <a:noFill/>
          </a:ln>
          <a:effectLst/>
        </p:spPr>
        <p:txBody>
          <a:bodyPr rtlCol="0" anchor="ctr"/>
          <a:lstStyle/>
          <a:p/>
        </p:txBody>
      </p:sp>
      <p:sp>
        <p:nvSpPr>
          <p:cNvPr id="25" name="TextBox 24"/>
          <p:cNvSpPr txBox="1"/>
          <p:nvPr/>
        </p:nvSpPr>
        <p:spPr>
          <a:xfrm>
            <a:off x="4571999" y="3886200"/>
            <a:ext cx="3108960" cy="685800"/>
          </a:xfrm>
          <a:prstGeom prst="rect">
            <a:avLst/>
          </a:prstGeom>
          <a:noFill/>
        </p:spPr>
        <p:txBody>
          <a:bodyPr wrap="square" lIns="0" rIns="0" tIns="0" bIns="0" anchor="t">
            <a:spAutoFit/>
          </a:bodyPr>
          <a:lstStyle/>
          <a:p>
            <a:pPr algn="l">
              <a:lnSpc>
                <a:spcPct val="100000"/>
              </a:lnSpc>
            </a:pPr>
            <a:r>
              <a:rPr sz="3800" b="1">
                <a:solidFill>
                  <a:srgbClr val="009343"/>
                </a:solidFill>
                <a:latin typeface="Arial"/>
              </a:rPr>
              <a:t>$8.9k</a:t>
            </a:r>
          </a:p>
        </p:txBody>
      </p:sp>
      <p:sp>
        <p:nvSpPr>
          <p:cNvPr id="26" name="TextBox 25"/>
          <p:cNvSpPr txBox="1"/>
          <p:nvPr/>
        </p:nvSpPr>
        <p:spPr>
          <a:xfrm>
            <a:off x="4571999" y="4599432"/>
            <a:ext cx="3108960" cy="365760"/>
          </a:xfrm>
          <a:prstGeom prst="rect">
            <a:avLst/>
          </a:prstGeom>
          <a:noFill/>
        </p:spPr>
        <p:txBody>
          <a:bodyPr wrap="square" lIns="0" rIns="0" tIns="0" bIns="0" anchor="t">
            <a:spAutoFit/>
          </a:bodyPr>
          <a:lstStyle/>
          <a:p>
            <a:pPr algn="l">
              <a:lnSpc>
                <a:spcPct val="100000"/>
              </a:lnSpc>
            </a:pPr>
            <a:r>
              <a:rPr sz="1400" b="1">
                <a:solidFill>
                  <a:srgbClr val="23272B"/>
                </a:solidFill>
                <a:latin typeface="Arial"/>
              </a:rPr>
              <a:t>overdue debt found</a:t>
            </a:r>
          </a:p>
        </p:txBody>
      </p:sp>
      <p:sp>
        <p:nvSpPr>
          <p:cNvPr id="27" name="TextBox 26"/>
          <p:cNvSpPr txBox="1"/>
          <p:nvPr/>
        </p:nvSpPr>
        <p:spPr>
          <a:xfrm>
            <a:off x="4571999" y="4983480"/>
            <a:ext cx="3108960" cy="365760"/>
          </a:xfrm>
          <a:prstGeom prst="rect">
            <a:avLst/>
          </a:prstGeom>
          <a:noFill/>
        </p:spPr>
        <p:txBody>
          <a:bodyPr wrap="square" lIns="0" rIns="0" tIns="0" bIns="0" anchor="t">
            <a:spAutoFit/>
          </a:bodyPr>
          <a:lstStyle/>
          <a:p>
            <a:pPr algn="l">
              <a:lnSpc>
                <a:spcPct val="100000"/>
              </a:lnSpc>
            </a:pPr>
            <a:r>
              <a:rPr sz="1200" b="0">
                <a:solidFill>
                  <a:srgbClr val="5F6670"/>
                </a:solidFill>
                <a:latin typeface="Arial"/>
              </a:rPr>
              <a:t>23 collection tasks created</a:t>
            </a:r>
          </a:p>
        </p:txBody>
      </p:sp>
      <p:sp>
        <p:nvSpPr>
          <p:cNvPr id="28" name="Rounded Rectangle 27"/>
          <p:cNvSpPr/>
          <p:nvPr/>
        </p:nvSpPr>
        <p:spPr>
          <a:xfrm>
            <a:off x="8046719" y="3703320"/>
            <a:ext cx="3566160" cy="1828800"/>
          </a:xfrm>
          <a:prstGeom prst="roundRect">
            <a:avLst>
              <a:gd name="adj" fmla="val 6000"/>
            </a:avLst>
          </a:prstGeom>
          <a:solidFill>
            <a:srgbClr val="E6F4EC"/>
          </a:solidFill>
          <a:ln>
            <a:noFill/>
          </a:ln>
          <a:effectLst/>
        </p:spPr>
        <p:txBody>
          <a:bodyPr rtlCol="0" anchor="ctr"/>
          <a:lstStyle/>
          <a:p/>
        </p:txBody>
      </p:sp>
      <p:sp>
        <p:nvSpPr>
          <p:cNvPr id="29" name="TextBox 28"/>
          <p:cNvSpPr txBox="1"/>
          <p:nvPr/>
        </p:nvSpPr>
        <p:spPr>
          <a:xfrm>
            <a:off x="8321040" y="3886200"/>
            <a:ext cx="3108960" cy="685800"/>
          </a:xfrm>
          <a:prstGeom prst="rect">
            <a:avLst/>
          </a:prstGeom>
          <a:noFill/>
        </p:spPr>
        <p:txBody>
          <a:bodyPr wrap="square" lIns="0" rIns="0" tIns="0" bIns="0" anchor="t">
            <a:spAutoFit/>
          </a:bodyPr>
          <a:lstStyle/>
          <a:p>
            <a:pPr algn="l">
              <a:lnSpc>
                <a:spcPct val="100000"/>
              </a:lnSpc>
            </a:pPr>
            <a:r>
              <a:rPr sz="3800" b="1">
                <a:solidFill>
                  <a:srgbClr val="009343"/>
                </a:solidFill>
                <a:latin typeface="Arial"/>
              </a:rPr>
              <a:t>19 of 23</a:t>
            </a:r>
          </a:p>
        </p:txBody>
      </p:sp>
      <p:sp>
        <p:nvSpPr>
          <p:cNvPr id="30" name="TextBox 29"/>
          <p:cNvSpPr txBox="1"/>
          <p:nvPr/>
        </p:nvSpPr>
        <p:spPr>
          <a:xfrm>
            <a:off x="8321040" y="4599432"/>
            <a:ext cx="3108960" cy="365760"/>
          </a:xfrm>
          <a:prstGeom prst="rect">
            <a:avLst/>
          </a:prstGeom>
          <a:noFill/>
        </p:spPr>
        <p:txBody>
          <a:bodyPr wrap="square" lIns="0" rIns="0" tIns="0" bIns="0" anchor="t">
            <a:spAutoFit/>
          </a:bodyPr>
          <a:lstStyle/>
          <a:p>
            <a:pPr algn="l">
              <a:lnSpc>
                <a:spcPct val="100000"/>
              </a:lnSpc>
            </a:pPr>
            <a:r>
              <a:rPr sz="1400" b="1">
                <a:solidFill>
                  <a:srgbClr val="23272B"/>
                </a:solidFill>
                <a:latin typeface="Arial"/>
              </a:rPr>
              <a:t>tasks closed on time</a:t>
            </a:r>
          </a:p>
        </p:txBody>
      </p:sp>
      <p:sp>
        <p:nvSpPr>
          <p:cNvPr id="31" name="TextBox 30"/>
          <p:cNvSpPr txBox="1"/>
          <p:nvPr/>
        </p:nvSpPr>
        <p:spPr>
          <a:xfrm>
            <a:off x="8321040" y="4983480"/>
            <a:ext cx="3108960" cy="365760"/>
          </a:xfrm>
          <a:prstGeom prst="rect">
            <a:avLst/>
          </a:prstGeom>
          <a:noFill/>
        </p:spPr>
        <p:txBody>
          <a:bodyPr wrap="square" lIns="0" rIns="0" tIns="0" bIns="0" anchor="t">
            <a:spAutoFit/>
          </a:bodyPr>
          <a:lstStyle/>
          <a:p>
            <a:pPr algn="l">
              <a:lnSpc>
                <a:spcPct val="100000"/>
              </a:lnSpc>
            </a:pPr>
            <a:r>
              <a:rPr sz="1200" b="0">
                <a:solidFill>
                  <a:srgbClr val="5F6670"/>
                </a:solidFill>
                <a:latin typeface="Arial"/>
              </a:rPr>
              <a:t>4 escalated to the sales director</a:t>
            </a:r>
          </a:p>
        </p:txBody>
      </p:sp>
      <p:sp>
        <p:nvSpPr>
          <p:cNvPr id="32" name="TextBox 31"/>
          <p:cNvSpPr txBox="1"/>
          <p:nvPr/>
        </p:nvSpPr>
        <p:spPr>
          <a:xfrm>
            <a:off x="548640" y="5806440"/>
            <a:ext cx="11064240" cy="457200"/>
          </a:xfrm>
          <a:prstGeom prst="rect">
            <a:avLst/>
          </a:prstGeom>
          <a:noFill/>
        </p:spPr>
        <p:txBody>
          <a:bodyPr wrap="square" lIns="0" rIns="0" tIns="0" bIns="0" anchor="t">
            <a:spAutoFit/>
          </a:bodyPr>
          <a:lstStyle/>
          <a:p>
            <a:pPr algn="l">
              <a:lnSpc>
                <a:spcPct val="100000"/>
              </a:lnSpc>
            </a:pPr>
            <a:r>
              <a:rPr sz="1200" b="1">
                <a:solidFill>
                  <a:srgbClr val="E2001A"/>
                </a:solidFill>
                <a:latin typeface="Arial"/>
              </a:rPr>
              <a:t>All values are illustrative, in USD, to show what the platform measures. They are not KAD Motors figures.</a:t>
            </a:r>
          </a:p>
        </p:txBody>
      </p:sp>
      <p:cxnSp>
        <p:nvCxnSpPr>
          <p:cNvPr id="33" name="Connector 32"/>
          <p:cNvCxnSpPr/>
          <p:nvPr/>
        </p:nvCxnSpPr>
        <p:spPr>
          <a:xfrm>
            <a:off x="548640" y="6400800"/>
            <a:ext cx="11094415" cy="0"/>
          </a:xfrm>
          <a:prstGeom prst="line">
            <a:avLst/>
          </a:prstGeom>
          <a:ln w="9525">
            <a:solidFill>
              <a:srgbClr val="D9DEDB"/>
            </a:solidFill>
          </a:ln>
        </p:spPr>
      </p:cxnSp>
      <p:pic>
        <p:nvPicPr>
          <p:cNvPr id="34" name="Picture 33" descr="kad-wordmark.png"/>
          <p:cNvPicPr>
            <a:picLocks noChangeAspect="1"/>
          </p:cNvPicPr>
          <p:nvPr/>
        </p:nvPicPr>
        <p:blipFill>
          <a:blip r:embed="rId2"/>
          <a:stretch>
            <a:fillRect/>
          </a:stretch>
        </p:blipFill>
        <p:spPr>
          <a:xfrm>
            <a:off x="548640" y="6519672"/>
            <a:ext cx="759129" cy="155448"/>
          </a:xfrm>
          <a:prstGeom prst="rect">
            <a:avLst/>
          </a:prstGeom>
        </p:spPr>
      </p:pic>
      <p:sp>
        <p:nvSpPr>
          <p:cNvPr id="35" name="TextBox 34"/>
          <p:cNvSpPr txBox="1"/>
          <p:nvPr/>
        </p:nvSpPr>
        <p:spPr>
          <a:xfrm>
            <a:off x="1417320" y="6492240"/>
            <a:ext cx="6400800" cy="228600"/>
          </a:xfrm>
          <a:prstGeom prst="rect">
            <a:avLst/>
          </a:prstGeom>
          <a:noFill/>
        </p:spPr>
        <p:txBody>
          <a:bodyPr wrap="square" lIns="0" rIns="0" tIns="0" bIns="0" anchor="t">
            <a:spAutoFit/>
          </a:bodyPr>
          <a:lstStyle/>
          <a:p>
            <a:pPr algn="l">
              <a:lnSpc>
                <a:spcPct val="100000"/>
              </a:lnSpc>
            </a:pPr>
            <a:r>
              <a:rPr sz="900" b="0">
                <a:solidFill>
                  <a:srgbClr val="5F6670"/>
                </a:solidFill>
                <a:latin typeface="Arial"/>
              </a:rPr>
              <a:t>Digital Sales Platform for Castrol Distribution</a:t>
            </a:r>
          </a:p>
        </p:txBody>
      </p:sp>
      <p:sp>
        <p:nvSpPr>
          <p:cNvPr id="36" name="TextBox 35"/>
          <p:cNvSpPr txBox="1"/>
          <p:nvPr/>
        </p:nvSpPr>
        <p:spPr>
          <a:xfrm>
            <a:off x="10728655" y="6492240"/>
            <a:ext cx="914400" cy="228600"/>
          </a:xfrm>
          <a:prstGeom prst="rect">
            <a:avLst/>
          </a:prstGeom>
          <a:noFill/>
        </p:spPr>
        <p:txBody>
          <a:bodyPr wrap="square" lIns="0" rIns="0" tIns="0" bIns="0" anchor="t">
            <a:spAutoFit/>
          </a:bodyPr>
          <a:lstStyle/>
          <a:p>
            <a:pPr algn="r">
              <a:lnSpc>
                <a:spcPct val="100000"/>
              </a:lnSpc>
            </a:pPr>
            <a:r>
              <a:rPr sz="900" b="0">
                <a:solidFill>
                  <a:srgbClr val="5F6670"/>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347472"/>
            <a:ext cx="592531" cy="64008"/>
          </a:xfrm>
          <a:prstGeom prst="rect">
            <a:avLst/>
          </a:prstGeom>
          <a:solidFill>
            <a:srgbClr val="009343"/>
          </a:solidFill>
          <a:ln>
            <a:noFill/>
          </a:ln>
          <a:effectLst/>
        </p:spPr>
        <p:txBody>
          <a:bodyPr rtlCol="0" anchor="ctr"/>
          <a:lstStyle/>
          <a:p/>
        </p:txBody>
      </p:sp>
      <p:sp>
        <p:nvSpPr>
          <p:cNvPr id="3" name="Rectangle 2"/>
          <p:cNvSpPr/>
          <p:nvPr/>
        </p:nvSpPr>
        <p:spPr>
          <a:xfrm>
            <a:off x="1141171" y="347472"/>
            <a:ext cx="230428" cy="64008"/>
          </a:xfrm>
          <a:prstGeom prst="rect">
            <a:avLst/>
          </a:prstGeom>
          <a:solidFill>
            <a:srgbClr val="E2001A"/>
          </a:solidFill>
          <a:ln>
            <a:noFill/>
          </a:ln>
          <a:effectLst/>
        </p:spPr>
        <p:txBody>
          <a:bodyPr rtlCol="0" anchor="ctr"/>
          <a:lstStyle/>
          <a:p/>
        </p:txBody>
      </p:sp>
      <p:sp>
        <p:nvSpPr>
          <p:cNvPr id="4" name="TextBox 3"/>
          <p:cNvSpPr txBox="1"/>
          <p:nvPr/>
        </p:nvSpPr>
        <p:spPr>
          <a:xfrm>
            <a:off x="548640" y="502920"/>
            <a:ext cx="9144000" cy="274320"/>
          </a:xfrm>
          <a:prstGeom prst="rect">
            <a:avLst/>
          </a:prstGeom>
          <a:noFill/>
        </p:spPr>
        <p:txBody>
          <a:bodyPr wrap="square" lIns="0" rIns="0" tIns="0" bIns="0" anchor="t">
            <a:spAutoFit/>
          </a:bodyPr>
          <a:lstStyle/>
          <a:p>
            <a:pPr algn="l">
              <a:lnSpc>
                <a:spcPct val="100000"/>
              </a:lnSpc>
            </a:pPr>
            <a:r>
              <a:rPr sz="1200" b="1">
                <a:solidFill>
                  <a:srgbClr val="009343"/>
                </a:solidFill>
                <a:latin typeface="Arial"/>
              </a:rPr>
              <a:t>THE MARKET PLAN</a:t>
            </a:r>
          </a:p>
        </p:txBody>
      </p:sp>
      <p:sp>
        <p:nvSpPr>
          <p:cNvPr id="5" name="TextBox 4"/>
          <p:cNvSpPr txBox="1"/>
          <p:nvPr/>
        </p:nvSpPr>
        <p:spPr>
          <a:xfrm>
            <a:off x="548640" y="777240"/>
            <a:ext cx="11064240" cy="914400"/>
          </a:xfrm>
          <a:prstGeom prst="rect">
            <a:avLst/>
          </a:prstGeom>
          <a:noFill/>
        </p:spPr>
        <p:txBody>
          <a:bodyPr wrap="square" lIns="0" rIns="0" tIns="0" bIns="0" anchor="t">
            <a:spAutoFit/>
          </a:bodyPr>
          <a:lstStyle/>
          <a:p>
            <a:pPr algn="l">
              <a:lnSpc>
                <a:spcPct val="95000"/>
              </a:lnSpc>
            </a:pPr>
            <a:r>
              <a:rPr sz="3000" b="1">
                <a:solidFill>
                  <a:srgbClr val="23272B"/>
                </a:solidFill>
                <a:latin typeface="Arial"/>
              </a:rPr>
              <a:t>The platform drives a 3-stage plan to win Armenia's shelves</a:t>
            </a:r>
          </a:p>
        </p:txBody>
      </p:sp>
      <p:sp>
        <p:nvSpPr>
          <p:cNvPr id="6" name="Rounded Rectangle 5"/>
          <p:cNvSpPr/>
          <p:nvPr/>
        </p:nvSpPr>
        <p:spPr>
          <a:xfrm>
            <a:off x="548640" y="3291840"/>
            <a:ext cx="2359152" cy="2606040"/>
          </a:xfrm>
          <a:prstGeom prst="roundRect">
            <a:avLst>
              <a:gd name="adj" fmla="val 5426"/>
            </a:avLst>
          </a:prstGeom>
          <a:solidFill>
            <a:srgbClr val="E6F4EC"/>
          </a:solidFill>
          <a:ln>
            <a:noFill/>
          </a:ln>
          <a:effectLst/>
        </p:spPr>
        <p:txBody>
          <a:bodyPr rtlCol="0" anchor="ctr"/>
          <a:lstStyle/>
          <a:p/>
        </p:txBody>
      </p:sp>
      <p:sp>
        <p:nvSpPr>
          <p:cNvPr id="7" name="TextBox 6"/>
          <p:cNvSpPr txBox="1"/>
          <p:nvPr/>
        </p:nvSpPr>
        <p:spPr>
          <a:xfrm>
            <a:off x="749808" y="3493008"/>
            <a:ext cx="2011680" cy="274320"/>
          </a:xfrm>
          <a:prstGeom prst="rect">
            <a:avLst/>
          </a:prstGeom>
          <a:noFill/>
        </p:spPr>
        <p:txBody>
          <a:bodyPr wrap="square" lIns="0" rIns="0" tIns="0" bIns="0" anchor="t">
            <a:spAutoFit/>
          </a:bodyPr>
          <a:lstStyle/>
          <a:p>
            <a:pPr algn="l">
              <a:lnSpc>
                <a:spcPct val="100000"/>
              </a:lnSpc>
            </a:pPr>
            <a:r>
              <a:rPr sz="1100" b="1">
                <a:solidFill>
                  <a:srgbClr val="006E32"/>
                </a:solidFill>
                <a:latin typeface="Arial"/>
              </a:rPr>
              <a:t>STAGE 1</a:t>
            </a:r>
          </a:p>
        </p:txBody>
      </p:sp>
      <p:sp>
        <p:nvSpPr>
          <p:cNvPr id="8" name="TextBox 7"/>
          <p:cNvSpPr txBox="1"/>
          <p:nvPr/>
        </p:nvSpPr>
        <p:spPr>
          <a:xfrm>
            <a:off x="749808" y="3749039"/>
            <a:ext cx="2011680" cy="411480"/>
          </a:xfrm>
          <a:prstGeom prst="rect">
            <a:avLst/>
          </a:prstGeom>
          <a:noFill/>
        </p:spPr>
        <p:txBody>
          <a:bodyPr wrap="square" lIns="0" rIns="0" tIns="0" bIns="0" anchor="t">
            <a:spAutoFit/>
          </a:bodyPr>
          <a:lstStyle/>
          <a:p>
            <a:pPr algn="l">
              <a:lnSpc>
                <a:spcPct val="100000"/>
              </a:lnSpc>
            </a:pPr>
            <a:r>
              <a:rPr sz="2000" b="1">
                <a:solidFill>
                  <a:srgbClr val="23272B"/>
                </a:solidFill>
                <a:latin typeface="Arial"/>
              </a:rPr>
              <a:t>Presence</a:t>
            </a:r>
          </a:p>
        </p:txBody>
      </p:sp>
      <p:sp>
        <p:nvSpPr>
          <p:cNvPr id="9" name="TextBox 8"/>
          <p:cNvSpPr txBox="1"/>
          <p:nvPr/>
        </p:nvSpPr>
        <p:spPr>
          <a:xfrm>
            <a:off x="749808" y="4206240"/>
            <a:ext cx="1965960" cy="914400"/>
          </a:xfrm>
          <a:prstGeom prst="rect">
            <a:avLst/>
          </a:prstGeom>
          <a:noFill/>
        </p:spPr>
        <p:txBody>
          <a:bodyPr wrap="square" lIns="0" rIns="0" tIns="0" bIns="0" anchor="t">
            <a:spAutoFit/>
          </a:bodyPr>
          <a:lstStyle/>
          <a:p>
            <a:pPr algn="l">
              <a:lnSpc>
                <a:spcPct val="100000"/>
              </a:lnSpc>
            </a:pPr>
            <a:r>
              <a:rPr sz="1350" b="1">
                <a:solidFill>
                  <a:srgbClr val="23272B"/>
                </a:solidFill>
                <a:latin typeface="Arial"/>
              </a:rPr>
              <a:t>70% of customers carry at least one Castrol product</a:t>
            </a:r>
          </a:p>
        </p:txBody>
      </p:sp>
      <p:sp>
        <p:nvSpPr>
          <p:cNvPr id="10" name="TextBox 9"/>
          <p:cNvSpPr txBox="1"/>
          <p:nvPr/>
        </p:nvSpPr>
        <p:spPr>
          <a:xfrm>
            <a:off x="749808" y="5120640"/>
            <a:ext cx="1965960" cy="640080"/>
          </a:xfrm>
          <a:prstGeom prst="rect">
            <a:avLst/>
          </a:prstGeom>
          <a:noFill/>
        </p:spPr>
        <p:txBody>
          <a:bodyPr wrap="square" lIns="0" rIns="0" tIns="0" bIns="0" anchor="t">
            <a:spAutoFit/>
          </a:bodyPr>
          <a:lstStyle/>
          <a:p>
            <a:pPr algn="l">
              <a:lnSpc>
                <a:spcPct val="100000"/>
              </a:lnSpc>
            </a:pPr>
            <a:r>
              <a:rPr sz="1100" b="1">
                <a:solidFill>
                  <a:srgbClr val="5F6670"/>
                </a:solidFill>
                <a:latin typeface="Arial"/>
              </a:rPr>
              <a:t>Measured by: </a:t>
            </a:r>
            <a:r>
              <a:rPr sz="1100" b="0">
                <a:solidFill>
                  <a:srgbClr val="5F6670"/>
                </a:solidFill>
                <a:latin typeface="Arial"/>
              </a:rPr>
              <a:t>Shelf audit: Castrol available</a:t>
            </a:r>
          </a:p>
        </p:txBody>
      </p:sp>
      <p:sp>
        <p:nvSpPr>
          <p:cNvPr id="11" name="Rounded Rectangle 10"/>
          <p:cNvSpPr/>
          <p:nvPr/>
        </p:nvSpPr>
        <p:spPr>
          <a:xfrm>
            <a:off x="3035808" y="2606040"/>
            <a:ext cx="2359152" cy="3291840"/>
          </a:xfrm>
          <a:prstGeom prst="roundRect">
            <a:avLst>
              <a:gd name="adj" fmla="val 5426"/>
            </a:avLst>
          </a:prstGeom>
          <a:solidFill>
            <a:srgbClr val="9ED3B3"/>
          </a:solidFill>
          <a:ln>
            <a:noFill/>
          </a:ln>
          <a:effectLst/>
        </p:spPr>
        <p:txBody>
          <a:bodyPr rtlCol="0" anchor="ctr"/>
          <a:lstStyle/>
          <a:p/>
        </p:txBody>
      </p:sp>
      <p:sp>
        <p:nvSpPr>
          <p:cNvPr id="12" name="TextBox 11"/>
          <p:cNvSpPr txBox="1"/>
          <p:nvPr/>
        </p:nvSpPr>
        <p:spPr>
          <a:xfrm>
            <a:off x="3236976" y="2807208"/>
            <a:ext cx="2011680" cy="274320"/>
          </a:xfrm>
          <a:prstGeom prst="rect">
            <a:avLst/>
          </a:prstGeom>
          <a:noFill/>
        </p:spPr>
        <p:txBody>
          <a:bodyPr wrap="square" lIns="0" rIns="0" tIns="0" bIns="0" anchor="t">
            <a:spAutoFit/>
          </a:bodyPr>
          <a:lstStyle/>
          <a:p>
            <a:pPr algn="l">
              <a:lnSpc>
                <a:spcPct val="100000"/>
              </a:lnSpc>
            </a:pPr>
            <a:r>
              <a:rPr sz="1100" b="1">
                <a:solidFill>
                  <a:srgbClr val="006E32"/>
                </a:solidFill>
                <a:latin typeface="Arial"/>
              </a:rPr>
              <a:t>STAGE 2</a:t>
            </a:r>
          </a:p>
        </p:txBody>
      </p:sp>
      <p:sp>
        <p:nvSpPr>
          <p:cNvPr id="13" name="TextBox 12"/>
          <p:cNvSpPr txBox="1"/>
          <p:nvPr/>
        </p:nvSpPr>
        <p:spPr>
          <a:xfrm>
            <a:off x="3236976" y="3063240"/>
            <a:ext cx="2011680" cy="411480"/>
          </a:xfrm>
          <a:prstGeom prst="rect">
            <a:avLst/>
          </a:prstGeom>
          <a:noFill/>
        </p:spPr>
        <p:txBody>
          <a:bodyPr wrap="square" lIns="0" rIns="0" tIns="0" bIns="0" anchor="t">
            <a:spAutoFit/>
          </a:bodyPr>
          <a:lstStyle/>
          <a:p>
            <a:pPr algn="l">
              <a:lnSpc>
                <a:spcPct val="100000"/>
              </a:lnSpc>
            </a:pPr>
            <a:r>
              <a:rPr sz="2000" b="1">
                <a:solidFill>
                  <a:srgbClr val="23272B"/>
                </a:solidFill>
                <a:latin typeface="Arial"/>
              </a:rPr>
              <a:t>Full range</a:t>
            </a:r>
          </a:p>
        </p:txBody>
      </p:sp>
      <p:sp>
        <p:nvSpPr>
          <p:cNvPr id="14" name="TextBox 13"/>
          <p:cNvSpPr txBox="1"/>
          <p:nvPr/>
        </p:nvSpPr>
        <p:spPr>
          <a:xfrm>
            <a:off x="3236976" y="3520440"/>
            <a:ext cx="1965960" cy="914400"/>
          </a:xfrm>
          <a:prstGeom prst="rect">
            <a:avLst/>
          </a:prstGeom>
          <a:noFill/>
        </p:spPr>
        <p:txBody>
          <a:bodyPr wrap="square" lIns="0" rIns="0" tIns="0" bIns="0" anchor="t">
            <a:spAutoFit/>
          </a:bodyPr>
          <a:lstStyle/>
          <a:p>
            <a:pPr algn="l">
              <a:lnSpc>
                <a:spcPct val="100000"/>
              </a:lnSpc>
            </a:pPr>
            <a:r>
              <a:rPr sz="1350" b="1">
                <a:solidFill>
                  <a:srgbClr val="23272B"/>
                </a:solidFill>
                <a:latin typeface="Arial"/>
              </a:rPr>
              <a:t>Complete Castrol product lines on the shelf</a:t>
            </a:r>
          </a:p>
        </p:txBody>
      </p:sp>
      <p:sp>
        <p:nvSpPr>
          <p:cNvPr id="15" name="TextBox 14"/>
          <p:cNvSpPr txBox="1"/>
          <p:nvPr/>
        </p:nvSpPr>
        <p:spPr>
          <a:xfrm>
            <a:off x="3236976" y="5120640"/>
            <a:ext cx="1965960" cy="640080"/>
          </a:xfrm>
          <a:prstGeom prst="rect">
            <a:avLst/>
          </a:prstGeom>
          <a:noFill/>
        </p:spPr>
        <p:txBody>
          <a:bodyPr wrap="square" lIns="0" rIns="0" tIns="0" bIns="0" anchor="t">
            <a:spAutoFit/>
          </a:bodyPr>
          <a:lstStyle/>
          <a:p>
            <a:pPr algn="l">
              <a:lnSpc>
                <a:spcPct val="100000"/>
              </a:lnSpc>
            </a:pPr>
            <a:r>
              <a:rPr sz="1100" b="1">
                <a:solidFill>
                  <a:srgbClr val="23272B"/>
                </a:solidFill>
                <a:latin typeface="Arial"/>
              </a:rPr>
              <a:t>Measured by: </a:t>
            </a:r>
            <a:r>
              <a:rPr sz="1100" b="0">
                <a:solidFill>
                  <a:srgbClr val="23272B"/>
                </a:solidFill>
                <a:latin typeface="Arial"/>
              </a:rPr>
              <a:t>Shelf audit: full range, plus order mix by line</a:t>
            </a:r>
          </a:p>
        </p:txBody>
      </p:sp>
      <p:sp>
        <p:nvSpPr>
          <p:cNvPr id="16" name="Rounded Rectangle 15"/>
          <p:cNvSpPr/>
          <p:nvPr/>
        </p:nvSpPr>
        <p:spPr>
          <a:xfrm>
            <a:off x="5522976" y="1920240"/>
            <a:ext cx="2359152" cy="3977639"/>
          </a:xfrm>
          <a:prstGeom prst="roundRect">
            <a:avLst>
              <a:gd name="adj" fmla="val 5426"/>
            </a:avLst>
          </a:prstGeom>
          <a:solidFill>
            <a:srgbClr val="009343"/>
          </a:solidFill>
          <a:ln>
            <a:noFill/>
          </a:ln>
          <a:effectLst/>
        </p:spPr>
        <p:txBody>
          <a:bodyPr rtlCol="0" anchor="ctr"/>
          <a:lstStyle/>
          <a:p/>
        </p:txBody>
      </p:sp>
      <p:sp>
        <p:nvSpPr>
          <p:cNvPr id="17" name="TextBox 16"/>
          <p:cNvSpPr txBox="1"/>
          <p:nvPr/>
        </p:nvSpPr>
        <p:spPr>
          <a:xfrm>
            <a:off x="5724144" y="2121408"/>
            <a:ext cx="2011680" cy="274320"/>
          </a:xfrm>
          <a:prstGeom prst="rect">
            <a:avLst/>
          </a:prstGeom>
          <a:noFill/>
        </p:spPr>
        <p:txBody>
          <a:bodyPr wrap="square" lIns="0" rIns="0" tIns="0" bIns="0" anchor="t">
            <a:spAutoFit/>
          </a:bodyPr>
          <a:lstStyle/>
          <a:p>
            <a:pPr algn="l">
              <a:lnSpc>
                <a:spcPct val="100000"/>
              </a:lnSpc>
            </a:pPr>
            <a:r>
              <a:rPr sz="1100" b="1">
                <a:solidFill>
                  <a:srgbClr val="FFFFFF"/>
                </a:solidFill>
                <a:latin typeface="Arial"/>
              </a:rPr>
              <a:t>STAGE 3</a:t>
            </a:r>
          </a:p>
        </p:txBody>
      </p:sp>
      <p:sp>
        <p:nvSpPr>
          <p:cNvPr id="18" name="TextBox 17"/>
          <p:cNvSpPr txBox="1"/>
          <p:nvPr/>
        </p:nvSpPr>
        <p:spPr>
          <a:xfrm>
            <a:off x="5724144" y="2377440"/>
            <a:ext cx="2011680" cy="411480"/>
          </a:xfrm>
          <a:prstGeom prst="rect">
            <a:avLst/>
          </a:prstGeom>
          <a:noFill/>
        </p:spPr>
        <p:txBody>
          <a:bodyPr wrap="square" lIns="0" rIns="0" tIns="0" bIns="0" anchor="t">
            <a:spAutoFit/>
          </a:bodyPr>
          <a:lstStyle/>
          <a:p>
            <a:pPr algn="l">
              <a:lnSpc>
                <a:spcPct val="100000"/>
              </a:lnSpc>
            </a:pPr>
            <a:r>
              <a:rPr sz="2000" b="1">
                <a:solidFill>
                  <a:srgbClr val="FFFFFF"/>
                </a:solidFill>
                <a:latin typeface="Arial"/>
              </a:rPr>
              <a:t>Preference</a:t>
            </a:r>
          </a:p>
        </p:txBody>
      </p:sp>
      <p:sp>
        <p:nvSpPr>
          <p:cNvPr id="19" name="TextBox 18"/>
          <p:cNvSpPr txBox="1"/>
          <p:nvPr/>
        </p:nvSpPr>
        <p:spPr>
          <a:xfrm>
            <a:off x="5724144" y="2834640"/>
            <a:ext cx="1965960" cy="914400"/>
          </a:xfrm>
          <a:prstGeom prst="rect">
            <a:avLst/>
          </a:prstGeom>
          <a:noFill/>
        </p:spPr>
        <p:txBody>
          <a:bodyPr wrap="square" lIns="0" rIns="0" tIns="0" bIns="0" anchor="t">
            <a:spAutoFit/>
          </a:bodyPr>
          <a:lstStyle/>
          <a:p>
            <a:pPr algn="l">
              <a:lnSpc>
                <a:spcPct val="100000"/>
              </a:lnSpc>
            </a:pPr>
            <a:r>
              <a:rPr sz="1350" b="1">
                <a:solidFill>
                  <a:srgbClr val="FFFFFF"/>
                </a:solidFill>
                <a:latin typeface="Arial"/>
              </a:rPr>
              <a:t>Customers sell mostly Castrol</a:t>
            </a:r>
          </a:p>
        </p:txBody>
      </p:sp>
      <p:sp>
        <p:nvSpPr>
          <p:cNvPr id="20" name="TextBox 19"/>
          <p:cNvSpPr txBox="1"/>
          <p:nvPr/>
        </p:nvSpPr>
        <p:spPr>
          <a:xfrm>
            <a:off x="5724144" y="5120640"/>
            <a:ext cx="1965960" cy="640080"/>
          </a:xfrm>
          <a:prstGeom prst="rect">
            <a:avLst/>
          </a:prstGeom>
          <a:noFill/>
        </p:spPr>
        <p:txBody>
          <a:bodyPr wrap="square" lIns="0" rIns="0" tIns="0" bIns="0" anchor="t">
            <a:spAutoFit/>
          </a:bodyPr>
          <a:lstStyle/>
          <a:p>
            <a:pPr algn="l">
              <a:lnSpc>
                <a:spcPct val="100000"/>
              </a:lnSpc>
            </a:pPr>
            <a:r>
              <a:rPr sz="1100" b="1">
                <a:solidFill>
                  <a:srgbClr val="FFFFFF"/>
                </a:solidFill>
                <a:latin typeface="Arial"/>
              </a:rPr>
              <a:t>Measured by: </a:t>
            </a:r>
            <a:r>
              <a:rPr sz="1100" b="0">
                <a:solidFill>
                  <a:srgbClr val="FFFFFF"/>
                </a:solidFill>
                <a:latin typeface="Arial"/>
              </a:rPr>
              <a:t>Share of each customer's purchases and sell-out</a:t>
            </a:r>
          </a:p>
        </p:txBody>
      </p:sp>
      <p:pic>
        <p:nvPicPr>
          <p:cNvPr id="21" name="Picture 20" descr="shelf_audit.png"/>
          <p:cNvPicPr>
            <a:picLocks noChangeAspect="1"/>
          </p:cNvPicPr>
          <p:nvPr/>
        </p:nvPicPr>
        <p:blipFill>
          <a:blip r:embed="rId2"/>
          <a:stretch>
            <a:fillRect/>
          </a:stretch>
        </p:blipFill>
        <p:spPr>
          <a:xfrm>
            <a:off x="8503920" y="1691640"/>
            <a:ext cx="1736355" cy="3703320"/>
          </a:xfrm>
          <a:prstGeom prst="rect">
            <a:avLst/>
          </a:prstGeom>
        </p:spPr>
      </p:pic>
      <p:sp>
        <p:nvSpPr>
          <p:cNvPr id="22" name="TextBox 21"/>
          <p:cNvSpPr txBox="1"/>
          <p:nvPr/>
        </p:nvSpPr>
        <p:spPr>
          <a:xfrm>
            <a:off x="8000497" y="5440680"/>
            <a:ext cx="2743200" cy="457200"/>
          </a:xfrm>
          <a:prstGeom prst="rect">
            <a:avLst/>
          </a:prstGeom>
          <a:noFill/>
        </p:spPr>
        <p:txBody>
          <a:bodyPr wrap="square" lIns="0" rIns="0" tIns="0" bIns="0" anchor="t">
            <a:spAutoFit/>
          </a:bodyPr>
          <a:lstStyle/>
          <a:p>
            <a:pPr algn="ctr">
              <a:lnSpc>
                <a:spcPct val="100000"/>
              </a:lnSpc>
            </a:pPr>
            <a:r>
              <a:rPr sz="1150" b="0">
                <a:solidFill>
                  <a:srgbClr val="5F6670"/>
                </a:solidFill>
                <a:latin typeface="Arial"/>
              </a:rPr>
              <a:t>Recorded at every visit (demo)</a:t>
            </a:r>
          </a:p>
        </p:txBody>
      </p:sp>
      <p:cxnSp>
        <p:nvCxnSpPr>
          <p:cNvPr id="23" name="Connector 22"/>
          <p:cNvCxnSpPr/>
          <p:nvPr/>
        </p:nvCxnSpPr>
        <p:spPr>
          <a:xfrm>
            <a:off x="548640" y="6400800"/>
            <a:ext cx="11094415" cy="0"/>
          </a:xfrm>
          <a:prstGeom prst="line">
            <a:avLst/>
          </a:prstGeom>
          <a:ln w="9525">
            <a:solidFill>
              <a:srgbClr val="D9DEDB"/>
            </a:solidFill>
          </a:ln>
        </p:spPr>
      </p:cxnSp>
      <p:pic>
        <p:nvPicPr>
          <p:cNvPr id="24" name="Picture 23" descr="kad-wordmark.png"/>
          <p:cNvPicPr>
            <a:picLocks noChangeAspect="1"/>
          </p:cNvPicPr>
          <p:nvPr/>
        </p:nvPicPr>
        <p:blipFill>
          <a:blip r:embed="rId3"/>
          <a:stretch>
            <a:fillRect/>
          </a:stretch>
        </p:blipFill>
        <p:spPr>
          <a:xfrm>
            <a:off x="548640" y="6519672"/>
            <a:ext cx="759129" cy="155448"/>
          </a:xfrm>
          <a:prstGeom prst="rect">
            <a:avLst/>
          </a:prstGeom>
        </p:spPr>
      </p:pic>
      <p:sp>
        <p:nvSpPr>
          <p:cNvPr id="25" name="TextBox 24"/>
          <p:cNvSpPr txBox="1"/>
          <p:nvPr/>
        </p:nvSpPr>
        <p:spPr>
          <a:xfrm>
            <a:off x="1417320" y="6492240"/>
            <a:ext cx="6400800" cy="228600"/>
          </a:xfrm>
          <a:prstGeom prst="rect">
            <a:avLst/>
          </a:prstGeom>
          <a:noFill/>
        </p:spPr>
        <p:txBody>
          <a:bodyPr wrap="square" lIns="0" rIns="0" tIns="0" bIns="0" anchor="t">
            <a:spAutoFit/>
          </a:bodyPr>
          <a:lstStyle/>
          <a:p>
            <a:pPr algn="l">
              <a:lnSpc>
                <a:spcPct val="100000"/>
              </a:lnSpc>
            </a:pPr>
            <a:r>
              <a:rPr sz="900" b="0">
                <a:solidFill>
                  <a:srgbClr val="5F6670"/>
                </a:solidFill>
                <a:latin typeface="Arial"/>
              </a:rPr>
              <a:t>Digital Sales Platform for Castrol Distribution</a:t>
            </a:r>
          </a:p>
        </p:txBody>
      </p:sp>
      <p:sp>
        <p:nvSpPr>
          <p:cNvPr id="26" name="TextBox 25"/>
          <p:cNvSpPr txBox="1"/>
          <p:nvPr/>
        </p:nvSpPr>
        <p:spPr>
          <a:xfrm>
            <a:off x="10728655" y="6492240"/>
            <a:ext cx="914400" cy="228600"/>
          </a:xfrm>
          <a:prstGeom prst="rect">
            <a:avLst/>
          </a:prstGeom>
          <a:noFill/>
        </p:spPr>
        <p:txBody>
          <a:bodyPr wrap="square" lIns="0" rIns="0" tIns="0" bIns="0" anchor="t">
            <a:spAutoFit/>
          </a:bodyPr>
          <a:lstStyle/>
          <a:p>
            <a:pPr algn="r">
              <a:lnSpc>
                <a:spcPct val="100000"/>
              </a:lnSpc>
            </a:pPr>
            <a:r>
              <a:rPr sz="900" b="0">
                <a:solidFill>
                  <a:srgbClr val="5F6670"/>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347472"/>
            <a:ext cx="592531" cy="64008"/>
          </a:xfrm>
          <a:prstGeom prst="rect">
            <a:avLst/>
          </a:prstGeom>
          <a:solidFill>
            <a:srgbClr val="009343"/>
          </a:solidFill>
          <a:ln>
            <a:noFill/>
          </a:ln>
          <a:effectLst/>
        </p:spPr>
        <p:txBody>
          <a:bodyPr rtlCol="0" anchor="ctr"/>
          <a:lstStyle/>
          <a:p/>
        </p:txBody>
      </p:sp>
      <p:sp>
        <p:nvSpPr>
          <p:cNvPr id="3" name="Rectangle 2"/>
          <p:cNvSpPr/>
          <p:nvPr/>
        </p:nvSpPr>
        <p:spPr>
          <a:xfrm>
            <a:off x="1141171" y="347472"/>
            <a:ext cx="230428" cy="64008"/>
          </a:xfrm>
          <a:prstGeom prst="rect">
            <a:avLst/>
          </a:prstGeom>
          <a:solidFill>
            <a:srgbClr val="E2001A"/>
          </a:solidFill>
          <a:ln>
            <a:noFill/>
          </a:ln>
          <a:effectLst/>
        </p:spPr>
        <p:txBody>
          <a:bodyPr rtlCol="0" anchor="ctr"/>
          <a:lstStyle/>
          <a:p/>
        </p:txBody>
      </p:sp>
      <p:sp>
        <p:nvSpPr>
          <p:cNvPr id="4" name="TextBox 3"/>
          <p:cNvSpPr txBox="1"/>
          <p:nvPr/>
        </p:nvSpPr>
        <p:spPr>
          <a:xfrm>
            <a:off x="548640" y="502920"/>
            <a:ext cx="9144000" cy="274320"/>
          </a:xfrm>
          <a:prstGeom prst="rect">
            <a:avLst/>
          </a:prstGeom>
          <a:noFill/>
        </p:spPr>
        <p:txBody>
          <a:bodyPr wrap="square" lIns="0" rIns="0" tIns="0" bIns="0" anchor="t">
            <a:spAutoFit/>
          </a:bodyPr>
          <a:lstStyle/>
          <a:p>
            <a:pPr algn="l">
              <a:lnSpc>
                <a:spcPct val="100000"/>
              </a:lnSpc>
            </a:pPr>
            <a:r>
              <a:rPr sz="1200" b="1">
                <a:solidFill>
                  <a:srgbClr val="009343"/>
                </a:solidFill>
                <a:latin typeface="Arial"/>
              </a:rPr>
              <a:t>ROADMAP</a:t>
            </a:r>
          </a:p>
        </p:txBody>
      </p:sp>
      <p:sp>
        <p:nvSpPr>
          <p:cNvPr id="5" name="TextBox 4"/>
          <p:cNvSpPr txBox="1"/>
          <p:nvPr/>
        </p:nvSpPr>
        <p:spPr>
          <a:xfrm>
            <a:off x="548640" y="777240"/>
            <a:ext cx="11064240" cy="914400"/>
          </a:xfrm>
          <a:prstGeom prst="rect">
            <a:avLst/>
          </a:prstGeom>
          <a:noFill/>
        </p:spPr>
        <p:txBody>
          <a:bodyPr wrap="square" lIns="0" rIns="0" tIns="0" bIns="0" anchor="t">
            <a:spAutoFit/>
          </a:bodyPr>
          <a:lstStyle/>
          <a:p>
            <a:pPr algn="l">
              <a:lnSpc>
                <a:spcPct val="95000"/>
              </a:lnSpc>
            </a:pPr>
            <a:r>
              <a:rPr sz="3000" b="1">
                <a:solidFill>
                  <a:srgbClr val="23272B"/>
                </a:solidFill>
                <a:latin typeface="Arial"/>
              </a:rPr>
              <a:t>Next: delivery, warehouse and a full AI management team</a:t>
            </a:r>
          </a:p>
        </p:txBody>
      </p:sp>
      <p:sp>
        <p:nvSpPr>
          <p:cNvPr id="6" name="Rounded Rectangle 5"/>
          <p:cNvSpPr/>
          <p:nvPr/>
        </p:nvSpPr>
        <p:spPr>
          <a:xfrm>
            <a:off x="548640" y="1783080"/>
            <a:ext cx="3566160" cy="3520440"/>
          </a:xfrm>
          <a:prstGeom prst="roundRect">
            <a:avLst>
              <a:gd name="adj" fmla="val 3116"/>
            </a:avLst>
          </a:prstGeom>
          <a:solidFill>
            <a:srgbClr val="F4F5F6"/>
          </a:solidFill>
          <a:ln>
            <a:noFill/>
          </a:ln>
          <a:effectLst/>
        </p:spPr>
        <p:txBody>
          <a:bodyPr rtlCol="0" anchor="ctr"/>
          <a:lstStyle/>
          <a:p/>
        </p:txBody>
      </p:sp>
      <p:sp>
        <p:nvSpPr>
          <p:cNvPr id="7" name="Oval 6"/>
          <p:cNvSpPr/>
          <p:nvPr/>
        </p:nvSpPr>
        <p:spPr>
          <a:xfrm>
            <a:off x="822959" y="2057400"/>
            <a:ext cx="868680" cy="868680"/>
          </a:xfrm>
          <a:prstGeom prst="ellipse">
            <a:avLst/>
          </a:prstGeom>
          <a:solidFill>
            <a:srgbClr val="E6F4EC"/>
          </a:solidFill>
          <a:ln>
            <a:noFill/>
          </a:ln>
          <a:effectLst/>
        </p:spPr>
        <p:txBody>
          <a:bodyPr rtlCol="0" anchor="ctr"/>
          <a:lstStyle/>
          <a:p>
            <a:pPr algn="ctr"/>
          </a:p>
        </p:txBody>
      </p:sp>
      <p:pic>
        <p:nvPicPr>
          <p:cNvPr id="8" name="Picture 7" descr="truck_g.png"/>
          <p:cNvPicPr>
            <a:picLocks noChangeAspect="1"/>
          </p:cNvPicPr>
          <p:nvPr/>
        </p:nvPicPr>
        <p:blipFill>
          <a:blip r:embed="rId2"/>
          <a:stretch>
            <a:fillRect/>
          </a:stretch>
        </p:blipFill>
        <p:spPr>
          <a:xfrm>
            <a:off x="1014069" y="2248509"/>
            <a:ext cx="486460" cy="486460"/>
          </a:xfrm>
          <a:prstGeom prst="rect">
            <a:avLst/>
          </a:prstGeom>
        </p:spPr>
      </p:pic>
      <p:sp>
        <p:nvSpPr>
          <p:cNvPr id="9" name="TextBox 8"/>
          <p:cNvSpPr txBox="1"/>
          <p:nvPr/>
        </p:nvSpPr>
        <p:spPr>
          <a:xfrm>
            <a:off x="822959" y="3108960"/>
            <a:ext cx="3108960" cy="411480"/>
          </a:xfrm>
          <a:prstGeom prst="rect">
            <a:avLst/>
          </a:prstGeom>
          <a:noFill/>
        </p:spPr>
        <p:txBody>
          <a:bodyPr wrap="square" lIns="0" rIns="0" tIns="0" bIns="0" anchor="t">
            <a:spAutoFit/>
          </a:bodyPr>
          <a:lstStyle/>
          <a:p>
            <a:pPr algn="l">
              <a:lnSpc>
                <a:spcPct val="100000"/>
              </a:lnSpc>
            </a:pPr>
            <a:r>
              <a:rPr sz="2000" b="1">
                <a:solidFill>
                  <a:srgbClr val="23272B"/>
                </a:solidFill>
                <a:latin typeface="Arial"/>
              </a:rPr>
              <a:t>Driver &amp; delivery</a:t>
            </a:r>
          </a:p>
        </p:txBody>
      </p:sp>
      <p:pic>
        <p:nvPicPr>
          <p:cNvPr id="10" name="Picture 9" descr="checkCircle_g.png"/>
          <p:cNvPicPr>
            <a:picLocks noChangeAspect="1"/>
          </p:cNvPicPr>
          <p:nvPr/>
        </p:nvPicPr>
        <p:blipFill>
          <a:blip r:embed="rId3"/>
          <a:stretch>
            <a:fillRect/>
          </a:stretch>
        </p:blipFill>
        <p:spPr>
          <a:xfrm>
            <a:off x="822959" y="3675887"/>
            <a:ext cx="274320" cy="274320"/>
          </a:xfrm>
          <a:prstGeom prst="rect">
            <a:avLst/>
          </a:prstGeom>
        </p:spPr>
      </p:pic>
      <p:sp>
        <p:nvSpPr>
          <p:cNvPr id="11" name="TextBox 10"/>
          <p:cNvSpPr txBox="1"/>
          <p:nvPr/>
        </p:nvSpPr>
        <p:spPr>
          <a:xfrm>
            <a:off x="1234440" y="3657600"/>
            <a:ext cx="2743200" cy="457200"/>
          </a:xfrm>
          <a:prstGeom prst="rect">
            <a:avLst/>
          </a:prstGeom>
          <a:noFill/>
        </p:spPr>
        <p:txBody>
          <a:bodyPr wrap="square" lIns="0" rIns="0" tIns="0" bIns="0" anchor="t">
            <a:spAutoFit/>
          </a:bodyPr>
          <a:lstStyle/>
          <a:p>
            <a:pPr algn="l">
              <a:lnSpc>
                <a:spcPct val="100000"/>
              </a:lnSpc>
            </a:pPr>
            <a:r>
              <a:rPr sz="1350" b="0">
                <a:solidFill>
                  <a:srgbClr val="23272B"/>
                </a:solidFill>
                <a:latin typeface="Arial"/>
              </a:rPr>
              <a:t>Optimised delivery routes</a:t>
            </a:r>
          </a:p>
        </p:txBody>
      </p:sp>
      <p:pic>
        <p:nvPicPr>
          <p:cNvPr id="12" name="Picture 11" descr="checkCircle_g.png"/>
          <p:cNvPicPr>
            <a:picLocks noChangeAspect="1"/>
          </p:cNvPicPr>
          <p:nvPr/>
        </p:nvPicPr>
        <p:blipFill>
          <a:blip r:embed="rId3"/>
          <a:stretch>
            <a:fillRect/>
          </a:stretch>
        </p:blipFill>
        <p:spPr>
          <a:xfrm>
            <a:off x="822959" y="4178807"/>
            <a:ext cx="274320" cy="274320"/>
          </a:xfrm>
          <a:prstGeom prst="rect">
            <a:avLst/>
          </a:prstGeom>
        </p:spPr>
      </p:pic>
      <p:sp>
        <p:nvSpPr>
          <p:cNvPr id="13" name="TextBox 12"/>
          <p:cNvSpPr txBox="1"/>
          <p:nvPr/>
        </p:nvSpPr>
        <p:spPr>
          <a:xfrm>
            <a:off x="1234440" y="4160520"/>
            <a:ext cx="2743200" cy="457200"/>
          </a:xfrm>
          <a:prstGeom prst="rect">
            <a:avLst/>
          </a:prstGeom>
          <a:noFill/>
        </p:spPr>
        <p:txBody>
          <a:bodyPr wrap="square" lIns="0" rIns="0" tIns="0" bIns="0" anchor="t">
            <a:spAutoFit/>
          </a:bodyPr>
          <a:lstStyle/>
          <a:p>
            <a:pPr algn="l">
              <a:lnSpc>
                <a:spcPct val="100000"/>
              </a:lnSpc>
            </a:pPr>
            <a:r>
              <a:rPr sz="1350" b="0">
                <a:solidFill>
                  <a:srgbClr val="23272B"/>
                </a:solidFill>
                <a:latin typeface="Arial"/>
              </a:rPr>
              <a:t>Arrival detected automatically</a:t>
            </a:r>
          </a:p>
        </p:txBody>
      </p:sp>
      <p:pic>
        <p:nvPicPr>
          <p:cNvPr id="14" name="Picture 13" descr="checkCircle_g.png"/>
          <p:cNvPicPr>
            <a:picLocks noChangeAspect="1"/>
          </p:cNvPicPr>
          <p:nvPr/>
        </p:nvPicPr>
        <p:blipFill>
          <a:blip r:embed="rId3"/>
          <a:stretch>
            <a:fillRect/>
          </a:stretch>
        </p:blipFill>
        <p:spPr>
          <a:xfrm>
            <a:off x="822959" y="4681727"/>
            <a:ext cx="274320" cy="274320"/>
          </a:xfrm>
          <a:prstGeom prst="rect">
            <a:avLst/>
          </a:prstGeom>
        </p:spPr>
      </p:pic>
      <p:sp>
        <p:nvSpPr>
          <p:cNvPr id="15" name="TextBox 14"/>
          <p:cNvSpPr txBox="1"/>
          <p:nvPr/>
        </p:nvSpPr>
        <p:spPr>
          <a:xfrm>
            <a:off x="1234440" y="4663440"/>
            <a:ext cx="2743200" cy="457200"/>
          </a:xfrm>
          <a:prstGeom prst="rect">
            <a:avLst/>
          </a:prstGeom>
          <a:noFill/>
        </p:spPr>
        <p:txBody>
          <a:bodyPr wrap="square" lIns="0" rIns="0" tIns="0" bIns="0" anchor="t">
            <a:spAutoFit/>
          </a:bodyPr>
          <a:lstStyle/>
          <a:p>
            <a:pPr algn="l">
              <a:lnSpc>
                <a:spcPct val="100000"/>
              </a:lnSpc>
            </a:pPr>
            <a:r>
              <a:rPr sz="1350" b="0">
                <a:solidFill>
                  <a:srgbClr val="23272B"/>
                </a:solidFill>
                <a:latin typeface="Arial"/>
              </a:rPr>
              <a:t>Customer signs on the phone</a:t>
            </a:r>
          </a:p>
        </p:txBody>
      </p:sp>
      <p:sp>
        <p:nvSpPr>
          <p:cNvPr id="16" name="Rounded Rectangle 15"/>
          <p:cNvSpPr/>
          <p:nvPr/>
        </p:nvSpPr>
        <p:spPr>
          <a:xfrm>
            <a:off x="4297679" y="1783080"/>
            <a:ext cx="3566160" cy="3520440"/>
          </a:xfrm>
          <a:prstGeom prst="roundRect">
            <a:avLst>
              <a:gd name="adj" fmla="val 3116"/>
            </a:avLst>
          </a:prstGeom>
          <a:solidFill>
            <a:srgbClr val="F4F5F6"/>
          </a:solidFill>
          <a:ln>
            <a:noFill/>
          </a:ln>
          <a:effectLst/>
        </p:spPr>
        <p:txBody>
          <a:bodyPr rtlCol="0" anchor="ctr"/>
          <a:lstStyle/>
          <a:p/>
        </p:txBody>
      </p:sp>
      <p:sp>
        <p:nvSpPr>
          <p:cNvPr id="17" name="Oval 16"/>
          <p:cNvSpPr/>
          <p:nvPr/>
        </p:nvSpPr>
        <p:spPr>
          <a:xfrm>
            <a:off x="4571999" y="2057400"/>
            <a:ext cx="868680" cy="868680"/>
          </a:xfrm>
          <a:prstGeom prst="ellipse">
            <a:avLst/>
          </a:prstGeom>
          <a:solidFill>
            <a:srgbClr val="E6F4EC"/>
          </a:solidFill>
          <a:ln>
            <a:noFill/>
          </a:ln>
          <a:effectLst/>
        </p:spPr>
        <p:txBody>
          <a:bodyPr rtlCol="0" anchor="ctr"/>
          <a:lstStyle/>
          <a:p>
            <a:pPr algn="ctr"/>
          </a:p>
        </p:txBody>
      </p:sp>
      <p:pic>
        <p:nvPicPr>
          <p:cNvPr id="18" name="Picture 17" descr="box_g.png"/>
          <p:cNvPicPr>
            <a:picLocks noChangeAspect="1"/>
          </p:cNvPicPr>
          <p:nvPr/>
        </p:nvPicPr>
        <p:blipFill>
          <a:blip r:embed="rId4"/>
          <a:stretch>
            <a:fillRect/>
          </a:stretch>
        </p:blipFill>
        <p:spPr>
          <a:xfrm>
            <a:off x="4763109" y="2248509"/>
            <a:ext cx="486460" cy="486460"/>
          </a:xfrm>
          <a:prstGeom prst="rect">
            <a:avLst/>
          </a:prstGeom>
        </p:spPr>
      </p:pic>
      <p:sp>
        <p:nvSpPr>
          <p:cNvPr id="19" name="TextBox 18"/>
          <p:cNvSpPr txBox="1"/>
          <p:nvPr/>
        </p:nvSpPr>
        <p:spPr>
          <a:xfrm>
            <a:off x="4571999" y="3108960"/>
            <a:ext cx="3108960" cy="411480"/>
          </a:xfrm>
          <a:prstGeom prst="rect">
            <a:avLst/>
          </a:prstGeom>
          <a:noFill/>
        </p:spPr>
        <p:txBody>
          <a:bodyPr wrap="square" lIns="0" rIns="0" tIns="0" bIns="0" anchor="t">
            <a:spAutoFit/>
          </a:bodyPr>
          <a:lstStyle/>
          <a:p>
            <a:pPr algn="l">
              <a:lnSpc>
                <a:spcPct val="100000"/>
              </a:lnSpc>
            </a:pPr>
            <a:r>
              <a:rPr sz="2000" b="1">
                <a:solidFill>
                  <a:srgbClr val="23272B"/>
                </a:solidFill>
                <a:latin typeface="Arial"/>
              </a:rPr>
              <a:t>Warehouse</a:t>
            </a:r>
          </a:p>
        </p:txBody>
      </p:sp>
      <p:pic>
        <p:nvPicPr>
          <p:cNvPr id="20" name="Picture 19" descr="checkCircle_g.png"/>
          <p:cNvPicPr>
            <a:picLocks noChangeAspect="1"/>
          </p:cNvPicPr>
          <p:nvPr/>
        </p:nvPicPr>
        <p:blipFill>
          <a:blip r:embed="rId3"/>
          <a:stretch>
            <a:fillRect/>
          </a:stretch>
        </p:blipFill>
        <p:spPr>
          <a:xfrm>
            <a:off x="4571999" y="3675887"/>
            <a:ext cx="274320" cy="274320"/>
          </a:xfrm>
          <a:prstGeom prst="rect">
            <a:avLst/>
          </a:prstGeom>
        </p:spPr>
      </p:pic>
      <p:sp>
        <p:nvSpPr>
          <p:cNvPr id="21" name="TextBox 20"/>
          <p:cNvSpPr txBox="1"/>
          <p:nvPr/>
        </p:nvSpPr>
        <p:spPr>
          <a:xfrm>
            <a:off x="4983479" y="3657600"/>
            <a:ext cx="2743200" cy="457200"/>
          </a:xfrm>
          <a:prstGeom prst="rect">
            <a:avLst/>
          </a:prstGeom>
          <a:noFill/>
        </p:spPr>
        <p:txBody>
          <a:bodyPr wrap="square" lIns="0" rIns="0" tIns="0" bIns="0" anchor="t">
            <a:spAutoFit/>
          </a:bodyPr>
          <a:lstStyle/>
          <a:p>
            <a:pPr algn="l">
              <a:lnSpc>
                <a:spcPct val="100000"/>
              </a:lnSpc>
            </a:pPr>
            <a:r>
              <a:rPr sz="1350" b="0">
                <a:solidFill>
                  <a:srgbClr val="23272B"/>
                </a:solidFill>
                <a:latin typeface="Arial"/>
              </a:rPr>
              <a:t>Picking and packing in the app</a:t>
            </a:r>
          </a:p>
        </p:txBody>
      </p:sp>
      <p:pic>
        <p:nvPicPr>
          <p:cNvPr id="22" name="Picture 21" descr="checkCircle_g.png"/>
          <p:cNvPicPr>
            <a:picLocks noChangeAspect="1"/>
          </p:cNvPicPr>
          <p:nvPr/>
        </p:nvPicPr>
        <p:blipFill>
          <a:blip r:embed="rId3"/>
          <a:stretch>
            <a:fillRect/>
          </a:stretch>
        </p:blipFill>
        <p:spPr>
          <a:xfrm>
            <a:off x="4571999" y="4178807"/>
            <a:ext cx="274320" cy="274320"/>
          </a:xfrm>
          <a:prstGeom prst="rect">
            <a:avLst/>
          </a:prstGeom>
        </p:spPr>
      </p:pic>
      <p:sp>
        <p:nvSpPr>
          <p:cNvPr id="23" name="TextBox 22"/>
          <p:cNvSpPr txBox="1"/>
          <p:nvPr/>
        </p:nvSpPr>
        <p:spPr>
          <a:xfrm>
            <a:off x="4983479" y="4160520"/>
            <a:ext cx="2743200" cy="457200"/>
          </a:xfrm>
          <a:prstGeom prst="rect">
            <a:avLst/>
          </a:prstGeom>
          <a:noFill/>
        </p:spPr>
        <p:txBody>
          <a:bodyPr wrap="square" lIns="0" rIns="0" tIns="0" bIns="0" anchor="t">
            <a:spAutoFit/>
          </a:bodyPr>
          <a:lstStyle/>
          <a:p>
            <a:pPr algn="l">
              <a:lnSpc>
                <a:spcPct val="100000"/>
              </a:lnSpc>
            </a:pPr>
            <a:r>
              <a:rPr sz="1350" b="0">
                <a:solidFill>
                  <a:srgbClr val="23272B"/>
                </a:solidFill>
                <a:latin typeface="Arial"/>
              </a:rPr>
              <a:t>Live stock behind every order</a:t>
            </a:r>
          </a:p>
        </p:txBody>
      </p:sp>
      <p:pic>
        <p:nvPicPr>
          <p:cNvPr id="24" name="Picture 23" descr="checkCircle_g.png"/>
          <p:cNvPicPr>
            <a:picLocks noChangeAspect="1"/>
          </p:cNvPicPr>
          <p:nvPr/>
        </p:nvPicPr>
        <p:blipFill>
          <a:blip r:embed="rId3"/>
          <a:stretch>
            <a:fillRect/>
          </a:stretch>
        </p:blipFill>
        <p:spPr>
          <a:xfrm>
            <a:off x="4571999" y="4681727"/>
            <a:ext cx="274320" cy="274320"/>
          </a:xfrm>
          <a:prstGeom prst="rect">
            <a:avLst/>
          </a:prstGeom>
        </p:spPr>
      </p:pic>
      <p:sp>
        <p:nvSpPr>
          <p:cNvPr id="25" name="TextBox 24"/>
          <p:cNvSpPr txBox="1"/>
          <p:nvPr/>
        </p:nvSpPr>
        <p:spPr>
          <a:xfrm>
            <a:off x="4983479" y="4663440"/>
            <a:ext cx="2743200" cy="457200"/>
          </a:xfrm>
          <a:prstGeom prst="rect">
            <a:avLst/>
          </a:prstGeom>
          <a:noFill/>
        </p:spPr>
        <p:txBody>
          <a:bodyPr wrap="square" lIns="0" rIns="0" tIns="0" bIns="0" anchor="t">
            <a:spAutoFit/>
          </a:bodyPr>
          <a:lstStyle/>
          <a:p>
            <a:pPr algn="l">
              <a:lnSpc>
                <a:spcPct val="100000"/>
              </a:lnSpc>
            </a:pPr>
            <a:r>
              <a:rPr sz="1350" b="0">
                <a:solidFill>
                  <a:srgbClr val="23272B"/>
                </a:solidFill>
                <a:latin typeface="Arial"/>
              </a:rPr>
              <a:t>Stock counts, even offline</a:t>
            </a:r>
          </a:p>
        </p:txBody>
      </p:sp>
      <p:sp>
        <p:nvSpPr>
          <p:cNvPr id="26" name="Rounded Rectangle 25"/>
          <p:cNvSpPr/>
          <p:nvPr/>
        </p:nvSpPr>
        <p:spPr>
          <a:xfrm>
            <a:off x="8046719" y="1783080"/>
            <a:ext cx="3566160" cy="3520440"/>
          </a:xfrm>
          <a:prstGeom prst="roundRect">
            <a:avLst>
              <a:gd name="adj" fmla="val 3116"/>
            </a:avLst>
          </a:prstGeom>
          <a:solidFill>
            <a:srgbClr val="F4F5F6"/>
          </a:solidFill>
          <a:ln>
            <a:noFill/>
          </a:ln>
          <a:effectLst/>
        </p:spPr>
        <p:txBody>
          <a:bodyPr rtlCol="0" anchor="ctr"/>
          <a:lstStyle/>
          <a:p/>
        </p:txBody>
      </p:sp>
      <p:sp>
        <p:nvSpPr>
          <p:cNvPr id="27" name="Oval 26"/>
          <p:cNvSpPr/>
          <p:nvPr/>
        </p:nvSpPr>
        <p:spPr>
          <a:xfrm>
            <a:off x="8321040" y="2057400"/>
            <a:ext cx="868680" cy="868680"/>
          </a:xfrm>
          <a:prstGeom prst="ellipse">
            <a:avLst/>
          </a:prstGeom>
          <a:solidFill>
            <a:srgbClr val="E6F4EC"/>
          </a:solidFill>
          <a:ln>
            <a:noFill/>
          </a:ln>
          <a:effectLst/>
        </p:spPr>
        <p:txBody>
          <a:bodyPr rtlCol="0" anchor="ctr"/>
          <a:lstStyle/>
          <a:p>
            <a:pPr algn="ctr"/>
          </a:p>
        </p:txBody>
      </p:sp>
      <p:pic>
        <p:nvPicPr>
          <p:cNvPr id="28" name="Picture 27" descr="sparkles_g.png"/>
          <p:cNvPicPr>
            <a:picLocks noChangeAspect="1"/>
          </p:cNvPicPr>
          <p:nvPr/>
        </p:nvPicPr>
        <p:blipFill>
          <a:blip r:embed="rId5"/>
          <a:stretch>
            <a:fillRect/>
          </a:stretch>
        </p:blipFill>
        <p:spPr>
          <a:xfrm>
            <a:off x="8512149" y="2248509"/>
            <a:ext cx="486460" cy="486460"/>
          </a:xfrm>
          <a:prstGeom prst="rect">
            <a:avLst/>
          </a:prstGeom>
        </p:spPr>
      </p:pic>
      <p:sp>
        <p:nvSpPr>
          <p:cNvPr id="29" name="TextBox 28"/>
          <p:cNvSpPr txBox="1"/>
          <p:nvPr/>
        </p:nvSpPr>
        <p:spPr>
          <a:xfrm>
            <a:off x="8321040" y="3108960"/>
            <a:ext cx="3108960" cy="411480"/>
          </a:xfrm>
          <a:prstGeom prst="rect">
            <a:avLst/>
          </a:prstGeom>
          <a:noFill/>
        </p:spPr>
        <p:txBody>
          <a:bodyPr wrap="square" lIns="0" rIns="0" tIns="0" bIns="0" anchor="t">
            <a:spAutoFit/>
          </a:bodyPr>
          <a:lstStyle/>
          <a:p>
            <a:pPr algn="l">
              <a:lnSpc>
                <a:spcPct val="100000"/>
              </a:lnSpc>
            </a:pPr>
            <a:r>
              <a:rPr sz="2000" b="1">
                <a:solidFill>
                  <a:srgbClr val="23272B"/>
                </a:solidFill>
                <a:latin typeface="Arial"/>
              </a:rPr>
              <a:t>AI management team</a:t>
            </a:r>
          </a:p>
        </p:txBody>
      </p:sp>
      <p:pic>
        <p:nvPicPr>
          <p:cNvPr id="30" name="Picture 29" descr="checkCircle_g.png"/>
          <p:cNvPicPr>
            <a:picLocks noChangeAspect="1"/>
          </p:cNvPicPr>
          <p:nvPr/>
        </p:nvPicPr>
        <p:blipFill>
          <a:blip r:embed="rId3"/>
          <a:stretch>
            <a:fillRect/>
          </a:stretch>
        </p:blipFill>
        <p:spPr>
          <a:xfrm>
            <a:off x="8321040" y="3675887"/>
            <a:ext cx="274320" cy="274320"/>
          </a:xfrm>
          <a:prstGeom prst="rect">
            <a:avLst/>
          </a:prstGeom>
        </p:spPr>
      </p:pic>
      <p:sp>
        <p:nvSpPr>
          <p:cNvPr id="31" name="TextBox 30"/>
          <p:cNvSpPr txBox="1"/>
          <p:nvPr/>
        </p:nvSpPr>
        <p:spPr>
          <a:xfrm>
            <a:off x="8732519" y="3657600"/>
            <a:ext cx="2743200" cy="457200"/>
          </a:xfrm>
          <a:prstGeom prst="rect">
            <a:avLst/>
          </a:prstGeom>
          <a:noFill/>
        </p:spPr>
        <p:txBody>
          <a:bodyPr wrap="square" lIns="0" rIns="0" tIns="0" bIns="0" anchor="t">
            <a:spAutoFit/>
          </a:bodyPr>
          <a:lstStyle/>
          <a:p>
            <a:pPr algn="l">
              <a:lnSpc>
                <a:spcPct val="100000"/>
              </a:lnSpc>
            </a:pPr>
            <a:r>
              <a:rPr sz="1350" b="0">
                <a:solidFill>
                  <a:srgbClr val="23272B"/>
                </a:solidFill>
                <a:latin typeface="Arial"/>
              </a:rPr>
              <a:t>Vaghinak leads expert AI agents</a:t>
            </a:r>
          </a:p>
        </p:txBody>
      </p:sp>
      <p:pic>
        <p:nvPicPr>
          <p:cNvPr id="32" name="Picture 31" descr="checkCircle_g.png"/>
          <p:cNvPicPr>
            <a:picLocks noChangeAspect="1"/>
          </p:cNvPicPr>
          <p:nvPr/>
        </p:nvPicPr>
        <p:blipFill>
          <a:blip r:embed="rId3"/>
          <a:stretch>
            <a:fillRect/>
          </a:stretch>
        </p:blipFill>
        <p:spPr>
          <a:xfrm>
            <a:off x="8321040" y="4178807"/>
            <a:ext cx="274320" cy="274320"/>
          </a:xfrm>
          <a:prstGeom prst="rect">
            <a:avLst/>
          </a:prstGeom>
        </p:spPr>
      </p:pic>
      <p:sp>
        <p:nvSpPr>
          <p:cNvPr id="33" name="TextBox 32"/>
          <p:cNvSpPr txBox="1"/>
          <p:nvPr/>
        </p:nvSpPr>
        <p:spPr>
          <a:xfrm>
            <a:off x="8732519" y="4160520"/>
            <a:ext cx="2743200" cy="457200"/>
          </a:xfrm>
          <a:prstGeom prst="rect">
            <a:avLst/>
          </a:prstGeom>
          <a:noFill/>
        </p:spPr>
        <p:txBody>
          <a:bodyPr wrap="square" lIns="0" rIns="0" tIns="0" bIns="0" anchor="t">
            <a:spAutoFit/>
          </a:bodyPr>
          <a:lstStyle/>
          <a:p>
            <a:pPr algn="l">
              <a:lnSpc>
                <a:spcPct val="100000"/>
              </a:lnSpc>
            </a:pPr>
            <a:r>
              <a:rPr sz="1350" b="0">
                <a:solidFill>
                  <a:srgbClr val="23272B"/>
                </a:solidFill>
                <a:latin typeface="Arial"/>
              </a:rPr>
              <a:t>Sales, finance and stock specialists</a:t>
            </a:r>
          </a:p>
        </p:txBody>
      </p:sp>
      <p:pic>
        <p:nvPicPr>
          <p:cNvPr id="34" name="Picture 33" descr="checkCircle_g.png"/>
          <p:cNvPicPr>
            <a:picLocks noChangeAspect="1"/>
          </p:cNvPicPr>
          <p:nvPr/>
        </p:nvPicPr>
        <p:blipFill>
          <a:blip r:embed="rId3"/>
          <a:stretch>
            <a:fillRect/>
          </a:stretch>
        </p:blipFill>
        <p:spPr>
          <a:xfrm>
            <a:off x="8321040" y="4681727"/>
            <a:ext cx="274320" cy="274320"/>
          </a:xfrm>
          <a:prstGeom prst="rect">
            <a:avLst/>
          </a:prstGeom>
        </p:spPr>
      </p:pic>
      <p:sp>
        <p:nvSpPr>
          <p:cNvPr id="35" name="TextBox 34"/>
          <p:cNvSpPr txBox="1"/>
          <p:nvPr/>
        </p:nvSpPr>
        <p:spPr>
          <a:xfrm>
            <a:off x="8732519" y="4663440"/>
            <a:ext cx="2743200" cy="457200"/>
          </a:xfrm>
          <a:prstGeom prst="rect">
            <a:avLst/>
          </a:prstGeom>
          <a:noFill/>
        </p:spPr>
        <p:txBody>
          <a:bodyPr wrap="square" lIns="0" rIns="0" tIns="0" bIns="0" anchor="t">
            <a:spAutoFit/>
          </a:bodyPr>
          <a:lstStyle/>
          <a:p>
            <a:pPr algn="l">
              <a:lnSpc>
                <a:spcPct val="100000"/>
              </a:lnSpc>
            </a:pPr>
            <a:r>
              <a:rPr sz="1350" b="0">
                <a:solidFill>
                  <a:srgbClr val="23272B"/>
                </a:solidFill>
                <a:latin typeface="Arial"/>
              </a:rPr>
              <a:t>Each agent finds, assigns, controls</a:t>
            </a:r>
          </a:p>
        </p:txBody>
      </p:sp>
      <p:sp>
        <p:nvSpPr>
          <p:cNvPr id="36" name="Rounded Rectangle 35"/>
          <p:cNvSpPr/>
          <p:nvPr/>
        </p:nvSpPr>
        <p:spPr>
          <a:xfrm>
            <a:off x="548640" y="5532120"/>
            <a:ext cx="11091672" cy="621792"/>
          </a:xfrm>
          <a:prstGeom prst="roundRect">
            <a:avLst>
              <a:gd name="adj" fmla="val 17647"/>
            </a:avLst>
          </a:prstGeom>
          <a:solidFill>
            <a:srgbClr val="E6F4EC"/>
          </a:solidFill>
          <a:ln>
            <a:noFill/>
          </a:ln>
          <a:effectLst/>
        </p:spPr>
        <p:txBody>
          <a:bodyPr rtlCol="0" anchor="ctr"/>
          <a:lstStyle/>
          <a:p/>
        </p:txBody>
      </p:sp>
      <p:sp>
        <p:nvSpPr>
          <p:cNvPr id="37" name="TextBox 36"/>
          <p:cNvSpPr txBox="1"/>
          <p:nvPr/>
        </p:nvSpPr>
        <p:spPr>
          <a:xfrm>
            <a:off x="822960" y="5532120"/>
            <a:ext cx="10607040" cy="621792"/>
          </a:xfrm>
          <a:prstGeom prst="rect">
            <a:avLst/>
          </a:prstGeom>
          <a:noFill/>
        </p:spPr>
        <p:txBody>
          <a:bodyPr wrap="square" lIns="0" rIns="0" tIns="0" bIns="0" anchor="ctr">
            <a:spAutoFit/>
          </a:bodyPr>
          <a:lstStyle/>
          <a:p>
            <a:pPr algn="l">
              <a:lnSpc>
                <a:spcPct val="100000"/>
              </a:lnSpc>
            </a:pPr>
            <a:r>
              <a:rPr sz="1450" b="1">
                <a:solidFill>
                  <a:srgbClr val="006E32"/>
                </a:solidFill>
                <a:latin typeface="Arial"/>
              </a:rPr>
              <a:t>Today: </a:t>
            </a:r>
            <a:r>
              <a:rPr sz="1450" b="0">
                <a:solidFill>
                  <a:srgbClr val="23272B"/>
                </a:solidFill>
                <a:latin typeface="Arial"/>
              </a:rPr>
              <a:t>field sales, orders, cash, reports and Vaghinak.   </a:t>
            </a:r>
            <a:r>
              <a:rPr sz="1450" b="1">
                <a:solidFill>
                  <a:srgbClr val="006E32"/>
                </a:solidFill>
                <a:latin typeface="Arial"/>
              </a:rPr>
              <a:t>Next: </a:t>
            </a:r>
            <a:r>
              <a:rPr sz="1450" b="0">
                <a:solidFill>
                  <a:srgbClr val="23272B"/>
                </a:solidFill>
                <a:latin typeface="Arial"/>
              </a:rPr>
              <a:t>a complete operating system for a Castrol distributor.</a:t>
            </a:r>
          </a:p>
        </p:txBody>
      </p:sp>
      <p:cxnSp>
        <p:nvCxnSpPr>
          <p:cNvPr id="38" name="Connector 37"/>
          <p:cNvCxnSpPr/>
          <p:nvPr/>
        </p:nvCxnSpPr>
        <p:spPr>
          <a:xfrm>
            <a:off x="548640" y="6400800"/>
            <a:ext cx="11094415" cy="0"/>
          </a:xfrm>
          <a:prstGeom prst="line">
            <a:avLst/>
          </a:prstGeom>
          <a:ln w="9525">
            <a:solidFill>
              <a:srgbClr val="D9DEDB"/>
            </a:solidFill>
          </a:ln>
        </p:spPr>
      </p:cxnSp>
      <p:pic>
        <p:nvPicPr>
          <p:cNvPr id="39" name="Picture 38" descr="kad-wordmark.png"/>
          <p:cNvPicPr>
            <a:picLocks noChangeAspect="1"/>
          </p:cNvPicPr>
          <p:nvPr/>
        </p:nvPicPr>
        <p:blipFill>
          <a:blip r:embed="rId6"/>
          <a:stretch>
            <a:fillRect/>
          </a:stretch>
        </p:blipFill>
        <p:spPr>
          <a:xfrm>
            <a:off x="548640" y="6519672"/>
            <a:ext cx="759129" cy="155448"/>
          </a:xfrm>
          <a:prstGeom prst="rect">
            <a:avLst/>
          </a:prstGeom>
        </p:spPr>
      </p:pic>
      <p:sp>
        <p:nvSpPr>
          <p:cNvPr id="40" name="TextBox 39"/>
          <p:cNvSpPr txBox="1"/>
          <p:nvPr/>
        </p:nvSpPr>
        <p:spPr>
          <a:xfrm>
            <a:off x="1417320" y="6492240"/>
            <a:ext cx="6400800" cy="228600"/>
          </a:xfrm>
          <a:prstGeom prst="rect">
            <a:avLst/>
          </a:prstGeom>
          <a:noFill/>
        </p:spPr>
        <p:txBody>
          <a:bodyPr wrap="square" lIns="0" rIns="0" tIns="0" bIns="0" anchor="t">
            <a:spAutoFit/>
          </a:bodyPr>
          <a:lstStyle/>
          <a:p>
            <a:pPr algn="l">
              <a:lnSpc>
                <a:spcPct val="100000"/>
              </a:lnSpc>
            </a:pPr>
            <a:r>
              <a:rPr sz="900" b="0">
                <a:solidFill>
                  <a:srgbClr val="5F6670"/>
                </a:solidFill>
                <a:latin typeface="Arial"/>
              </a:rPr>
              <a:t>Digital Sales Platform for Castrol Distribution</a:t>
            </a:r>
          </a:p>
        </p:txBody>
      </p:sp>
      <p:sp>
        <p:nvSpPr>
          <p:cNvPr id="41" name="TextBox 40"/>
          <p:cNvSpPr txBox="1"/>
          <p:nvPr/>
        </p:nvSpPr>
        <p:spPr>
          <a:xfrm>
            <a:off x="10728655" y="6492240"/>
            <a:ext cx="914400" cy="228600"/>
          </a:xfrm>
          <a:prstGeom prst="rect">
            <a:avLst/>
          </a:prstGeom>
          <a:noFill/>
        </p:spPr>
        <p:txBody>
          <a:bodyPr wrap="square" lIns="0" rIns="0" tIns="0" bIns="0" anchor="t">
            <a:spAutoFit/>
          </a:bodyPr>
          <a:lstStyle/>
          <a:p>
            <a:pPr algn="r">
              <a:lnSpc>
                <a:spcPct val="100000"/>
              </a:lnSpc>
            </a:pPr>
            <a:r>
              <a:rPr sz="900" b="0">
                <a:solidFill>
                  <a:srgbClr val="5F6670"/>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347472"/>
            <a:ext cx="592531" cy="64008"/>
          </a:xfrm>
          <a:prstGeom prst="rect">
            <a:avLst/>
          </a:prstGeom>
          <a:solidFill>
            <a:srgbClr val="009343"/>
          </a:solidFill>
          <a:ln>
            <a:noFill/>
          </a:ln>
          <a:effectLst/>
        </p:spPr>
        <p:txBody>
          <a:bodyPr rtlCol="0" anchor="ctr"/>
          <a:lstStyle/>
          <a:p/>
        </p:txBody>
      </p:sp>
      <p:sp>
        <p:nvSpPr>
          <p:cNvPr id="3" name="Rectangle 2"/>
          <p:cNvSpPr/>
          <p:nvPr/>
        </p:nvSpPr>
        <p:spPr>
          <a:xfrm>
            <a:off x="1141171" y="347472"/>
            <a:ext cx="230428" cy="64008"/>
          </a:xfrm>
          <a:prstGeom prst="rect">
            <a:avLst/>
          </a:prstGeom>
          <a:solidFill>
            <a:srgbClr val="E2001A"/>
          </a:solidFill>
          <a:ln>
            <a:noFill/>
          </a:ln>
          <a:effectLst/>
        </p:spPr>
        <p:txBody>
          <a:bodyPr rtlCol="0" anchor="ctr"/>
          <a:lstStyle/>
          <a:p/>
        </p:txBody>
      </p:sp>
      <p:sp>
        <p:nvSpPr>
          <p:cNvPr id="4" name="TextBox 3"/>
          <p:cNvSpPr txBox="1"/>
          <p:nvPr/>
        </p:nvSpPr>
        <p:spPr>
          <a:xfrm>
            <a:off x="548640" y="502920"/>
            <a:ext cx="9144000" cy="274320"/>
          </a:xfrm>
          <a:prstGeom prst="rect">
            <a:avLst/>
          </a:prstGeom>
          <a:noFill/>
        </p:spPr>
        <p:txBody>
          <a:bodyPr wrap="square" lIns="0" rIns="0" tIns="0" bIns="0" anchor="t">
            <a:spAutoFit/>
          </a:bodyPr>
          <a:lstStyle/>
          <a:p>
            <a:pPr algn="l">
              <a:lnSpc>
                <a:spcPct val="100000"/>
              </a:lnSpc>
            </a:pPr>
            <a:r>
              <a:rPr sz="1200" b="1">
                <a:solidFill>
                  <a:srgbClr val="009343"/>
                </a:solidFill>
                <a:latin typeface="Arial"/>
              </a:rPr>
              <a:t>WHY IT MATTERS FOR CASTROL</a:t>
            </a:r>
          </a:p>
        </p:txBody>
      </p:sp>
      <p:sp>
        <p:nvSpPr>
          <p:cNvPr id="5" name="TextBox 4"/>
          <p:cNvSpPr txBox="1"/>
          <p:nvPr/>
        </p:nvSpPr>
        <p:spPr>
          <a:xfrm>
            <a:off x="548640" y="777240"/>
            <a:ext cx="11064240" cy="914400"/>
          </a:xfrm>
          <a:prstGeom prst="rect">
            <a:avLst/>
          </a:prstGeom>
          <a:noFill/>
        </p:spPr>
        <p:txBody>
          <a:bodyPr wrap="square" lIns="0" rIns="0" tIns="0" bIns="0" anchor="t">
            <a:spAutoFit/>
          </a:bodyPr>
          <a:lstStyle/>
          <a:p>
            <a:pPr algn="l">
              <a:lnSpc>
                <a:spcPct val="95000"/>
              </a:lnSpc>
            </a:pPr>
            <a:r>
              <a:rPr sz="3000" b="1">
                <a:solidFill>
                  <a:srgbClr val="23272B"/>
                </a:solidFill>
                <a:latin typeface="Arial"/>
              </a:rPr>
              <a:t>Ready to scale, with Castrol shelf data built in</a:t>
            </a:r>
          </a:p>
        </p:txBody>
      </p:sp>
      <p:sp>
        <p:nvSpPr>
          <p:cNvPr id="6" name="TextBox 5"/>
          <p:cNvSpPr txBox="1"/>
          <p:nvPr/>
        </p:nvSpPr>
        <p:spPr>
          <a:xfrm>
            <a:off x="548640" y="1783080"/>
            <a:ext cx="5486400" cy="320040"/>
          </a:xfrm>
          <a:prstGeom prst="rect">
            <a:avLst/>
          </a:prstGeom>
          <a:noFill/>
        </p:spPr>
        <p:txBody>
          <a:bodyPr wrap="square" lIns="0" rIns="0" tIns="0" bIns="0" anchor="t">
            <a:spAutoFit/>
          </a:bodyPr>
          <a:lstStyle/>
          <a:p>
            <a:pPr algn="l">
              <a:lnSpc>
                <a:spcPct val="100000"/>
              </a:lnSpc>
            </a:pPr>
            <a:r>
              <a:rPr sz="1200" b="1">
                <a:solidFill>
                  <a:srgbClr val="5F6670"/>
                </a:solidFill>
                <a:latin typeface="Arial"/>
              </a:rPr>
              <a:t>WHAT CASTROL GETS</a:t>
            </a:r>
          </a:p>
        </p:txBody>
      </p:sp>
      <p:sp>
        <p:nvSpPr>
          <p:cNvPr id="7" name="Oval 6"/>
          <p:cNvSpPr/>
          <p:nvPr/>
        </p:nvSpPr>
        <p:spPr>
          <a:xfrm>
            <a:off x="548640" y="2194560"/>
            <a:ext cx="658368" cy="658368"/>
          </a:xfrm>
          <a:prstGeom prst="ellipse">
            <a:avLst/>
          </a:prstGeom>
          <a:solidFill>
            <a:srgbClr val="E6F4EC"/>
          </a:solidFill>
          <a:ln>
            <a:noFill/>
          </a:ln>
          <a:effectLst/>
        </p:spPr>
        <p:txBody>
          <a:bodyPr rtlCol="0" anchor="ctr"/>
          <a:lstStyle/>
          <a:p>
            <a:pPr algn="ctr"/>
          </a:p>
        </p:txBody>
      </p:sp>
      <p:pic>
        <p:nvPicPr>
          <p:cNvPr id="8" name="Picture 7" descr="eye_g.png"/>
          <p:cNvPicPr>
            <a:picLocks noChangeAspect="1"/>
          </p:cNvPicPr>
          <p:nvPr/>
        </p:nvPicPr>
        <p:blipFill>
          <a:blip r:embed="rId2"/>
          <a:stretch>
            <a:fillRect/>
          </a:stretch>
        </p:blipFill>
        <p:spPr>
          <a:xfrm>
            <a:off x="693480" y="2339400"/>
            <a:ext cx="368686" cy="368686"/>
          </a:xfrm>
          <a:prstGeom prst="rect">
            <a:avLst/>
          </a:prstGeom>
        </p:spPr>
      </p:pic>
      <p:sp>
        <p:nvSpPr>
          <p:cNvPr id="9" name="TextBox 8"/>
          <p:cNvSpPr txBox="1"/>
          <p:nvPr/>
        </p:nvSpPr>
        <p:spPr>
          <a:xfrm>
            <a:off x="1417320" y="2194560"/>
            <a:ext cx="4572000" cy="658368"/>
          </a:xfrm>
          <a:prstGeom prst="rect">
            <a:avLst/>
          </a:prstGeom>
          <a:noFill/>
        </p:spPr>
        <p:txBody>
          <a:bodyPr wrap="square" lIns="0" rIns="0" tIns="0" bIns="0" anchor="ctr">
            <a:spAutoFit/>
          </a:bodyPr>
          <a:lstStyle/>
          <a:p>
            <a:pPr algn="l">
              <a:lnSpc>
                <a:spcPct val="100000"/>
              </a:lnSpc>
            </a:pPr>
            <a:r>
              <a:rPr sz="1550" b="1">
                <a:solidFill>
                  <a:srgbClr val="23272B"/>
                </a:solidFill>
                <a:latin typeface="Arial"/>
              </a:rPr>
              <a:t>Shelf visibility per outlet: presence and range</a:t>
            </a:r>
          </a:p>
        </p:txBody>
      </p:sp>
      <p:sp>
        <p:nvSpPr>
          <p:cNvPr id="10" name="Oval 9"/>
          <p:cNvSpPr/>
          <p:nvPr/>
        </p:nvSpPr>
        <p:spPr>
          <a:xfrm>
            <a:off x="548640" y="3063239"/>
            <a:ext cx="658368" cy="658368"/>
          </a:xfrm>
          <a:prstGeom prst="ellipse">
            <a:avLst/>
          </a:prstGeom>
          <a:solidFill>
            <a:srgbClr val="E6F4EC"/>
          </a:solidFill>
          <a:ln>
            <a:noFill/>
          </a:ln>
          <a:effectLst/>
        </p:spPr>
        <p:txBody>
          <a:bodyPr rtlCol="0" anchor="ctr"/>
          <a:lstStyle/>
          <a:p>
            <a:pPr algn="ctr"/>
          </a:p>
        </p:txBody>
      </p:sp>
      <p:pic>
        <p:nvPicPr>
          <p:cNvPr id="11" name="Picture 10" descr="chart_g.png"/>
          <p:cNvPicPr>
            <a:picLocks noChangeAspect="1"/>
          </p:cNvPicPr>
          <p:nvPr/>
        </p:nvPicPr>
        <p:blipFill>
          <a:blip r:embed="rId3"/>
          <a:stretch>
            <a:fillRect/>
          </a:stretch>
        </p:blipFill>
        <p:spPr>
          <a:xfrm>
            <a:off x="693480" y="3208080"/>
            <a:ext cx="368686" cy="368686"/>
          </a:xfrm>
          <a:prstGeom prst="rect">
            <a:avLst/>
          </a:prstGeom>
        </p:spPr>
      </p:pic>
      <p:sp>
        <p:nvSpPr>
          <p:cNvPr id="12" name="TextBox 11"/>
          <p:cNvSpPr txBox="1"/>
          <p:nvPr/>
        </p:nvSpPr>
        <p:spPr>
          <a:xfrm>
            <a:off x="1417320" y="3063239"/>
            <a:ext cx="4572000" cy="658368"/>
          </a:xfrm>
          <a:prstGeom prst="rect">
            <a:avLst/>
          </a:prstGeom>
          <a:noFill/>
        </p:spPr>
        <p:txBody>
          <a:bodyPr wrap="square" lIns="0" rIns="0" tIns="0" bIns="0" anchor="ctr">
            <a:spAutoFit/>
          </a:bodyPr>
          <a:lstStyle/>
          <a:p>
            <a:pPr algn="l">
              <a:lnSpc>
                <a:spcPct val="100000"/>
              </a:lnSpc>
            </a:pPr>
            <a:r>
              <a:rPr sz="1550" b="1">
                <a:solidFill>
                  <a:srgbClr val="23272B"/>
                </a:solidFill>
                <a:latin typeface="Arial"/>
              </a:rPr>
              <a:t>Sell-out signals by product line and region</a:t>
            </a:r>
          </a:p>
        </p:txBody>
      </p:sp>
      <p:sp>
        <p:nvSpPr>
          <p:cNvPr id="13" name="Oval 12"/>
          <p:cNvSpPr/>
          <p:nvPr/>
        </p:nvSpPr>
        <p:spPr>
          <a:xfrm>
            <a:off x="548640" y="3931920"/>
            <a:ext cx="658368" cy="658368"/>
          </a:xfrm>
          <a:prstGeom prst="ellipse">
            <a:avLst/>
          </a:prstGeom>
          <a:solidFill>
            <a:srgbClr val="E6F4EC"/>
          </a:solidFill>
          <a:ln>
            <a:noFill/>
          </a:ln>
          <a:effectLst/>
        </p:spPr>
        <p:txBody>
          <a:bodyPr rtlCol="0" anchor="ctr"/>
          <a:lstStyle/>
          <a:p>
            <a:pPr algn="ctr"/>
          </a:p>
        </p:txBody>
      </p:sp>
      <p:pic>
        <p:nvPicPr>
          <p:cNvPr id="14" name="Picture 13" descr="link_g.png"/>
          <p:cNvPicPr>
            <a:picLocks noChangeAspect="1"/>
          </p:cNvPicPr>
          <p:nvPr/>
        </p:nvPicPr>
        <p:blipFill>
          <a:blip r:embed="rId4"/>
          <a:stretch>
            <a:fillRect/>
          </a:stretch>
        </p:blipFill>
        <p:spPr>
          <a:xfrm>
            <a:off x="693480" y="4076760"/>
            <a:ext cx="368686" cy="368686"/>
          </a:xfrm>
          <a:prstGeom prst="rect">
            <a:avLst/>
          </a:prstGeom>
        </p:spPr>
      </p:pic>
      <p:sp>
        <p:nvSpPr>
          <p:cNvPr id="15" name="TextBox 14"/>
          <p:cNvSpPr txBox="1"/>
          <p:nvPr/>
        </p:nvSpPr>
        <p:spPr>
          <a:xfrm>
            <a:off x="1417320" y="3931920"/>
            <a:ext cx="4572000" cy="658368"/>
          </a:xfrm>
          <a:prstGeom prst="rect">
            <a:avLst/>
          </a:prstGeom>
          <a:noFill/>
        </p:spPr>
        <p:txBody>
          <a:bodyPr wrap="square" lIns="0" rIns="0" tIns="0" bIns="0" anchor="ctr">
            <a:spAutoFit/>
          </a:bodyPr>
          <a:lstStyle/>
          <a:p>
            <a:pPr algn="l">
              <a:lnSpc>
                <a:spcPct val="100000"/>
              </a:lnSpc>
            </a:pPr>
            <a:r>
              <a:rPr sz="1550" b="1">
                <a:solidFill>
                  <a:srgbClr val="23272B"/>
                </a:solidFill>
                <a:latin typeface="Arial"/>
              </a:rPr>
              <a:t>A standard toolkit, opened from a link</a:t>
            </a:r>
          </a:p>
        </p:txBody>
      </p:sp>
      <p:sp>
        <p:nvSpPr>
          <p:cNvPr id="16" name="Oval 15"/>
          <p:cNvSpPr/>
          <p:nvPr/>
        </p:nvSpPr>
        <p:spPr>
          <a:xfrm>
            <a:off x="548640" y="4800600"/>
            <a:ext cx="658368" cy="658368"/>
          </a:xfrm>
          <a:prstGeom prst="ellipse">
            <a:avLst/>
          </a:prstGeom>
          <a:solidFill>
            <a:srgbClr val="E6F4EC"/>
          </a:solidFill>
          <a:ln>
            <a:noFill/>
          </a:ln>
          <a:effectLst/>
        </p:spPr>
        <p:txBody>
          <a:bodyPr rtlCol="0" anchor="ctr"/>
          <a:lstStyle/>
          <a:p>
            <a:pPr algn="ctr"/>
          </a:p>
        </p:txBody>
      </p:sp>
      <p:pic>
        <p:nvPicPr>
          <p:cNvPr id="17" name="Picture 16" descr="shield_g.png"/>
          <p:cNvPicPr>
            <a:picLocks noChangeAspect="1"/>
          </p:cNvPicPr>
          <p:nvPr/>
        </p:nvPicPr>
        <p:blipFill>
          <a:blip r:embed="rId5"/>
          <a:stretch>
            <a:fillRect/>
          </a:stretch>
        </p:blipFill>
        <p:spPr>
          <a:xfrm>
            <a:off x="693480" y="4945440"/>
            <a:ext cx="368686" cy="368686"/>
          </a:xfrm>
          <a:prstGeom prst="rect">
            <a:avLst/>
          </a:prstGeom>
        </p:spPr>
      </p:pic>
      <p:sp>
        <p:nvSpPr>
          <p:cNvPr id="18" name="TextBox 17"/>
          <p:cNvSpPr txBox="1"/>
          <p:nvPr/>
        </p:nvSpPr>
        <p:spPr>
          <a:xfrm>
            <a:off x="1417320" y="4800600"/>
            <a:ext cx="4572000" cy="658368"/>
          </a:xfrm>
          <a:prstGeom prst="rect">
            <a:avLst/>
          </a:prstGeom>
          <a:noFill/>
        </p:spPr>
        <p:txBody>
          <a:bodyPr wrap="square" lIns="0" rIns="0" tIns="0" bIns="0" anchor="ctr">
            <a:spAutoFit/>
          </a:bodyPr>
          <a:lstStyle/>
          <a:p>
            <a:pPr algn="l">
              <a:lnSpc>
                <a:spcPct val="100000"/>
              </a:lnSpc>
            </a:pPr>
            <a:r>
              <a:rPr sz="1550" b="1">
                <a:solidFill>
                  <a:srgbClr val="23272B"/>
                </a:solidFill>
                <a:latin typeface="Arial"/>
              </a:rPr>
              <a:t>Data stays with the distributor; Castrol sees aggregates</a:t>
            </a:r>
          </a:p>
        </p:txBody>
      </p:sp>
      <p:sp>
        <p:nvSpPr>
          <p:cNvPr id="19" name="Rounded Rectangle 18"/>
          <p:cNvSpPr/>
          <p:nvPr/>
        </p:nvSpPr>
        <p:spPr>
          <a:xfrm>
            <a:off x="6355080" y="1783080"/>
            <a:ext cx="5285232" cy="4434840"/>
          </a:xfrm>
          <a:prstGeom prst="roundRect">
            <a:avLst>
              <a:gd name="adj" fmla="val 3711"/>
            </a:avLst>
          </a:prstGeom>
          <a:solidFill>
            <a:srgbClr val="009343"/>
          </a:solidFill>
          <a:ln>
            <a:noFill/>
          </a:ln>
          <a:effectLst/>
        </p:spPr>
        <p:txBody>
          <a:bodyPr rtlCol="0" anchor="ctr"/>
          <a:lstStyle/>
          <a:p/>
        </p:txBody>
      </p:sp>
      <p:sp>
        <p:nvSpPr>
          <p:cNvPr id="20" name="TextBox 19"/>
          <p:cNvSpPr txBox="1"/>
          <p:nvPr/>
        </p:nvSpPr>
        <p:spPr>
          <a:xfrm>
            <a:off x="6720840" y="2011680"/>
            <a:ext cx="3657600" cy="274320"/>
          </a:xfrm>
          <a:prstGeom prst="rect">
            <a:avLst/>
          </a:prstGeom>
          <a:noFill/>
        </p:spPr>
        <p:txBody>
          <a:bodyPr wrap="square" lIns="0" rIns="0" tIns="0" bIns="0" anchor="t">
            <a:spAutoFit/>
          </a:bodyPr>
          <a:lstStyle/>
          <a:p>
            <a:pPr algn="l">
              <a:lnSpc>
                <a:spcPct val="100000"/>
              </a:lnSpc>
            </a:pPr>
            <a:r>
              <a:rPr sz="1200" b="1">
                <a:solidFill>
                  <a:srgbClr val="FFFFFF"/>
                </a:solidFill>
                <a:latin typeface="Arial"/>
              </a:rPr>
              <a:t>OUR PROPOSAL</a:t>
            </a:r>
          </a:p>
        </p:txBody>
      </p:sp>
      <p:sp>
        <p:nvSpPr>
          <p:cNvPr id="21" name="TextBox 20"/>
          <p:cNvSpPr txBox="1"/>
          <p:nvPr/>
        </p:nvSpPr>
        <p:spPr>
          <a:xfrm>
            <a:off x="6720840" y="2286000"/>
            <a:ext cx="2926080" cy="502920"/>
          </a:xfrm>
          <a:prstGeom prst="rect">
            <a:avLst/>
          </a:prstGeom>
          <a:noFill/>
        </p:spPr>
        <p:txBody>
          <a:bodyPr wrap="square" lIns="0" rIns="0" tIns="0" bIns="0" anchor="t">
            <a:spAutoFit/>
          </a:bodyPr>
          <a:lstStyle/>
          <a:p>
            <a:pPr algn="l">
              <a:lnSpc>
                <a:spcPct val="100000"/>
              </a:lnSpc>
            </a:pPr>
            <a:r>
              <a:rPr sz="2500" b="1">
                <a:solidFill>
                  <a:srgbClr val="FFFFFF"/>
                </a:solidFill>
                <a:latin typeface="Arial"/>
              </a:rPr>
              <a:t>A pilot partnership</a:t>
            </a:r>
          </a:p>
        </p:txBody>
      </p:sp>
      <p:sp>
        <p:nvSpPr>
          <p:cNvPr id="22" name="Rounded Rectangle 21"/>
          <p:cNvSpPr/>
          <p:nvPr/>
        </p:nvSpPr>
        <p:spPr>
          <a:xfrm>
            <a:off x="9692640" y="1993392"/>
            <a:ext cx="1737360" cy="713232"/>
          </a:xfrm>
          <a:prstGeom prst="roundRect">
            <a:avLst>
              <a:gd name="adj" fmla="val 10256"/>
            </a:avLst>
          </a:prstGeom>
          <a:noFill/>
          <a:ln w="15875">
            <a:solidFill>
              <a:srgbClr val="FFFFFF"/>
            </a:solidFill>
            <a:prstDash val="dash"/>
          </a:ln>
          <a:effectLst/>
        </p:spPr>
        <p:txBody>
          <a:bodyPr rtlCol="0" anchor="ctr"/>
          <a:lstStyle/>
          <a:p/>
        </p:txBody>
      </p:sp>
      <p:sp>
        <p:nvSpPr>
          <p:cNvPr id="23" name="TextBox 22"/>
          <p:cNvSpPr txBox="1"/>
          <p:nvPr/>
        </p:nvSpPr>
        <p:spPr>
          <a:xfrm>
            <a:off x="9692640" y="1993392"/>
            <a:ext cx="1737360" cy="713232"/>
          </a:xfrm>
          <a:prstGeom prst="rect">
            <a:avLst/>
          </a:prstGeom>
          <a:noFill/>
        </p:spPr>
        <p:txBody>
          <a:bodyPr wrap="square" lIns="0" rIns="0" tIns="0" bIns="0" anchor="ctr">
            <a:spAutoFit/>
          </a:bodyPr>
          <a:lstStyle/>
          <a:p>
            <a:pPr algn="ctr">
              <a:lnSpc>
                <a:spcPct val="100000"/>
              </a:lnSpc>
            </a:pPr>
            <a:r>
              <a:rPr sz="1100" b="1">
                <a:solidFill>
                  <a:srgbClr val="FFFFFF"/>
                </a:solidFill>
                <a:latin typeface="Arial"/>
              </a:rPr>
              <a:t>CASTROL LOGO</a:t>
            </a:r>
          </a:p>
          <a:p>
            <a:pPr algn="ctr">
              <a:lnSpc>
                <a:spcPct val="100000"/>
              </a:lnSpc>
            </a:pPr>
            <a:r>
              <a:rPr sz="900" b="0">
                <a:solidFill>
                  <a:srgbClr val="FFFFFF"/>
                </a:solidFill>
                <a:latin typeface="Arial"/>
              </a:rPr>
              <a:t>place official asset here</a:t>
            </a:r>
          </a:p>
        </p:txBody>
      </p:sp>
      <p:sp>
        <p:nvSpPr>
          <p:cNvPr id="24" name="Oval 23"/>
          <p:cNvSpPr/>
          <p:nvPr/>
        </p:nvSpPr>
        <p:spPr>
          <a:xfrm>
            <a:off x="6720840" y="3063240"/>
            <a:ext cx="457200" cy="457200"/>
          </a:xfrm>
          <a:prstGeom prst="ellipse">
            <a:avLst/>
          </a:prstGeom>
          <a:solidFill>
            <a:srgbClr val="FFFFFF"/>
          </a:solidFill>
          <a:ln>
            <a:noFill/>
          </a:ln>
        </p:spPr>
        <p:txBody>
          <a:bodyPr rtlCol="0" anchor="ctr"/>
          <a:lstStyle/>
          <a:p>
            <a:pPr algn="ctr"/>
          </a:p>
        </p:txBody>
      </p:sp>
      <p:sp>
        <p:nvSpPr>
          <p:cNvPr id="25" name="TextBox 24"/>
          <p:cNvSpPr txBox="1"/>
          <p:nvPr/>
        </p:nvSpPr>
        <p:spPr>
          <a:xfrm>
            <a:off x="6720840" y="3063240"/>
            <a:ext cx="457200" cy="457200"/>
          </a:xfrm>
          <a:prstGeom prst="rect">
            <a:avLst/>
          </a:prstGeom>
          <a:noFill/>
        </p:spPr>
        <p:txBody>
          <a:bodyPr wrap="square" lIns="0" rIns="0" tIns="0" bIns="0" anchor="ctr">
            <a:spAutoFit/>
          </a:bodyPr>
          <a:lstStyle/>
          <a:p>
            <a:pPr algn="ctr">
              <a:lnSpc>
                <a:spcPct val="100000"/>
              </a:lnSpc>
            </a:pPr>
            <a:r>
              <a:rPr sz="1500" b="1">
                <a:solidFill>
                  <a:srgbClr val="009343"/>
                </a:solidFill>
                <a:latin typeface="Arial"/>
              </a:rPr>
              <a:t>1</a:t>
            </a:r>
          </a:p>
        </p:txBody>
      </p:sp>
      <p:sp>
        <p:nvSpPr>
          <p:cNvPr id="26" name="TextBox 25"/>
          <p:cNvSpPr txBox="1"/>
          <p:nvPr/>
        </p:nvSpPr>
        <p:spPr>
          <a:xfrm>
            <a:off x="7360920" y="3026664"/>
            <a:ext cx="4069080" cy="566928"/>
          </a:xfrm>
          <a:prstGeom prst="rect">
            <a:avLst/>
          </a:prstGeom>
          <a:noFill/>
        </p:spPr>
        <p:txBody>
          <a:bodyPr wrap="square" lIns="0" rIns="0" tIns="0" bIns="0" anchor="ctr">
            <a:spAutoFit/>
          </a:bodyPr>
          <a:lstStyle/>
          <a:p>
            <a:pPr algn="l">
              <a:lnSpc>
                <a:spcPct val="100000"/>
              </a:lnSpc>
            </a:pPr>
            <a:r>
              <a:rPr sz="1450" b="1">
                <a:solidFill>
                  <a:srgbClr val="FFFFFF"/>
                </a:solidFill>
                <a:latin typeface="Arial"/>
              </a:rPr>
              <a:t>Monthly Castrol shelf and sell-out dashboard for Armenia</a:t>
            </a:r>
          </a:p>
        </p:txBody>
      </p:sp>
      <p:sp>
        <p:nvSpPr>
          <p:cNvPr id="27" name="Oval 26"/>
          <p:cNvSpPr/>
          <p:nvPr/>
        </p:nvSpPr>
        <p:spPr>
          <a:xfrm>
            <a:off x="6720840" y="3813048"/>
            <a:ext cx="457200" cy="457200"/>
          </a:xfrm>
          <a:prstGeom prst="ellipse">
            <a:avLst/>
          </a:prstGeom>
          <a:solidFill>
            <a:srgbClr val="FFFFFF"/>
          </a:solidFill>
          <a:ln>
            <a:noFill/>
          </a:ln>
        </p:spPr>
        <p:txBody>
          <a:bodyPr rtlCol="0" anchor="ctr"/>
          <a:lstStyle/>
          <a:p>
            <a:pPr algn="ctr"/>
          </a:p>
        </p:txBody>
      </p:sp>
      <p:sp>
        <p:nvSpPr>
          <p:cNvPr id="28" name="TextBox 27"/>
          <p:cNvSpPr txBox="1"/>
          <p:nvPr/>
        </p:nvSpPr>
        <p:spPr>
          <a:xfrm>
            <a:off x="6720840" y="3813048"/>
            <a:ext cx="457200" cy="457200"/>
          </a:xfrm>
          <a:prstGeom prst="rect">
            <a:avLst/>
          </a:prstGeom>
          <a:noFill/>
        </p:spPr>
        <p:txBody>
          <a:bodyPr wrap="square" lIns="0" rIns="0" tIns="0" bIns="0" anchor="ctr">
            <a:spAutoFit/>
          </a:bodyPr>
          <a:lstStyle/>
          <a:p>
            <a:pPr algn="ctr">
              <a:lnSpc>
                <a:spcPct val="100000"/>
              </a:lnSpc>
            </a:pPr>
            <a:r>
              <a:rPr sz="1500" b="1">
                <a:solidFill>
                  <a:srgbClr val="009343"/>
                </a:solidFill>
                <a:latin typeface="Arial"/>
              </a:rPr>
              <a:t>2</a:t>
            </a:r>
          </a:p>
        </p:txBody>
      </p:sp>
      <p:sp>
        <p:nvSpPr>
          <p:cNvPr id="29" name="TextBox 28"/>
          <p:cNvSpPr txBox="1"/>
          <p:nvPr/>
        </p:nvSpPr>
        <p:spPr>
          <a:xfrm>
            <a:off x="7360920" y="3776472"/>
            <a:ext cx="4069080" cy="566928"/>
          </a:xfrm>
          <a:prstGeom prst="rect">
            <a:avLst/>
          </a:prstGeom>
          <a:noFill/>
        </p:spPr>
        <p:txBody>
          <a:bodyPr wrap="square" lIns="0" rIns="0" tIns="0" bIns="0" anchor="ctr">
            <a:spAutoFit/>
          </a:bodyPr>
          <a:lstStyle/>
          <a:p>
            <a:pPr algn="l">
              <a:lnSpc>
                <a:spcPct val="100000"/>
              </a:lnSpc>
            </a:pPr>
            <a:r>
              <a:rPr sz="1450" b="1">
                <a:solidFill>
                  <a:srgbClr val="FFFFFF"/>
                </a:solidFill>
                <a:latin typeface="Arial"/>
              </a:rPr>
              <a:t>Pilot with 1–2 more Castrol distributors</a:t>
            </a:r>
          </a:p>
        </p:txBody>
      </p:sp>
      <p:sp>
        <p:nvSpPr>
          <p:cNvPr id="30" name="Oval 29"/>
          <p:cNvSpPr/>
          <p:nvPr/>
        </p:nvSpPr>
        <p:spPr>
          <a:xfrm>
            <a:off x="6720840" y="4562856"/>
            <a:ext cx="457200" cy="457200"/>
          </a:xfrm>
          <a:prstGeom prst="ellipse">
            <a:avLst/>
          </a:prstGeom>
          <a:solidFill>
            <a:srgbClr val="FFFFFF"/>
          </a:solidFill>
          <a:ln>
            <a:noFill/>
          </a:ln>
        </p:spPr>
        <p:txBody>
          <a:bodyPr rtlCol="0" anchor="ctr"/>
          <a:lstStyle/>
          <a:p>
            <a:pPr algn="ctr"/>
          </a:p>
        </p:txBody>
      </p:sp>
      <p:sp>
        <p:nvSpPr>
          <p:cNvPr id="31" name="TextBox 30"/>
          <p:cNvSpPr txBox="1"/>
          <p:nvPr/>
        </p:nvSpPr>
        <p:spPr>
          <a:xfrm>
            <a:off x="6720840" y="4562856"/>
            <a:ext cx="457200" cy="457200"/>
          </a:xfrm>
          <a:prstGeom prst="rect">
            <a:avLst/>
          </a:prstGeom>
          <a:noFill/>
        </p:spPr>
        <p:txBody>
          <a:bodyPr wrap="square" lIns="0" rIns="0" tIns="0" bIns="0" anchor="ctr">
            <a:spAutoFit/>
          </a:bodyPr>
          <a:lstStyle/>
          <a:p>
            <a:pPr algn="ctr">
              <a:lnSpc>
                <a:spcPct val="100000"/>
              </a:lnSpc>
            </a:pPr>
            <a:r>
              <a:rPr sz="1500" b="1">
                <a:solidFill>
                  <a:srgbClr val="009343"/>
                </a:solidFill>
                <a:latin typeface="Arial"/>
              </a:rPr>
              <a:t>3</a:t>
            </a:r>
          </a:p>
        </p:txBody>
      </p:sp>
      <p:sp>
        <p:nvSpPr>
          <p:cNvPr id="32" name="TextBox 31"/>
          <p:cNvSpPr txBox="1"/>
          <p:nvPr/>
        </p:nvSpPr>
        <p:spPr>
          <a:xfrm>
            <a:off x="7360920" y="4526280"/>
            <a:ext cx="4069080" cy="566928"/>
          </a:xfrm>
          <a:prstGeom prst="rect">
            <a:avLst/>
          </a:prstGeom>
          <a:noFill/>
        </p:spPr>
        <p:txBody>
          <a:bodyPr wrap="square" lIns="0" rIns="0" tIns="0" bIns="0" anchor="ctr">
            <a:spAutoFit/>
          </a:bodyPr>
          <a:lstStyle/>
          <a:p>
            <a:pPr algn="l">
              <a:lnSpc>
                <a:spcPct val="100000"/>
              </a:lnSpc>
            </a:pPr>
            <a:r>
              <a:rPr sz="1450" b="1">
                <a:solidFill>
                  <a:srgbClr val="FFFFFF"/>
                </a:solidFill>
                <a:latin typeface="Arial"/>
              </a:rPr>
              <a:t>Joint review of results after 90 days</a:t>
            </a:r>
          </a:p>
        </p:txBody>
      </p:sp>
      <p:sp>
        <p:nvSpPr>
          <p:cNvPr id="33" name="Rounded Rectangle 32"/>
          <p:cNvSpPr/>
          <p:nvPr/>
        </p:nvSpPr>
        <p:spPr>
          <a:xfrm>
            <a:off x="6720840" y="5349240"/>
            <a:ext cx="4572000" cy="621792"/>
          </a:xfrm>
          <a:prstGeom prst="roundRect">
            <a:avLst>
              <a:gd name="adj" fmla="val 17647"/>
            </a:avLst>
          </a:prstGeom>
          <a:solidFill>
            <a:srgbClr val="006E32"/>
          </a:solidFill>
          <a:ln>
            <a:noFill/>
          </a:ln>
          <a:effectLst/>
        </p:spPr>
        <p:txBody>
          <a:bodyPr rtlCol="0" anchor="ctr"/>
          <a:lstStyle/>
          <a:p/>
        </p:txBody>
      </p:sp>
      <p:sp>
        <p:nvSpPr>
          <p:cNvPr id="34" name="TextBox 33"/>
          <p:cNvSpPr txBox="1"/>
          <p:nvPr/>
        </p:nvSpPr>
        <p:spPr>
          <a:xfrm>
            <a:off x="6903720" y="5349240"/>
            <a:ext cx="4297680" cy="621792"/>
          </a:xfrm>
          <a:prstGeom prst="rect">
            <a:avLst/>
          </a:prstGeom>
          <a:noFill/>
        </p:spPr>
        <p:txBody>
          <a:bodyPr wrap="square" lIns="0" rIns="0" tIns="0" bIns="0" anchor="ctr">
            <a:spAutoFit/>
          </a:bodyPr>
          <a:lstStyle/>
          <a:p>
            <a:pPr algn="l">
              <a:lnSpc>
                <a:spcPct val="100000"/>
              </a:lnSpc>
            </a:pPr>
            <a:r>
              <a:rPr sz="1350" b="1">
                <a:solidFill>
                  <a:srgbClr val="FFFFFF"/>
                </a:solidFill>
                <a:latin typeface="Arial"/>
              </a:rPr>
              <a:t>Next step: </a:t>
            </a:r>
            <a:r>
              <a:rPr sz="1350" b="0">
                <a:solidFill>
                  <a:srgbClr val="FFFFFF"/>
                </a:solidFill>
                <a:latin typeface="Arial"/>
              </a:rPr>
              <a:t>a 60-minute session with Castrol Global</a:t>
            </a:r>
          </a:p>
        </p:txBody>
      </p:sp>
      <p:cxnSp>
        <p:nvCxnSpPr>
          <p:cNvPr id="35" name="Connector 34"/>
          <p:cNvCxnSpPr/>
          <p:nvPr/>
        </p:nvCxnSpPr>
        <p:spPr>
          <a:xfrm>
            <a:off x="548640" y="6400800"/>
            <a:ext cx="11094415" cy="0"/>
          </a:xfrm>
          <a:prstGeom prst="line">
            <a:avLst/>
          </a:prstGeom>
          <a:ln w="9525">
            <a:solidFill>
              <a:srgbClr val="D9DEDB"/>
            </a:solidFill>
          </a:ln>
        </p:spPr>
      </p:cxnSp>
      <p:pic>
        <p:nvPicPr>
          <p:cNvPr id="36" name="Picture 35" descr="kad-wordmark.png"/>
          <p:cNvPicPr>
            <a:picLocks noChangeAspect="1"/>
          </p:cNvPicPr>
          <p:nvPr/>
        </p:nvPicPr>
        <p:blipFill>
          <a:blip r:embed="rId6"/>
          <a:stretch>
            <a:fillRect/>
          </a:stretch>
        </p:blipFill>
        <p:spPr>
          <a:xfrm>
            <a:off x="548640" y="6519672"/>
            <a:ext cx="759129" cy="155448"/>
          </a:xfrm>
          <a:prstGeom prst="rect">
            <a:avLst/>
          </a:prstGeom>
        </p:spPr>
      </p:pic>
      <p:sp>
        <p:nvSpPr>
          <p:cNvPr id="37" name="TextBox 36"/>
          <p:cNvSpPr txBox="1"/>
          <p:nvPr/>
        </p:nvSpPr>
        <p:spPr>
          <a:xfrm>
            <a:off x="1417320" y="6492240"/>
            <a:ext cx="6400800" cy="228600"/>
          </a:xfrm>
          <a:prstGeom prst="rect">
            <a:avLst/>
          </a:prstGeom>
          <a:noFill/>
        </p:spPr>
        <p:txBody>
          <a:bodyPr wrap="square" lIns="0" rIns="0" tIns="0" bIns="0" anchor="t">
            <a:spAutoFit/>
          </a:bodyPr>
          <a:lstStyle/>
          <a:p>
            <a:pPr algn="l">
              <a:lnSpc>
                <a:spcPct val="100000"/>
              </a:lnSpc>
            </a:pPr>
            <a:r>
              <a:rPr sz="900" b="0">
                <a:solidFill>
                  <a:srgbClr val="5F6670"/>
                </a:solidFill>
                <a:latin typeface="Arial"/>
              </a:rPr>
              <a:t>Digital Sales Platform for Castrol Distribution</a:t>
            </a:r>
          </a:p>
        </p:txBody>
      </p:sp>
      <p:sp>
        <p:nvSpPr>
          <p:cNvPr id="38" name="TextBox 37"/>
          <p:cNvSpPr txBox="1"/>
          <p:nvPr/>
        </p:nvSpPr>
        <p:spPr>
          <a:xfrm>
            <a:off x="10728655" y="6492240"/>
            <a:ext cx="914400" cy="228600"/>
          </a:xfrm>
          <a:prstGeom prst="rect">
            <a:avLst/>
          </a:prstGeom>
          <a:noFill/>
        </p:spPr>
        <p:txBody>
          <a:bodyPr wrap="square" lIns="0" rIns="0" tIns="0" bIns="0" anchor="t">
            <a:spAutoFit/>
          </a:bodyPr>
          <a:lstStyle/>
          <a:p>
            <a:pPr algn="r">
              <a:lnSpc>
                <a:spcPct val="100000"/>
              </a:lnSpc>
            </a:pPr>
            <a:r>
              <a:rPr sz="900" b="0">
                <a:solidFill>
                  <a:srgbClr val="5F6670"/>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347472"/>
            <a:ext cx="592531" cy="64008"/>
          </a:xfrm>
          <a:prstGeom prst="rect">
            <a:avLst/>
          </a:prstGeom>
          <a:solidFill>
            <a:srgbClr val="009343"/>
          </a:solidFill>
          <a:ln>
            <a:noFill/>
          </a:ln>
          <a:effectLst/>
        </p:spPr>
        <p:txBody>
          <a:bodyPr rtlCol="0" anchor="ctr"/>
          <a:lstStyle/>
          <a:p/>
        </p:txBody>
      </p:sp>
      <p:sp>
        <p:nvSpPr>
          <p:cNvPr id="3" name="Rectangle 2"/>
          <p:cNvSpPr/>
          <p:nvPr/>
        </p:nvSpPr>
        <p:spPr>
          <a:xfrm>
            <a:off x="1141171" y="347472"/>
            <a:ext cx="230428" cy="64008"/>
          </a:xfrm>
          <a:prstGeom prst="rect">
            <a:avLst/>
          </a:prstGeom>
          <a:solidFill>
            <a:srgbClr val="E2001A"/>
          </a:solidFill>
          <a:ln>
            <a:noFill/>
          </a:ln>
          <a:effectLst/>
        </p:spPr>
        <p:txBody>
          <a:bodyPr rtlCol="0" anchor="ctr"/>
          <a:lstStyle/>
          <a:p/>
        </p:txBody>
      </p:sp>
      <p:sp>
        <p:nvSpPr>
          <p:cNvPr id="4" name="TextBox 3"/>
          <p:cNvSpPr txBox="1"/>
          <p:nvPr/>
        </p:nvSpPr>
        <p:spPr>
          <a:xfrm>
            <a:off x="548640" y="502920"/>
            <a:ext cx="9144000" cy="274320"/>
          </a:xfrm>
          <a:prstGeom prst="rect">
            <a:avLst/>
          </a:prstGeom>
          <a:noFill/>
        </p:spPr>
        <p:txBody>
          <a:bodyPr wrap="square" lIns="0" rIns="0" tIns="0" bIns="0" anchor="t">
            <a:spAutoFit/>
          </a:bodyPr>
          <a:lstStyle/>
          <a:p>
            <a:pPr algn="l">
              <a:lnSpc>
                <a:spcPct val="100000"/>
              </a:lnSpc>
            </a:pPr>
            <a:r>
              <a:rPr sz="1200" b="1">
                <a:solidFill>
                  <a:srgbClr val="009343"/>
                </a:solidFill>
                <a:latin typeface="Arial"/>
              </a:rPr>
              <a:t>APPENDIX</a:t>
            </a:r>
          </a:p>
        </p:txBody>
      </p:sp>
      <p:sp>
        <p:nvSpPr>
          <p:cNvPr id="5" name="TextBox 4"/>
          <p:cNvSpPr txBox="1"/>
          <p:nvPr/>
        </p:nvSpPr>
        <p:spPr>
          <a:xfrm>
            <a:off x="548640" y="777240"/>
            <a:ext cx="11064240" cy="914400"/>
          </a:xfrm>
          <a:prstGeom prst="rect">
            <a:avLst/>
          </a:prstGeom>
          <a:noFill/>
        </p:spPr>
        <p:txBody>
          <a:bodyPr wrap="square" lIns="0" rIns="0" tIns="0" bIns="0" anchor="t">
            <a:spAutoFit/>
          </a:bodyPr>
          <a:lstStyle/>
          <a:p>
            <a:pPr algn="l">
              <a:lnSpc>
                <a:spcPct val="95000"/>
              </a:lnSpc>
            </a:pPr>
            <a:r>
              <a:rPr sz="3000" b="1">
                <a:solidFill>
                  <a:srgbClr val="23272B"/>
                </a:solidFill>
                <a:latin typeface="Arial"/>
              </a:rPr>
              <a:t>Architecture and security</a:t>
            </a:r>
          </a:p>
        </p:txBody>
      </p:sp>
      <p:sp>
        <p:nvSpPr>
          <p:cNvPr id="6" name="Rounded Rectangle 5"/>
          <p:cNvSpPr/>
          <p:nvPr/>
        </p:nvSpPr>
        <p:spPr>
          <a:xfrm>
            <a:off x="548640" y="1783080"/>
            <a:ext cx="3566160" cy="1691640"/>
          </a:xfrm>
          <a:prstGeom prst="roundRect">
            <a:avLst>
              <a:gd name="adj" fmla="val 6486"/>
            </a:avLst>
          </a:prstGeom>
          <a:solidFill>
            <a:srgbClr val="F4F5F6"/>
          </a:solidFill>
          <a:ln>
            <a:noFill/>
          </a:ln>
          <a:effectLst/>
        </p:spPr>
        <p:txBody>
          <a:bodyPr rtlCol="0" anchor="ctr"/>
          <a:lstStyle/>
          <a:p/>
        </p:txBody>
      </p:sp>
      <p:sp>
        <p:nvSpPr>
          <p:cNvPr id="7" name="Oval 6"/>
          <p:cNvSpPr/>
          <p:nvPr/>
        </p:nvSpPr>
        <p:spPr>
          <a:xfrm>
            <a:off x="777240" y="2039112"/>
            <a:ext cx="685800" cy="685800"/>
          </a:xfrm>
          <a:prstGeom prst="ellipse">
            <a:avLst/>
          </a:prstGeom>
          <a:solidFill>
            <a:srgbClr val="E6F4EC"/>
          </a:solidFill>
          <a:ln>
            <a:noFill/>
          </a:ln>
          <a:effectLst/>
        </p:spPr>
        <p:txBody>
          <a:bodyPr rtlCol="0" anchor="ctr"/>
          <a:lstStyle/>
          <a:p>
            <a:pPr algn="ctr"/>
          </a:p>
        </p:txBody>
      </p:sp>
      <p:pic>
        <p:nvPicPr>
          <p:cNvPr id="8" name="Picture 7" descr="smartphone_g.png"/>
          <p:cNvPicPr>
            <a:picLocks noChangeAspect="1"/>
          </p:cNvPicPr>
          <p:nvPr/>
        </p:nvPicPr>
        <p:blipFill>
          <a:blip r:embed="rId2"/>
          <a:stretch>
            <a:fillRect/>
          </a:stretch>
        </p:blipFill>
        <p:spPr>
          <a:xfrm>
            <a:off x="928115" y="2189988"/>
            <a:ext cx="384048" cy="384048"/>
          </a:xfrm>
          <a:prstGeom prst="rect">
            <a:avLst/>
          </a:prstGeom>
        </p:spPr>
      </p:pic>
      <p:sp>
        <p:nvSpPr>
          <p:cNvPr id="9" name="TextBox 8"/>
          <p:cNvSpPr txBox="1"/>
          <p:nvPr/>
        </p:nvSpPr>
        <p:spPr>
          <a:xfrm>
            <a:off x="1645919" y="2057400"/>
            <a:ext cx="2331720" cy="594360"/>
          </a:xfrm>
          <a:prstGeom prst="rect">
            <a:avLst/>
          </a:prstGeom>
          <a:noFill/>
        </p:spPr>
        <p:txBody>
          <a:bodyPr wrap="square" lIns="0" rIns="0" tIns="0" bIns="0" anchor="t">
            <a:spAutoFit/>
          </a:bodyPr>
          <a:lstStyle/>
          <a:p>
            <a:pPr algn="l">
              <a:lnSpc>
                <a:spcPct val="95000"/>
              </a:lnSpc>
            </a:pPr>
            <a:r>
              <a:rPr sz="1550" b="1">
                <a:solidFill>
                  <a:srgbClr val="23272B"/>
                </a:solidFill>
                <a:latin typeface="Arial"/>
              </a:rPr>
              <a:t>Progressive web app</a:t>
            </a:r>
          </a:p>
        </p:txBody>
      </p:sp>
      <p:sp>
        <p:nvSpPr>
          <p:cNvPr id="10" name="TextBox 9"/>
          <p:cNvSpPr txBox="1"/>
          <p:nvPr/>
        </p:nvSpPr>
        <p:spPr>
          <a:xfrm>
            <a:off x="1645919" y="2651760"/>
            <a:ext cx="2331720" cy="777240"/>
          </a:xfrm>
          <a:prstGeom prst="rect">
            <a:avLst/>
          </a:prstGeom>
          <a:noFill/>
        </p:spPr>
        <p:txBody>
          <a:bodyPr wrap="square" lIns="0" rIns="0" tIns="0" bIns="0" anchor="t">
            <a:spAutoFit/>
          </a:bodyPr>
          <a:lstStyle/>
          <a:p>
            <a:pPr algn="l">
              <a:lnSpc>
                <a:spcPct val="100000"/>
              </a:lnSpc>
            </a:pPr>
            <a:r>
              <a:rPr sz="1200" b="0">
                <a:solidFill>
                  <a:srgbClr val="5F6670"/>
                </a:solidFill>
                <a:latin typeface="Arial"/>
              </a:rPr>
              <a:t>Installs from a link on iPhone, Android and desktop.</a:t>
            </a:r>
          </a:p>
        </p:txBody>
      </p:sp>
      <p:sp>
        <p:nvSpPr>
          <p:cNvPr id="11" name="Rounded Rectangle 10"/>
          <p:cNvSpPr/>
          <p:nvPr/>
        </p:nvSpPr>
        <p:spPr>
          <a:xfrm>
            <a:off x="4297679" y="1783080"/>
            <a:ext cx="3566160" cy="1691640"/>
          </a:xfrm>
          <a:prstGeom prst="roundRect">
            <a:avLst>
              <a:gd name="adj" fmla="val 6486"/>
            </a:avLst>
          </a:prstGeom>
          <a:solidFill>
            <a:srgbClr val="F4F5F6"/>
          </a:solidFill>
          <a:ln>
            <a:noFill/>
          </a:ln>
          <a:effectLst/>
        </p:spPr>
        <p:txBody>
          <a:bodyPr rtlCol="0" anchor="ctr"/>
          <a:lstStyle/>
          <a:p/>
        </p:txBody>
      </p:sp>
      <p:sp>
        <p:nvSpPr>
          <p:cNvPr id="12" name="Oval 11"/>
          <p:cNvSpPr/>
          <p:nvPr/>
        </p:nvSpPr>
        <p:spPr>
          <a:xfrm>
            <a:off x="4526279" y="2039112"/>
            <a:ext cx="685800" cy="685800"/>
          </a:xfrm>
          <a:prstGeom prst="ellipse">
            <a:avLst/>
          </a:prstGeom>
          <a:solidFill>
            <a:srgbClr val="E6F4EC"/>
          </a:solidFill>
          <a:ln>
            <a:noFill/>
          </a:ln>
          <a:effectLst/>
        </p:spPr>
        <p:txBody>
          <a:bodyPr rtlCol="0" anchor="ctr"/>
          <a:lstStyle/>
          <a:p>
            <a:pPr algn="ctr"/>
          </a:p>
        </p:txBody>
      </p:sp>
      <p:pic>
        <p:nvPicPr>
          <p:cNvPr id="13" name="Picture 12" descr="wifioff_g.png"/>
          <p:cNvPicPr>
            <a:picLocks noChangeAspect="1"/>
          </p:cNvPicPr>
          <p:nvPr/>
        </p:nvPicPr>
        <p:blipFill>
          <a:blip r:embed="rId3"/>
          <a:stretch>
            <a:fillRect/>
          </a:stretch>
        </p:blipFill>
        <p:spPr>
          <a:xfrm>
            <a:off x="4677155" y="2189988"/>
            <a:ext cx="384048" cy="384048"/>
          </a:xfrm>
          <a:prstGeom prst="rect">
            <a:avLst/>
          </a:prstGeom>
        </p:spPr>
      </p:pic>
      <p:sp>
        <p:nvSpPr>
          <p:cNvPr id="14" name="TextBox 13"/>
          <p:cNvSpPr txBox="1"/>
          <p:nvPr/>
        </p:nvSpPr>
        <p:spPr>
          <a:xfrm>
            <a:off x="5394959" y="2057400"/>
            <a:ext cx="2331720" cy="594360"/>
          </a:xfrm>
          <a:prstGeom prst="rect">
            <a:avLst/>
          </a:prstGeom>
          <a:noFill/>
        </p:spPr>
        <p:txBody>
          <a:bodyPr wrap="square" lIns="0" rIns="0" tIns="0" bIns="0" anchor="t">
            <a:spAutoFit/>
          </a:bodyPr>
          <a:lstStyle/>
          <a:p>
            <a:pPr algn="l">
              <a:lnSpc>
                <a:spcPct val="95000"/>
              </a:lnSpc>
            </a:pPr>
            <a:r>
              <a:rPr sz="1550" b="1">
                <a:solidFill>
                  <a:srgbClr val="23272B"/>
                </a:solidFill>
                <a:latin typeface="Arial"/>
              </a:rPr>
              <a:t>Works offline</a:t>
            </a:r>
          </a:p>
        </p:txBody>
      </p:sp>
      <p:sp>
        <p:nvSpPr>
          <p:cNvPr id="15" name="TextBox 14"/>
          <p:cNvSpPr txBox="1"/>
          <p:nvPr/>
        </p:nvSpPr>
        <p:spPr>
          <a:xfrm>
            <a:off x="5394959" y="2651760"/>
            <a:ext cx="2331720" cy="777240"/>
          </a:xfrm>
          <a:prstGeom prst="rect">
            <a:avLst/>
          </a:prstGeom>
          <a:noFill/>
        </p:spPr>
        <p:txBody>
          <a:bodyPr wrap="square" lIns="0" rIns="0" tIns="0" bIns="0" anchor="t">
            <a:spAutoFit/>
          </a:bodyPr>
          <a:lstStyle/>
          <a:p>
            <a:pPr algn="l">
              <a:lnSpc>
                <a:spcPct val="100000"/>
              </a:lnSpc>
            </a:pPr>
            <a:r>
              <a:rPr sz="1200" b="0">
                <a:solidFill>
                  <a:srgbClr val="5F6670"/>
                </a:solidFill>
                <a:latin typeface="Arial"/>
              </a:rPr>
              <a:t>Visits and orders wait on the phone and send automatically.</a:t>
            </a:r>
          </a:p>
        </p:txBody>
      </p:sp>
      <p:sp>
        <p:nvSpPr>
          <p:cNvPr id="16" name="Rounded Rectangle 15"/>
          <p:cNvSpPr/>
          <p:nvPr/>
        </p:nvSpPr>
        <p:spPr>
          <a:xfrm>
            <a:off x="8046719" y="1783080"/>
            <a:ext cx="3566160" cy="1691640"/>
          </a:xfrm>
          <a:prstGeom prst="roundRect">
            <a:avLst>
              <a:gd name="adj" fmla="val 6486"/>
            </a:avLst>
          </a:prstGeom>
          <a:solidFill>
            <a:srgbClr val="F4F5F6"/>
          </a:solidFill>
          <a:ln>
            <a:noFill/>
          </a:ln>
          <a:effectLst/>
        </p:spPr>
        <p:txBody>
          <a:bodyPr rtlCol="0" anchor="ctr"/>
          <a:lstStyle/>
          <a:p/>
        </p:txBody>
      </p:sp>
      <p:sp>
        <p:nvSpPr>
          <p:cNvPr id="17" name="Oval 16"/>
          <p:cNvSpPr/>
          <p:nvPr/>
        </p:nvSpPr>
        <p:spPr>
          <a:xfrm>
            <a:off x="8275319" y="2039112"/>
            <a:ext cx="685800" cy="685800"/>
          </a:xfrm>
          <a:prstGeom prst="ellipse">
            <a:avLst/>
          </a:prstGeom>
          <a:solidFill>
            <a:srgbClr val="E6F4EC"/>
          </a:solidFill>
          <a:ln>
            <a:noFill/>
          </a:ln>
          <a:effectLst/>
        </p:spPr>
        <p:txBody>
          <a:bodyPr rtlCol="0" anchor="ctr"/>
          <a:lstStyle/>
          <a:p>
            <a:pPr algn="ctr"/>
          </a:p>
        </p:txBody>
      </p:sp>
      <p:pic>
        <p:nvPicPr>
          <p:cNvPr id="18" name="Picture 17" descr="person_g.png"/>
          <p:cNvPicPr>
            <a:picLocks noChangeAspect="1"/>
          </p:cNvPicPr>
          <p:nvPr/>
        </p:nvPicPr>
        <p:blipFill>
          <a:blip r:embed="rId4"/>
          <a:stretch>
            <a:fillRect/>
          </a:stretch>
        </p:blipFill>
        <p:spPr>
          <a:xfrm>
            <a:off x="8426195" y="2189988"/>
            <a:ext cx="384048" cy="384048"/>
          </a:xfrm>
          <a:prstGeom prst="rect">
            <a:avLst/>
          </a:prstGeom>
        </p:spPr>
      </p:pic>
      <p:sp>
        <p:nvSpPr>
          <p:cNvPr id="19" name="TextBox 18"/>
          <p:cNvSpPr txBox="1"/>
          <p:nvPr/>
        </p:nvSpPr>
        <p:spPr>
          <a:xfrm>
            <a:off x="9143999" y="2057400"/>
            <a:ext cx="2331720" cy="594360"/>
          </a:xfrm>
          <a:prstGeom prst="rect">
            <a:avLst/>
          </a:prstGeom>
          <a:noFill/>
        </p:spPr>
        <p:txBody>
          <a:bodyPr wrap="square" lIns="0" rIns="0" tIns="0" bIns="0" anchor="t">
            <a:spAutoFit/>
          </a:bodyPr>
          <a:lstStyle/>
          <a:p>
            <a:pPr algn="l">
              <a:lnSpc>
                <a:spcPct val="95000"/>
              </a:lnSpc>
            </a:pPr>
            <a:r>
              <a:rPr sz="1550" b="1">
                <a:solidFill>
                  <a:srgbClr val="23272B"/>
                </a:solidFill>
                <a:latin typeface="Arial"/>
              </a:rPr>
              <a:t>Role-based access</a:t>
            </a:r>
          </a:p>
        </p:txBody>
      </p:sp>
      <p:sp>
        <p:nvSpPr>
          <p:cNvPr id="20" name="TextBox 19"/>
          <p:cNvSpPr txBox="1"/>
          <p:nvPr/>
        </p:nvSpPr>
        <p:spPr>
          <a:xfrm>
            <a:off x="9143999" y="2651760"/>
            <a:ext cx="2331720" cy="777240"/>
          </a:xfrm>
          <a:prstGeom prst="rect">
            <a:avLst/>
          </a:prstGeom>
          <a:noFill/>
        </p:spPr>
        <p:txBody>
          <a:bodyPr wrap="square" lIns="0" rIns="0" tIns="0" bIns="0" anchor="t">
            <a:spAutoFit/>
          </a:bodyPr>
          <a:lstStyle/>
          <a:p>
            <a:pPr algn="l">
              <a:lnSpc>
                <a:spcPct val="100000"/>
              </a:lnSpc>
            </a:pPr>
            <a:r>
              <a:rPr sz="1200" b="0">
                <a:solidFill>
                  <a:srgbClr val="5F6670"/>
                </a:solidFill>
                <a:latin typeface="Arial"/>
              </a:rPr>
              <a:t>8 roles; every rule is enforced on the server.</a:t>
            </a:r>
          </a:p>
        </p:txBody>
      </p:sp>
      <p:sp>
        <p:nvSpPr>
          <p:cNvPr id="21" name="Rounded Rectangle 20"/>
          <p:cNvSpPr/>
          <p:nvPr/>
        </p:nvSpPr>
        <p:spPr>
          <a:xfrm>
            <a:off x="548640" y="3657600"/>
            <a:ext cx="3566160" cy="1691640"/>
          </a:xfrm>
          <a:prstGeom prst="roundRect">
            <a:avLst>
              <a:gd name="adj" fmla="val 6486"/>
            </a:avLst>
          </a:prstGeom>
          <a:solidFill>
            <a:srgbClr val="F4F5F6"/>
          </a:solidFill>
          <a:ln>
            <a:noFill/>
          </a:ln>
          <a:effectLst/>
        </p:spPr>
        <p:txBody>
          <a:bodyPr rtlCol="0" anchor="ctr"/>
          <a:lstStyle/>
          <a:p/>
        </p:txBody>
      </p:sp>
      <p:sp>
        <p:nvSpPr>
          <p:cNvPr id="22" name="Oval 21"/>
          <p:cNvSpPr/>
          <p:nvPr/>
        </p:nvSpPr>
        <p:spPr>
          <a:xfrm>
            <a:off x="777240" y="3913632"/>
            <a:ext cx="685800" cy="685800"/>
          </a:xfrm>
          <a:prstGeom prst="ellipse">
            <a:avLst/>
          </a:prstGeom>
          <a:solidFill>
            <a:srgbClr val="E6F4EC"/>
          </a:solidFill>
          <a:ln>
            <a:noFill/>
          </a:ln>
          <a:effectLst/>
        </p:spPr>
        <p:txBody>
          <a:bodyPr rtlCol="0" anchor="ctr"/>
          <a:lstStyle/>
          <a:p>
            <a:pPr algn="ctr"/>
          </a:p>
        </p:txBody>
      </p:sp>
      <p:pic>
        <p:nvPicPr>
          <p:cNvPr id="23" name="Picture 22" descr="database_g.png"/>
          <p:cNvPicPr>
            <a:picLocks noChangeAspect="1"/>
          </p:cNvPicPr>
          <p:nvPr/>
        </p:nvPicPr>
        <p:blipFill>
          <a:blip r:embed="rId5"/>
          <a:stretch>
            <a:fillRect/>
          </a:stretch>
        </p:blipFill>
        <p:spPr>
          <a:xfrm>
            <a:off x="928115" y="4064508"/>
            <a:ext cx="384048" cy="384048"/>
          </a:xfrm>
          <a:prstGeom prst="rect">
            <a:avLst/>
          </a:prstGeom>
        </p:spPr>
      </p:pic>
      <p:sp>
        <p:nvSpPr>
          <p:cNvPr id="24" name="TextBox 23"/>
          <p:cNvSpPr txBox="1"/>
          <p:nvPr/>
        </p:nvSpPr>
        <p:spPr>
          <a:xfrm>
            <a:off x="1645919" y="3931920"/>
            <a:ext cx="2331720" cy="594360"/>
          </a:xfrm>
          <a:prstGeom prst="rect">
            <a:avLst/>
          </a:prstGeom>
          <a:noFill/>
        </p:spPr>
        <p:txBody>
          <a:bodyPr wrap="square" lIns="0" rIns="0" tIns="0" bIns="0" anchor="t">
            <a:spAutoFit/>
          </a:bodyPr>
          <a:lstStyle/>
          <a:p>
            <a:pPr algn="l">
              <a:lnSpc>
                <a:spcPct val="95000"/>
              </a:lnSpc>
            </a:pPr>
            <a:r>
              <a:rPr sz="1550" b="1">
                <a:solidFill>
                  <a:srgbClr val="23272B"/>
                </a:solidFill>
                <a:latin typeface="Arial"/>
              </a:rPr>
              <a:t>PostgreSQL database</a:t>
            </a:r>
          </a:p>
        </p:txBody>
      </p:sp>
      <p:sp>
        <p:nvSpPr>
          <p:cNvPr id="25" name="TextBox 24"/>
          <p:cNvSpPr txBox="1"/>
          <p:nvPr/>
        </p:nvSpPr>
        <p:spPr>
          <a:xfrm>
            <a:off x="1645919" y="4526280"/>
            <a:ext cx="2331720" cy="777240"/>
          </a:xfrm>
          <a:prstGeom prst="rect">
            <a:avLst/>
          </a:prstGeom>
          <a:noFill/>
        </p:spPr>
        <p:txBody>
          <a:bodyPr wrap="square" lIns="0" rIns="0" tIns="0" bIns="0" anchor="t">
            <a:spAutoFit/>
          </a:bodyPr>
          <a:lstStyle/>
          <a:p>
            <a:pPr algn="l">
              <a:lnSpc>
                <a:spcPct val="100000"/>
              </a:lnSpc>
            </a:pPr>
            <a:r>
              <a:rPr sz="1200" b="0">
                <a:solidFill>
                  <a:srgbClr val="5F6670"/>
                </a:solidFill>
                <a:latin typeface="Arial"/>
              </a:rPr>
              <a:t>Runs on the distributor's own cloud server.</a:t>
            </a:r>
          </a:p>
        </p:txBody>
      </p:sp>
      <p:sp>
        <p:nvSpPr>
          <p:cNvPr id="26" name="Rounded Rectangle 25"/>
          <p:cNvSpPr/>
          <p:nvPr/>
        </p:nvSpPr>
        <p:spPr>
          <a:xfrm>
            <a:off x="4297679" y="3657600"/>
            <a:ext cx="3566160" cy="1691640"/>
          </a:xfrm>
          <a:prstGeom prst="roundRect">
            <a:avLst>
              <a:gd name="adj" fmla="val 6486"/>
            </a:avLst>
          </a:prstGeom>
          <a:solidFill>
            <a:srgbClr val="F4F5F6"/>
          </a:solidFill>
          <a:ln>
            <a:noFill/>
          </a:ln>
          <a:effectLst/>
        </p:spPr>
        <p:txBody>
          <a:bodyPr rtlCol="0" anchor="ctr"/>
          <a:lstStyle/>
          <a:p/>
        </p:txBody>
      </p:sp>
      <p:sp>
        <p:nvSpPr>
          <p:cNvPr id="27" name="Oval 26"/>
          <p:cNvSpPr/>
          <p:nvPr/>
        </p:nvSpPr>
        <p:spPr>
          <a:xfrm>
            <a:off x="4526279" y="3913632"/>
            <a:ext cx="685800" cy="685800"/>
          </a:xfrm>
          <a:prstGeom prst="ellipse">
            <a:avLst/>
          </a:prstGeom>
          <a:solidFill>
            <a:srgbClr val="E6F4EC"/>
          </a:solidFill>
          <a:ln>
            <a:noFill/>
          </a:ln>
          <a:effectLst/>
        </p:spPr>
        <p:txBody>
          <a:bodyPr rtlCol="0" anchor="ctr"/>
          <a:lstStyle/>
          <a:p>
            <a:pPr algn="ctr"/>
          </a:p>
        </p:txBody>
      </p:sp>
      <p:pic>
        <p:nvPicPr>
          <p:cNvPr id="28" name="Picture 27" descr="lock_g.png"/>
          <p:cNvPicPr>
            <a:picLocks noChangeAspect="1"/>
          </p:cNvPicPr>
          <p:nvPr/>
        </p:nvPicPr>
        <p:blipFill>
          <a:blip r:embed="rId6"/>
          <a:stretch>
            <a:fillRect/>
          </a:stretch>
        </p:blipFill>
        <p:spPr>
          <a:xfrm>
            <a:off x="4677155" y="4064508"/>
            <a:ext cx="384048" cy="384048"/>
          </a:xfrm>
          <a:prstGeom prst="rect">
            <a:avLst/>
          </a:prstGeom>
        </p:spPr>
      </p:pic>
      <p:sp>
        <p:nvSpPr>
          <p:cNvPr id="29" name="TextBox 28"/>
          <p:cNvSpPr txBox="1"/>
          <p:nvPr/>
        </p:nvSpPr>
        <p:spPr>
          <a:xfrm>
            <a:off x="5394959" y="3931920"/>
            <a:ext cx="2331720" cy="594360"/>
          </a:xfrm>
          <a:prstGeom prst="rect">
            <a:avLst/>
          </a:prstGeom>
          <a:noFill/>
        </p:spPr>
        <p:txBody>
          <a:bodyPr wrap="square" lIns="0" rIns="0" tIns="0" bIns="0" anchor="t">
            <a:spAutoFit/>
          </a:bodyPr>
          <a:lstStyle/>
          <a:p>
            <a:pPr algn="l">
              <a:lnSpc>
                <a:spcPct val="95000"/>
              </a:lnSpc>
            </a:pPr>
            <a:r>
              <a:rPr sz="1550" b="1">
                <a:solidFill>
                  <a:srgbClr val="23272B"/>
                </a:solidFill>
                <a:latin typeface="Arial"/>
              </a:rPr>
              <a:t>Secure by default</a:t>
            </a:r>
          </a:p>
        </p:txBody>
      </p:sp>
      <p:sp>
        <p:nvSpPr>
          <p:cNvPr id="30" name="TextBox 29"/>
          <p:cNvSpPr txBox="1"/>
          <p:nvPr/>
        </p:nvSpPr>
        <p:spPr>
          <a:xfrm>
            <a:off x="5394959" y="4526280"/>
            <a:ext cx="2331720" cy="777240"/>
          </a:xfrm>
          <a:prstGeom prst="rect">
            <a:avLst/>
          </a:prstGeom>
          <a:noFill/>
        </p:spPr>
        <p:txBody>
          <a:bodyPr wrap="square" lIns="0" rIns="0" tIns="0" bIns="0" anchor="t">
            <a:spAutoFit/>
          </a:bodyPr>
          <a:lstStyle/>
          <a:p>
            <a:pPr algn="l">
              <a:lnSpc>
                <a:spcPct val="100000"/>
              </a:lnSpc>
            </a:pPr>
            <a:r>
              <a:rPr sz="1200" b="0">
                <a:solidFill>
                  <a:srgbClr val="5F6670"/>
                </a:solidFill>
                <a:latin typeface="Arial"/>
              </a:rPr>
              <a:t>HTTPS, signed sessions, CSRF protection, rate limits, lockout.</a:t>
            </a:r>
          </a:p>
        </p:txBody>
      </p:sp>
      <p:sp>
        <p:nvSpPr>
          <p:cNvPr id="31" name="Rounded Rectangle 30"/>
          <p:cNvSpPr/>
          <p:nvPr/>
        </p:nvSpPr>
        <p:spPr>
          <a:xfrm>
            <a:off x="8046719" y="3657600"/>
            <a:ext cx="3566160" cy="1691640"/>
          </a:xfrm>
          <a:prstGeom prst="roundRect">
            <a:avLst>
              <a:gd name="adj" fmla="val 6486"/>
            </a:avLst>
          </a:prstGeom>
          <a:solidFill>
            <a:srgbClr val="F4F5F6"/>
          </a:solidFill>
          <a:ln>
            <a:noFill/>
          </a:ln>
          <a:effectLst/>
        </p:spPr>
        <p:txBody>
          <a:bodyPr rtlCol="0" anchor="ctr"/>
          <a:lstStyle/>
          <a:p/>
        </p:txBody>
      </p:sp>
      <p:sp>
        <p:nvSpPr>
          <p:cNvPr id="32" name="Oval 31"/>
          <p:cNvSpPr/>
          <p:nvPr/>
        </p:nvSpPr>
        <p:spPr>
          <a:xfrm>
            <a:off x="8275319" y="3913632"/>
            <a:ext cx="685800" cy="685800"/>
          </a:xfrm>
          <a:prstGeom prst="ellipse">
            <a:avLst/>
          </a:prstGeom>
          <a:solidFill>
            <a:srgbClr val="E6F4EC"/>
          </a:solidFill>
          <a:ln>
            <a:noFill/>
          </a:ln>
          <a:effectLst/>
        </p:spPr>
        <p:txBody>
          <a:bodyPr rtlCol="0" anchor="ctr"/>
          <a:lstStyle/>
          <a:p>
            <a:pPr algn="ctr"/>
          </a:p>
        </p:txBody>
      </p:sp>
      <p:pic>
        <p:nvPicPr>
          <p:cNvPr id="33" name="Picture 32" descr="shield_g.png"/>
          <p:cNvPicPr>
            <a:picLocks noChangeAspect="1"/>
          </p:cNvPicPr>
          <p:nvPr/>
        </p:nvPicPr>
        <p:blipFill>
          <a:blip r:embed="rId7"/>
          <a:stretch>
            <a:fillRect/>
          </a:stretch>
        </p:blipFill>
        <p:spPr>
          <a:xfrm>
            <a:off x="8426195" y="4064508"/>
            <a:ext cx="384048" cy="384048"/>
          </a:xfrm>
          <a:prstGeom prst="rect">
            <a:avLst/>
          </a:prstGeom>
        </p:spPr>
      </p:pic>
      <p:sp>
        <p:nvSpPr>
          <p:cNvPr id="34" name="TextBox 33"/>
          <p:cNvSpPr txBox="1"/>
          <p:nvPr/>
        </p:nvSpPr>
        <p:spPr>
          <a:xfrm>
            <a:off x="9143999" y="3931920"/>
            <a:ext cx="2331720" cy="594360"/>
          </a:xfrm>
          <a:prstGeom prst="rect">
            <a:avLst/>
          </a:prstGeom>
          <a:noFill/>
        </p:spPr>
        <p:txBody>
          <a:bodyPr wrap="square" lIns="0" rIns="0" tIns="0" bIns="0" anchor="t">
            <a:spAutoFit/>
          </a:bodyPr>
          <a:lstStyle/>
          <a:p>
            <a:pPr algn="l">
              <a:lnSpc>
                <a:spcPct val="95000"/>
              </a:lnSpc>
            </a:pPr>
            <a:r>
              <a:rPr sz="1550" b="1">
                <a:solidFill>
                  <a:srgbClr val="23272B"/>
                </a:solidFill>
                <a:latin typeface="Arial"/>
              </a:rPr>
              <a:t>Data stays with the distributor</a:t>
            </a:r>
          </a:p>
        </p:txBody>
      </p:sp>
      <p:sp>
        <p:nvSpPr>
          <p:cNvPr id="35" name="TextBox 34"/>
          <p:cNvSpPr txBox="1"/>
          <p:nvPr/>
        </p:nvSpPr>
        <p:spPr>
          <a:xfrm>
            <a:off x="9143999" y="4526280"/>
            <a:ext cx="2331720" cy="777240"/>
          </a:xfrm>
          <a:prstGeom prst="rect">
            <a:avLst/>
          </a:prstGeom>
          <a:noFill/>
        </p:spPr>
        <p:txBody>
          <a:bodyPr wrap="square" lIns="0" rIns="0" tIns="0" bIns="0" anchor="t">
            <a:spAutoFit/>
          </a:bodyPr>
          <a:lstStyle/>
          <a:p>
            <a:pPr algn="l">
              <a:lnSpc>
                <a:spcPct val="100000"/>
              </a:lnSpc>
            </a:pPr>
            <a:r>
              <a:rPr sz="1200" b="0">
                <a:solidFill>
                  <a:srgbClr val="5F6670"/>
                </a:solidFill>
                <a:latin typeface="Arial"/>
              </a:rPr>
              <a:t>Castrol gets aggregates; AI analysis uses anonymised codes.</a:t>
            </a:r>
          </a:p>
        </p:txBody>
      </p:sp>
      <p:sp>
        <p:nvSpPr>
          <p:cNvPr id="36" name="TextBox 35"/>
          <p:cNvSpPr txBox="1"/>
          <p:nvPr/>
        </p:nvSpPr>
        <p:spPr>
          <a:xfrm>
            <a:off x="548640" y="5669280"/>
            <a:ext cx="11064240" cy="457200"/>
          </a:xfrm>
          <a:prstGeom prst="rect">
            <a:avLst/>
          </a:prstGeom>
          <a:noFill/>
        </p:spPr>
        <p:txBody>
          <a:bodyPr wrap="square" lIns="0" rIns="0" tIns="0" bIns="0" anchor="t">
            <a:spAutoFit/>
          </a:bodyPr>
          <a:lstStyle/>
          <a:p>
            <a:pPr algn="l">
              <a:lnSpc>
                <a:spcPct val="100000"/>
              </a:lnSpc>
            </a:pPr>
            <a:r>
              <a:rPr sz="1250" b="1">
                <a:solidFill>
                  <a:srgbClr val="23272B"/>
                </a:solidFill>
                <a:latin typeface="Arial"/>
              </a:rPr>
              <a:t>Quality: </a:t>
            </a:r>
            <a:r>
              <a:rPr sz="1250" b="0">
                <a:solidFill>
                  <a:srgbClr val="5F6670"/>
                </a:solidFill>
                <a:latin typeface="Arial"/>
              </a:rPr>
              <a:t>about 1,200 automated tests run on every change; 750+ improvements shipped since August 2026.</a:t>
            </a:r>
          </a:p>
        </p:txBody>
      </p:sp>
      <p:cxnSp>
        <p:nvCxnSpPr>
          <p:cNvPr id="37" name="Connector 36"/>
          <p:cNvCxnSpPr/>
          <p:nvPr/>
        </p:nvCxnSpPr>
        <p:spPr>
          <a:xfrm>
            <a:off x="548640" y="6400800"/>
            <a:ext cx="11094415" cy="0"/>
          </a:xfrm>
          <a:prstGeom prst="line">
            <a:avLst/>
          </a:prstGeom>
          <a:ln w="9525">
            <a:solidFill>
              <a:srgbClr val="D9DEDB"/>
            </a:solidFill>
          </a:ln>
        </p:spPr>
      </p:cxnSp>
      <p:pic>
        <p:nvPicPr>
          <p:cNvPr id="38" name="Picture 37" descr="kad-wordmark.png"/>
          <p:cNvPicPr>
            <a:picLocks noChangeAspect="1"/>
          </p:cNvPicPr>
          <p:nvPr/>
        </p:nvPicPr>
        <p:blipFill>
          <a:blip r:embed="rId8"/>
          <a:stretch>
            <a:fillRect/>
          </a:stretch>
        </p:blipFill>
        <p:spPr>
          <a:xfrm>
            <a:off x="548640" y="6519672"/>
            <a:ext cx="759129" cy="155448"/>
          </a:xfrm>
          <a:prstGeom prst="rect">
            <a:avLst/>
          </a:prstGeom>
        </p:spPr>
      </p:pic>
      <p:sp>
        <p:nvSpPr>
          <p:cNvPr id="39" name="TextBox 38"/>
          <p:cNvSpPr txBox="1"/>
          <p:nvPr/>
        </p:nvSpPr>
        <p:spPr>
          <a:xfrm>
            <a:off x="1417320" y="6492240"/>
            <a:ext cx="6400800" cy="228600"/>
          </a:xfrm>
          <a:prstGeom prst="rect">
            <a:avLst/>
          </a:prstGeom>
          <a:noFill/>
        </p:spPr>
        <p:txBody>
          <a:bodyPr wrap="square" lIns="0" rIns="0" tIns="0" bIns="0" anchor="t">
            <a:spAutoFit/>
          </a:bodyPr>
          <a:lstStyle/>
          <a:p>
            <a:pPr algn="l">
              <a:lnSpc>
                <a:spcPct val="100000"/>
              </a:lnSpc>
            </a:pPr>
            <a:r>
              <a:rPr sz="900" b="0">
                <a:solidFill>
                  <a:srgbClr val="5F6670"/>
                </a:solidFill>
                <a:latin typeface="Arial"/>
              </a:rPr>
              <a:t>Digital Sales Platform for Castrol Distribution</a:t>
            </a:r>
          </a:p>
        </p:txBody>
      </p:sp>
      <p:sp>
        <p:nvSpPr>
          <p:cNvPr id="40" name="TextBox 39"/>
          <p:cNvSpPr txBox="1"/>
          <p:nvPr/>
        </p:nvSpPr>
        <p:spPr>
          <a:xfrm>
            <a:off x="10728655" y="6492240"/>
            <a:ext cx="914400" cy="228600"/>
          </a:xfrm>
          <a:prstGeom prst="rect">
            <a:avLst/>
          </a:prstGeom>
          <a:noFill/>
        </p:spPr>
        <p:txBody>
          <a:bodyPr wrap="square" lIns="0" rIns="0" tIns="0" bIns="0" anchor="t">
            <a:spAutoFit/>
          </a:bodyPr>
          <a:lstStyle/>
          <a:p>
            <a:pPr algn="r">
              <a:lnSpc>
                <a:spcPct val="100000"/>
              </a:lnSpc>
            </a:pPr>
            <a:r>
              <a:rPr sz="900" b="0">
                <a:solidFill>
                  <a:srgbClr val="5F6670"/>
                </a:solidFill>
                <a:latin typeface="Arial"/>
              </a:rPr>
              <a:t>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