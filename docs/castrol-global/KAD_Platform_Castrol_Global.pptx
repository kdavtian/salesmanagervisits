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Collected / sales</c:v>
                </c:pt>
              </c:strCache>
            </c:strRef>
          </c:tx>
          <c:spPr>
            <a:solidFill>
              <a:srgbClr val="009343"/>
            </a:solidFill>
          </c:spPr>
          <c:cat>
            <c:strRef>
              <c:f>Sheet1!$A$2:$A$4</c:f>
              <c:strCache>
                <c:ptCount val="3"/>
                <c:pt idx="0">
                  <c:v>Q1</c:v>
                </c:pt>
                <c:pt idx="1">
                  <c:v>Q2</c:v>
                </c:pt>
                <c:pt idx="2">
                  <c:v>Q3</c:v>
                </c:pt>
              </c:strCache>
            </c:strRef>
          </c:cat>
          <c:val>
            <c:numRef>
              <c:f>Sheet1!$B$2:$B$4</c:f>
              <c:numCache>
                <c:formatCode>General</c:formatCode>
                <c:ptCount val="3"/>
                <c:pt idx="0">
                  <c:v>0.78</c:v>
                </c:pt>
                <c:pt idx="1">
                  <c:v>1.03</c:v>
                </c:pt>
                <c:pt idx="2">
                  <c:v>0.93</c:v>
                </c:pt>
              </c:numCache>
            </c:numRef>
          </c:val>
        </c:ser>
        <c:dLbls>
          <c:numFmt formatCode="0%" sourceLinked="0"/>
          <c:txPr>
            <a:bodyPr/>
            <a:lstStyle/>
            <a:p>
              <a:pPr>
                <a:defRPr sz="1800" b="1">
                  <a:solidFill>
                    <a:srgbClr val="23272B"/>
                  </a:solidFil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DB"/>
            </a:solidFill>
          </a:ln>
        </c:spPr>
        <c:txPr>
          <a:bodyPr/>
          <a:lstStyle/>
          <a:p>
            <a:pPr>
              <a:defRPr sz="1400" b="1"/>
            </a:pPr>
          </a:p>
        </c:txPr>
        <c:crossAx val="-2113994440"/>
        <c:crosses val="autoZero"/>
        <c:auto val="1"/>
        <c:lblAlgn val="ctr"/>
        <c:lblOffset val="100"/>
        <c:noMultiLvlLbl val="0"/>
      </c:catAx>
      <c:valAx>
        <c:axId val="-2113994440"/>
        <c:scaling>
          <c:max val="1.25"/>
          <c:min val="0.0"/>
        </c:scaling>
        <c:delete/>
        <c:axPos val="l"/>
        <c:majorTickMark val="out"/>
        <c:minorTickMark val="none"/>
        <c:tickLblPos val="nextTo"/>
        <c:crossAx val="-2068027336"/>
        <c:crosses val="autoZero"/>
      </c:valAx>
    </c:plotArea>
    <c:dispBlanksAs val="gap"/>
  </c:chart>
  <c:txPr>
    <a:bodyPr/>
    <a:lstStyle/>
    <a:p>
      <a:pPr>
        <a:defRPr sz="1300">
          <a:solidFill>
            <a:srgbClr val="23272B"/>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(30 seconds).</a:t>
            </a:r>
          </a:p>
          <a:p>
            <a:r>
              <a:t>Thank you for the time. KAD Motors is the Castrol distributor in Armenia. In the last months we built our own digital sales platform: a mobile app for the field team and a Telegram bot for management.</a:t>
            </a:r>
          </a:p>
          <a:p>
            <a:r>
              <a:t>Today I want to show three things: how the platform works, what it already gives us, and why we think it can be a model for other Castrol distributors, with shelf and sell-out visibility for Castrol.</a:t>
            </a:r>
          </a:p>
          <a:p>
            <a:r>
              <a:t>Note: every screen in this deck uses made-up demo data. No real customer, rep, price or debt appears anywhere.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KAD Motors distributes Castrol lubricants across Armenia.</a:t>
            </a:r>
          </a:p>
          <a:p>
            <a:r>
              <a:t>Three facts: 415 customer accounts in our ERP; customers in 10 of Armenia's 11 regions; and 38.8 thousand litres of Castrol sold from 1 January to 8 October 2026.</a:t>
            </a:r>
          </a:p>
          <a:p>
            <a:r>
              <a:t>We serve workshops and garages, oil-change points, auto-parts shops, and fleets and car dealers.</a:t>
            </a:r>
          </a:p>
          <a:p>
            <a:r>
              <a:t>Our goal is clear: become No. 1 in Armenia's oil market. Not only in volume and revenue, but also in reputation and technology. Once that model works in Armenia, we want to take it further.</a:t>
            </a:r>
          </a:p>
          <a:p>
            <a:r>
              <a:t>Sources: ERP workbook (Customers sheet for accounts and regions; ORDERS sheet for Castrol litres, internal stock rows excluded). See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platform, we worked like most distributors in our region.</a:t>
            </a:r>
          </a:p>
          <a:p>
            <a:r>
              <a:t>Orders came by phone and chat and were typed again into Excel, with errors and delays.</a:t>
            </a:r>
          </a:p>
          <a:p>
            <a:r>
              <a:t>Managers had no proof of field visits: who visited which outlet, and when.</a:t>
            </a:r>
          </a:p>
          <a:p>
            <a:r>
              <a:t>Debt data reached reps late, so they went to collect money without the current balance.</a:t>
            </a:r>
          </a:p>
          <a:p>
            <a:r>
              <a:t>And nobody recorded what was actually on the shelf: which Castrol lines a shop carries, and what the competitors have.</a:t>
            </a:r>
          </a:p>
          <a:p>
            <a:r>
              <a:t>The result: we made decisions on last month's data, and every new rep or region made the business harder to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has two parts.</a:t>
            </a:r>
          </a:p>
          <a:p>
            <a:r>
              <a:t>First, the Field Visits app. It is a progressive web app: a rep opens one link on any iPhone or Android phone and adds it to the home screen. No app store, no installation project. It keeps working without signal and sends the data when the phone is back online.</a:t>
            </a:r>
          </a:p>
          <a:p>
            <a:r>
              <a:t>Second, a CEO bot in Telegram. Every day our accountant drops the ERP workbook into the bot. The bot checks the file, builds the reports for management, and pushes the data into the app.</a:t>
            </a:r>
          </a:p>
          <a:p>
            <a:r>
              <a:t>So the team in the field and management in the office work from the same numbers, refreshed every day.</a:t>
            </a:r>
          </a:p>
          <a:p>
            <a:r>
              <a:t>Screens: demo data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data flow on one page.</a:t>
            </a:r>
          </a:p>
          <a:p>
            <a:r>
              <a:t>Step 1: our accounting team keeps the ERP workbook in Excel, as today, and uploads it once a day.</a:t>
            </a:r>
          </a:p>
          <a:p>
            <a:r>
              <a:t>Step 2: the CEO bot checks the file (structure, missing values, errors) and builds the management reports, which go to management on Telegram.</a:t>
            </a:r>
          </a:p>
          <a:p>
            <a:r>
              <a:t>Step 3: the same run syncs debt, sales, prices, stock and plans into the app.</a:t>
            </a:r>
          </a:p>
          <a:p>
            <a:r>
              <a:t>Step 4: the Field Visits app gives every role what it needs: reps, managers, warehouse and accounting.</a:t>
            </a:r>
          </a:p>
          <a:p>
            <a:r>
              <a:t>The app adds what Excel never had: GPS-verified visits, photos and shelf audits, orders and payments captured at the outlet.</a:t>
            </a:r>
          </a:p>
          <a:p>
            <a:r>
              <a:t>Customers and products are matched by ERP ID, never by name, and Excel remains the source of truth for debt and sales. No double entry, no disagreement between systems.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execution is where the platform starts.</a:t>
            </a:r>
          </a:p>
          <a:p>
            <a:r>
              <a:t>Left: the GPS check-in. A rep can only check in when the phone is near the outlet; the default limit is 300 metres and management can change it. The rep attaches a photo and records the outcome: order, payment, delivery, assortment check.</a:t>
            </a:r>
          </a:p>
          <a:p>
            <a:r>
              <a:t>Middle: the shelf audit. At every visit the rep ticks what is on the shelf for Castrol: available, not available, full range, and also fake product or parallel imports (from the USA, Dubai or Russia) and products without the Armenian QR/excise mark. This is new data that no one in the market collects today.</a:t>
            </a:r>
          </a:p>
          <a:p>
            <a:r>
              <a:t>Right: the customer map, which is also our CRM. Every outlet, with its visit status, debt and next planned visit.</a:t>
            </a:r>
          </a:p>
          <a:p>
            <a:r>
              <a:t>All screens show demo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block is commercial control.</a:t>
            </a:r>
          </a:p>
          <a:p>
            <a:r>
              <a:t>Orders: the rep builds an order in a few taps, starting from the customer's usual basket or a repeat of the last order, even without signal.</a:t>
            </a:r>
          </a:p>
          <a:p>
            <a:r>
              <a:t>Prices come from central price lists by customer tier (Bronze, Silver, Gold). Reps do not type prices.</a:t>
            </a:r>
          </a:p>
          <a:p>
            <a:r>
              <a:t>Discounts up to 3% are approved automatically; anything above waits for management, and nothing goes below cost without the CEO.</a:t>
            </a:r>
          </a:p>
          <a:p>
            <a:r>
              <a:t>Credit: every customer can have a credit limit; overdue debt raises alerts and creates collection tasks for the rep. Every cash payment is tracked from the rep to the accountant.</a:t>
            </a:r>
          </a:p>
          <a:p>
            <a:r>
              <a:t>Finally, targets and bonuses: each rep sees their own targets and earns points for visits, orders and collections.</a:t>
            </a:r>
          </a:p>
          <a:p>
            <a:r>
              <a:t>Screens: demo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block: management visibility.</a:t>
            </a:r>
          </a:p>
          <a:p>
            <a:r>
              <a:t>On the left, the company dashboard and team performance: sales against plan per channel and per rep, cash collected, and how much each rep still needs per working day to reach the plan.</a:t>
            </a:r>
          </a:p>
          <a:p>
            <a:r>
              <a:t>Management can follow six things at any time: sales versus plan, cash collected, visits and coverage, litres by product line, debt ageing, and a weekly scorecard per rep.</a:t>
            </a:r>
          </a:p>
          <a:p>
            <a:r>
              <a:t>The CEO bot sends daily, weekly and monthly summaries on Telegram as soon as the ERP file is uploaded, with a short list of what needs attention.</a:t>
            </a:r>
          </a:p>
          <a:p>
            <a:r>
              <a:t>Screens: demo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stand, with real numbers from our ERP workbook, all aggregated.</a:t>
            </a:r>
          </a:p>
          <a:p>
            <a:r>
              <a:t>Volume: from 1 January to 8 October 2026 we sold 27% more litres than in the whole of 2025 (72.7 thousand litres against 57.4 thousand).</a:t>
            </a:r>
          </a:p>
          <a:p>
            <a:r>
              <a:t>Castrol is on plan: 96% of the 2026 Castrol volume plan to date.</a:t>
            </a:r>
          </a:p>
          <a:p>
            <a:r>
              <a:t>Cash: 90% of 2026 sales is already collected. Per quarter, collections were 78% of sales in Q1, 103% in Q2 (we also collected older debt) and 93% in Q3.</a:t>
            </a:r>
          </a:p>
          <a:p>
            <a:r>
              <a:t>Customers: 230 customers bought from us in 2026, and 159 ordered in the last 90 days.</a:t>
            </a:r>
          </a:p>
          <a:p>
            <a:r>
              <a:t>To be precise about cause and effect: the platform went live in August 2026, so most of these results came before it. This is the baseline the platform now measures every day. Next we will add field metrics from the app itself: visits per month, Castrol presence on the shelf and coverage per region.</a:t>
            </a:r>
          </a:p>
          <a:p>
            <a:r>
              <a:t>Sources and definitions: appendix.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platform is not only a tool; it drives our market plan, which has three stages.</a:t>
            </a:r>
          </a:p>
          <a:p>
            <a:r>
              <a:t>Stage 1, presence: 70% of our customers carry at least one Castrol product. We measure it outlet by outlet with the shelf audit at every visit.</a:t>
            </a:r>
          </a:p>
          <a:p>
            <a:r>
              <a:t>Stage 2, full range: complete Castrol product lines on the shelf, not just one or two SKUs. We measure it with the 'full range' tick in the audit and with the order mix by product line.</a:t>
            </a:r>
          </a:p>
          <a:p>
            <a:r>
              <a:t>Stage 3, preference: our customers sell mostly Castrol. We measure the share of each customer's purchases and, as customers adopt digital tools, their sell-out.</a:t>
            </a:r>
          </a:p>
          <a:p>
            <a:r>
              <a:t>Because every stage is measured per outlet, per rep and per region, management can see where we are and act where we are behind.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we are going next.</a:t>
            </a:r>
          </a:p>
          <a:p>
            <a:r>
              <a:t>Driver and delivery: optimised routes for drivers, automatic detection when the driver arrives at the customer, and the customer signs for the delivery on the phone.</a:t>
            </a:r>
          </a:p>
          <a:p>
            <a:r>
              <a:t>Warehouse: picking and packing in the app, live stock behind every order, and stock counts that work even without signal.</a:t>
            </a:r>
          </a:p>
          <a:p>
            <a:r>
              <a:t>AI management team: an AI deputy CEO that coordinates expert agents for sales, finance and stock. The first version already runs in the app: it follows the field day, reminds reps of planned visits they skipped, and turns problems into tasks.</a:t>
            </a:r>
          </a:p>
          <a:p>
            <a:r>
              <a:t>Today the platform covers field sales, orders, cash and reports. The direction is a complete operating system for a Castrol distributor.</a:t>
            </a:r>
          </a:p>
          <a:p>
            <a:r>
              <a:t>Timing: to be confirmed; we build in small weekly releases.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matters for Castrol.</a:t>
            </a:r>
          </a:p>
          <a:p>
            <a:r>
              <a:t>First, shelf visibility: outlet by outlet, whether Castrol is present and whether the full range is there, plus fake products and parallel imports.</a:t>
            </a:r>
          </a:p>
          <a:p>
            <a:r>
              <a:t>Second, sell-out signals by product line and region, not only sell-in.</a:t>
            </a:r>
          </a:p>
          <a:p>
            <a:r>
              <a:t>Third, a standard toolkit: any distributor can start from a link, on the phones the team already has, without an IT project.</a:t>
            </a:r>
          </a:p>
          <a:p>
            <a:r>
              <a:t>Fourth, a clean data model: operational data stays with the distributor, and Castrol receives aggregated dashboards.</a:t>
            </a:r>
          </a:p>
          <a:p>
            <a:r>
              <a:t>Our proposal is a pilot partnership in three steps: a monthly Castrol shelf and sell-out dashboard for Armenia; a pilot of the platform with one or two more Castrol distributors; and a joint review of the results after 90 days.</a:t>
            </a:r>
          </a:p>
          <a:p>
            <a:r>
              <a:t>The next step we ask for: a 60-minute working session with your team to agree the dashboard and choose the pilot distributors.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your digital and IT colleagues.</a:t>
            </a:r>
          </a:p>
          <a:p>
            <a:r>
              <a:t>The app is a progressive web app: it installs from a link on iPhone, Android and desktop, with no app store.</a:t>
            </a:r>
          </a:p>
          <a:p>
            <a:r>
              <a:t>It is offline-first: visits and orders are saved on the phone and sent automatically when the connection returns, without duplicates.</a:t>
            </a:r>
          </a:p>
          <a:p>
            <a:r>
              <a:t>Access is role-based with 8 roles (for example rep, sales director, warehouse, accountant), and every rule is enforced on the server, not only hidden in the screen. A rep sees only their own customers.</a:t>
            </a:r>
          </a:p>
          <a:p>
            <a:r>
              <a:t>Data lives in a PostgreSQL database on the distributor's own cloud server.</a:t>
            </a:r>
          </a:p>
          <a:p>
            <a:r>
              <a:t>Security: HTTPS, signed session cookies, CSRF protection, rate limits and account lockout.</a:t>
            </a:r>
          </a:p>
          <a:p>
            <a:r>
              <a:t>Data ownership: the operational data stays with the distributor; Castrol would receive aggregated dashboards. Our AI analysis only sees anonymised customer and staff codes.</a:t>
            </a:r>
          </a:p>
          <a:p>
            <a:r>
              <a:t>Quality: about 1,200 automated tests run on every change, and more than 750 improvements have shipped since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in this deck can be traced to the source.</a:t>
            </a:r>
          </a:p>
          <a:p>
            <a:r>
              <a:t>Business figures come from KAD's ERP workbook (Excel): version 2.1.0 with orders up to 8 October 2026, and version 2.0.7 for the full-year 2025 litres. Internal stock-movement rows are excluded from sales.</a:t>
            </a:r>
          </a:p>
          <a:p>
            <a:r>
              <a:t>The Castrol plan figure comes from the plan sheet of the same workbook and uses the plan sheet's own cut-off and scope, which is why its actual (37.7 thousand litres) differs slightly from the 38.8 thousand litres counted from orders to 8 October.</a:t>
            </a:r>
          </a:p>
          <a:p>
            <a:r>
              <a:t>All figures are aggregates: no customer, rep, price or debt detail is shown.</a:t>
            </a:r>
          </a:p>
          <a:p>
            <a:r>
              <a:t>Every app screen and the bot report use made-up demo data from the app's demo data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4.png"/><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16.png"/><Relationship Id="rId6" Type="http://schemas.openxmlformats.org/officeDocument/2006/relationships/image" Target="../media/image21.png"/><Relationship Id="rId7" Type="http://schemas.openxmlformats.org/officeDocument/2006/relationships/image" Target="../media/image4.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4.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28.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35.png"/><Relationship Id="rId10" Type="http://schemas.openxmlformats.org/officeDocument/2006/relationships/image" Target="../media/image17.png"/><Relationship Id="rId11" Type="http://schemas.openxmlformats.org/officeDocument/2006/relationships/image" Target="../media/image4.png"/><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7.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4.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1.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png"/><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0.png"/><Relationship Id="rId8" Type="http://schemas.openxmlformats.org/officeDocument/2006/relationships/image" Target="../media/image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635240" y="0"/>
            <a:ext cx="4556455" cy="6858000"/>
          </a:xfrm>
          <a:prstGeom prst="rect">
            <a:avLst/>
          </a:prstGeom>
          <a:solidFill>
            <a:srgbClr val="009343"/>
          </a:solidFill>
          <a:ln>
            <a:noFill/>
          </a:ln>
          <a:effectLst/>
        </p:spPr>
        <p:txBody>
          <a:bodyPr rtlCol="0" anchor="ctr"/>
          <a:lstStyle/>
          <a:p/>
        </p:txBody>
      </p:sp>
      <p:sp>
        <p:nvSpPr>
          <p:cNvPr id="3" name="Rectangle 2"/>
          <p:cNvSpPr/>
          <p:nvPr/>
        </p:nvSpPr>
        <p:spPr>
          <a:xfrm>
            <a:off x="7635240" y="0"/>
            <a:ext cx="82296" cy="6858000"/>
          </a:xfrm>
          <a:prstGeom prst="rect">
            <a:avLst/>
          </a:prstGeom>
          <a:solidFill>
            <a:srgbClr val="E2001A"/>
          </a:solidFill>
          <a:ln>
            <a:noFill/>
          </a:ln>
          <a:effectLst/>
        </p:spPr>
        <p:txBody>
          <a:bodyPr rtlCol="0" anchor="ctr"/>
          <a:lstStyle/>
          <a:p/>
        </p:txBody>
      </p:sp>
      <p:pic>
        <p:nvPicPr>
          <p:cNvPr id="4" name="Picture 3" descr="checkin.png"/>
          <p:cNvPicPr>
            <a:picLocks noChangeAspect="1"/>
          </p:cNvPicPr>
          <p:nvPr/>
        </p:nvPicPr>
        <p:blipFill>
          <a:blip r:embed="rId2"/>
          <a:stretch>
            <a:fillRect/>
          </a:stretch>
        </p:blipFill>
        <p:spPr>
          <a:xfrm>
            <a:off x="6446520" y="960120"/>
            <a:ext cx="2473157" cy="5074920"/>
          </a:xfrm>
          <a:prstGeom prst="rect">
            <a:avLst/>
          </a:prstGeom>
        </p:spPr>
      </p:pic>
      <p:pic>
        <p:nvPicPr>
          <p:cNvPr id="5" name="Picture 4" descr="dashboard.png"/>
          <p:cNvPicPr>
            <a:picLocks noChangeAspect="1"/>
          </p:cNvPicPr>
          <p:nvPr/>
        </p:nvPicPr>
        <p:blipFill>
          <a:blip r:embed="rId3"/>
          <a:stretch>
            <a:fillRect/>
          </a:stretch>
        </p:blipFill>
        <p:spPr>
          <a:xfrm>
            <a:off x="9646920" y="960120"/>
            <a:ext cx="2473157" cy="5074920"/>
          </a:xfrm>
          <a:prstGeom prst="rect">
            <a:avLst/>
          </a:prstGeom>
        </p:spPr>
      </p:pic>
      <p:pic>
        <p:nvPicPr>
          <p:cNvPr id="6" name="Picture 5" descr="map.png"/>
          <p:cNvPicPr>
            <a:picLocks noChangeAspect="1"/>
          </p:cNvPicPr>
          <p:nvPr/>
        </p:nvPicPr>
        <p:blipFill>
          <a:blip r:embed="rId4"/>
          <a:stretch>
            <a:fillRect/>
          </a:stretch>
        </p:blipFill>
        <p:spPr>
          <a:xfrm>
            <a:off x="8001000" y="502920"/>
            <a:ext cx="2851929" cy="5852160"/>
          </a:xfrm>
          <a:prstGeom prst="rect">
            <a:avLst/>
          </a:prstGeom>
        </p:spPr>
      </p:pic>
      <p:sp>
        <p:nvSpPr>
          <p:cNvPr id="7" name="Rectangle 6"/>
          <p:cNvSpPr/>
          <p:nvPr/>
        </p:nvSpPr>
        <p:spPr>
          <a:xfrm>
            <a:off x="640080" y="1097280"/>
            <a:ext cx="724204" cy="64008"/>
          </a:xfrm>
          <a:prstGeom prst="rect">
            <a:avLst/>
          </a:prstGeom>
          <a:solidFill>
            <a:srgbClr val="009343"/>
          </a:solidFill>
          <a:ln>
            <a:noFill/>
          </a:ln>
          <a:effectLst/>
        </p:spPr>
        <p:txBody>
          <a:bodyPr rtlCol="0" anchor="ctr"/>
          <a:lstStyle/>
          <a:p/>
        </p:txBody>
      </p:sp>
      <p:sp>
        <p:nvSpPr>
          <p:cNvPr id="8" name="Rectangle 7"/>
          <p:cNvSpPr/>
          <p:nvPr/>
        </p:nvSpPr>
        <p:spPr>
          <a:xfrm>
            <a:off x="1364284" y="1097280"/>
            <a:ext cx="281635" cy="64008"/>
          </a:xfrm>
          <a:prstGeom prst="rect">
            <a:avLst/>
          </a:prstGeom>
          <a:solidFill>
            <a:srgbClr val="E2001A"/>
          </a:solidFill>
          <a:ln>
            <a:noFill/>
          </a:ln>
          <a:effectLst/>
        </p:spPr>
        <p:txBody>
          <a:bodyPr rtlCol="0" anchor="ctr"/>
          <a:lstStyle/>
          <a:p/>
        </p:txBody>
      </p:sp>
      <p:sp>
        <p:nvSpPr>
          <p:cNvPr id="9" name="TextBox 8"/>
          <p:cNvSpPr txBox="1"/>
          <p:nvPr/>
        </p:nvSpPr>
        <p:spPr>
          <a:xfrm>
            <a:off x="640080" y="1325880"/>
            <a:ext cx="5943600" cy="320040"/>
          </a:xfrm>
          <a:prstGeom prst="rect">
            <a:avLst/>
          </a:prstGeom>
          <a:noFill/>
        </p:spPr>
        <p:txBody>
          <a:bodyPr wrap="square" lIns="0" rIns="0" tIns="0" bIns="0" anchor="t">
            <a:spAutoFit/>
          </a:bodyPr>
          <a:lstStyle/>
          <a:p>
            <a:pPr algn="l">
              <a:lnSpc>
                <a:spcPct val="100000"/>
              </a:lnSpc>
            </a:pPr>
            <a:r>
              <a:rPr sz="1300" b="1">
                <a:solidFill>
                  <a:srgbClr val="009343"/>
                </a:solidFill>
                <a:latin typeface="Arial"/>
              </a:rPr>
              <a:t>PREPARED FOR CASTROL GLOBAL</a:t>
            </a:r>
          </a:p>
        </p:txBody>
      </p:sp>
      <p:sp>
        <p:nvSpPr>
          <p:cNvPr id="10" name="TextBox 9"/>
          <p:cNvSpPr txBox="1"/>
          <p:nvPr/>
        </p:nvSpPr>
        <p:spPr>
          <a:xfrm>
            <a:off x="640080" y="1737360"/>
            <a:ext cx="6035040" cy="2468880"/>
          </a:xfrm>
          <a:prstGeom prst="rect">
            <a:avLst/>
          </a:prstGeom>
          <a:noFill/>
        </p:spPr>
        <p:txBody>
          <a:bodyPr wrap="square" lIns="0" rIns="0" tIns="0" bIns="0" anchor="t">
            <a:spAutoFit/>
          </a:bodyPr>
          <a:lstStyle/>
          <a:p>
            <a:pPr algn="l">
              <a:lnSpc>
                <a:spcPct val="95000"/>
              </a:lnSpc>
            </a:pPr>
            <a:r>
              <a:rPr sz="4000" b="1">
                <a:solidFill>
                  <a:srgbClr val="23272B"/>
                </a:solidFill>
                <a:latin typeface="Arial"/>
              </a:rPr>
              <a:t>KAD Motors: Digital Sales Platform for Castrol Distribution</a:t>
            </a:r>
          </a:p>
        </p:txBody>
      </p:sp>
      <p:sp>
        <p:nvSpPr>
          <p:cNvPr id="11" name="TextBox 10"/>
          <p:cNvSpPr txBox="1"/>
          <p:nvPr/>
        </p:nvSpPr>
        <p:spPr>
          <a:xfrm>
            <a:off x="640080" y="4069080"/>
            <a:ext cx="5943600" cy="822960"/>
          </a:xfrm>
          <a:prstGeom prst="rect">
            <a:avLst/>
          </a:prstGeom>
          <a:noFill/>
        </p:spPr>
        <p:txBody>
          <a:bodyPr wrap="square" lIns="0" rIns="0" tIns="0" bIns="0" anchor="t">
            <a:spAutoFit/>
          </a:bodyPr>
          <a:lstStyle/>
          <a:p>
            <a:pPr algn="l">
              <a:lnSpc>
                <a:spcPct val="100000"/>
              </a:lnSpc>
            </a:pPr>
            <a:r>
              <a:rPr sz="1800" b="0">
                <a:solidFill>
                  <a:srgbClr val="5F6670"/>
                </a:solidFill>
                <a:latin typeface="Arial"/>
              </a:rPr>
              <a:t>Field Visits app + CEO bot</a:t>
            </a:r>
          </a:p>
          <a:p>
            <a:pPr algn="l">
              <a:lnSpc>
                <a:spcPct val="100000"/>
              </a:lnSpc>
              <a:spcBef>
                <a:spcPts val="400"/>
              </a:spcBef>
            </a:pPr>
            <a:r>
              <a:rPr sz="1800" b="0">
                <a:solidFill>
                  <a:srgbClr val="5F6670"/>
                </a:solidFill>
                <a:latin typeface="Arial"/>
              </a:rPr>
              <a:t>Yerevan, Armenia · October 2026</a:t>
            </a:r>
          </a:p>
        </p:txBody>
      </p:sp>
      <p:pic>
        <p:nvPicPr>
          <p:cNvPr id="12" name="Picture 11" descr="kad-wordmark.png"/>
          <p:cNvPicPr>
            <a:picLocks noChangeAspect="1"/>
          </p:cNvPicPr>
          <p:nvPr/>
        </p:nvPicPr>
        <p:blipFill>
          <a:blip r:embed="rId5"/>
          <a:stretch>
            <a:fillRect/>
          </a:stretch>
        </p:blipFill>
        <p:spPr>
          <a:xfrm>
            <a:off x="640080" y="5440680"/>
            <a:ext cx="1786187" cy="365760"/>
          </a:xfrm>
          <a:prstGeom prst="rect">
            <a:avLst/>
          </a:prstGeom>
        </p:spPr>
      </p:pic>
      <p:sp>
        <p:nvSpPr>
          <p:cNvPr id="13" name="Rounded Rectangle 12"/>
          <p:cNvSpPr/>
          <p:nvPr/>
        </p:nvSpPr>
        <p:spPr>
          <a:xfrm>
            <a:off x="2514600" y="5212080"/>
            <a:ext cx="2194560" cy="822960"/>
          </a:xfrm>
          <a:prstGeom prst="roundRect">
            <a:avLst>
              <a:gd name="adj" fmla="val 8888"/>
            </a:avLst>
          </a:prstGeom>
          <a:noFill/>
          <a:ln w="15875">
            <a:solidFill>
              <a:srgbClr val="5F6670"/>
            </a:solidFill>
            <a:prstDash val="dash"/>
          </a:ln>
          <a:effectLst/>
        </p:spPr>
        <p:txBody>
          <a:bodyPr rtlCol="0" anchor="ctr"/>
          <a:lstStyle/>
          <a:p/>
        </p:txBody>
      </p:sp>
      <p:sp>
        <p:nvSpPr>
          <p:cNvPr id="14" name="TextBox 13"/>
          <p:cNvSpPr txBox="1"/>
          <p:nvPr/>
        </p:nvSpPr>
        <p:spPr>
          <a:xfrm>
            <a:off x="2514600" y="5212080"/>
            <a:ext cx="2194560" cy="822960"/>
          </a:xfrm>
          <a:prstGeom prst="rect">
            <a:avLst/>
          </a:prstGeom>
          <a:noFill/>
        </p:spPr>
        <p:txBody>
          <a:bodyPr wrap="square" lIns="0" rIns="0" tIns="0" bIns="0" anchor="ctr">
            <a:spAutoFit/>
          </a:bodyPr>
          <a:lstStyle/>
          <a:p>
            <a:pPr algn="ctr">
              <a:lnSpc>
                <a:spcPct val="100000"/>
              </a:lnSpc>
            </a:pPr>
            <a:r>
              <a:rPr sz="1100" b="1">
                <a:solidFill>
                  <a:srgbClr val="5F6670"/>
                </a:solidFill>
                <a:latin typeface="Arial"/>
              </a:rPr>
              <a:t>CASTROL LOGO</a:t>
            </a:r>
          </a:p>
          <a:p>
            <a:pPr algn="ctr">
              <a:lnSpc>
                <a:spcPct val="100000"/>
              </a:lnSpc>
            </a:pPr>
            <a:r>
              <a:rPr sz="900" b="0">
                <a:solidFill>
                  <a:srgbClr val="5F6670"/>
                </a:solidFill>
                <a:latin typeface="Arial"/>
              </a:rPr>
              <a:t>place official asset here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KAD MOTORS AT A GLANCE</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A growing Castrol distributor with one goal: No. 1 in Armenia</a:t>
            </a:r>
          </a:p>
        </p:txBody>
      </p:sp>
      <p:sp>
        <p:nvSpPr>
          <p:cNvPr id="6" name="Rounded Rectangle 5"/>
          <p:cNvSpPr/>
          <p:nvPr/>
        </p:nvSpPr>
        <p:spPr>
          <a:xfrm>
            <a:off x="548640" y="1965960"/>
            <a:ext cx="1920240" cy="1737360"/>
          </a:xfrm>
          <a:prstGeom prst="roundRect">
            <a:avLst>
              <a:gd name="adj" fmla="val 6315"/>
            </a:avLst>
          </a:prstGeom>
          <a:solidFill>
            <a:srgbClr val="F4F5F6"/>
          </a:solidFill>
          <a:ln>
            <a:noFill/>
          </a:ln>
          <a:effectLst/>
        </p:spPr>
        <p:txBody>
          <a:bodyPr rtlCol="0" anchor="ctr"/>
          <a:lstStyle/>
          <a:p/>
        </p:txBody>
      </p:sp>
      <p:sp>
        <p:nvSpPr>
          <p:cNvPr id="7" name="TextBox 6"/>
          <p:cNvSpPr txBox="1"/>
          <p:nvPr/>
        </p:nvSpPr>
        <p:spPr>
          <a:xfrm>
            <a:off x="731520" y="2148840"/>
            <a:ext cx="1645920" cy="640080"/>
          </a:xfrm>
          <a:prstGeom prst="rect">
            <a:avLst/>
          </a:prstGeom>
          <a:noFill/>
        </p:spPr>
        <p:txBody>
          <a:bodyPr wrap="square" lIns="0" rIns="0" tIns="0" bIns="0" anchor="t">
            <a:spAutoFit/>
          </a:bodyPr>
          <a:lstStyle/>
          <a:p>
            <a:pPr algn="l">
              <a:lnSpc>
                <a:spcPct val="100000"/>
              </a:lnSpc>
            </a:pPr>
            <a:r>
              <a:rPr sz="3200" b="1">
                <a:solidFill>
                  <a:srgbClr val="009343"/>
                </a:solidFill>
                <a:latin typeface="Arial"/>
              </a:rPr>
              <a:t>415</a:t>
            </a:r>
          </a:p>
        </p:txBody>
      </p:sp>
      <p:sp>
        <p:nvSpPr>
          <p:cNvPr id="8" name="TextBox 7"/>
          <p:cNvSpPr txBox="1"/>
          <p:nvPr/>
        </p:nvSpPr>
        <p:spPr>
          <a:xfrm>
            <a:off x="731520" y="2834640"/>
            <a:ext cx="1600200" cy="73152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customer accounts in our ERP</a:t>
            </a:r>
          </a:p>
        </p:txBody>
      </p:sp>
      <p:sp>
        <p:nvSpPr>
          <p:cNvPr id="9" name="Rounded Rectangle 8"/>
          <p:cNvSpPr/>
          <p:nvPr/>
        </p:nvSpPr>
        <p:spPr>
          <a:xfrm>
            <a:off x="2624328" y="1965960"/>
            <a:ext cx="1920240" cy="1737360"/>
          </a:xfrm>
          <a:prstGeom prst="roundRect">
            <a:avLst>
              <a:gd name="adj" fmla="val 6315"/>
            </a:avLst>
          </a:prstGeom>
          <a:solidFill>
            <a:srgbClr val="F4F5F6"/>
          </a:solidFill>
          <a:ln>
            <a:noFill/>
          </a:ln>
          <a:effectLst/>
        </p:spPr>
        <p:txBody>
          <a:bodyPr rtlCol="0" anchor="ctr"/>
          <a:lstStyle/>
          <a:p/>
        </p:txBody>
      </p:sp>
      <p:sp>
        <p:nvSpPr>
          <p:cNvPr id="10" name="TextBox 9"/>
          <p:cNvSpPr txBox="1"/>
          <p:nvPr/>
        </p:nvSpPr>
        <p:spPr>
          <a:xfrm>
            <a:off x="2807208" y="2148840"/>
            <a:ext cx="1645920" cy="640080"/>
          </a:xfrm>
          <a:prstGeom prst="rect">
            <a:avLst/>
          </a:prstGeom>
          <a:noFill/>
        </p:spPr>
        <p:txBody>
          <a:bodyPr wrap="square" lIns="0" rIns="0" tIns="0" bIns="0" anchor="t">
            <a:spAutoFit/>
          </a:bodyPr>
          <a:lstStyle/>
          <a:p>
            <a:pPr algn="l">
              <a:lnSpc>
                <a:spcPct val="100000"/>
              </a:lnSpc>
            </a:pPr>
            <a:r>
              <a:rPr sz="3200" b="1">
                <a:solidFill>
                  <a:srgbClr val="009343"/>
                </a:solidFill>
                <a:latin typeface="Arial"/>
              </a:rPr>
              <a:t>10 of 11</a:t>
            </a:r>
          </a:p>
        </p:txBody>
      </p:sp>
      <p:sp>
        <p:nvSpPr>
          <p:cNvPr id="11" name="TextBox 10"/>
          <p:cNvSpPr txBox="1"/>
          <p:nvPr/>
        </p:nvSpPr>
        <p:spPr>
          <a:xfrm>
            <a:off x="2807208" y="2834640"/>
            <a:ext cx="1600200" cy="73152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Armenian regions with customers</a:t>
            </a:r>
          </a:p>
        </p:txBody>
      </p:sp>
      <p:sp>
        <p:nvSpPr>
          <p:cNvPr id="12" name="Rounded Rectangle 11"/>
          <p:cNvSpPr/>
          <p:nvPr/>
        </p:nvSpPr>
        <p:spPr>
          <a:xfrm>
            <a:off x="4700016" y="1965960"/>
            <a:ext cx="1920240" cy="1737360"/>
          </a:xfrm>
          <a:prstGeom prst="roundRect">
            <a:avLst>
              <a:gd name="adj" fmla="val 6315"/>
            </a:avLst>
          </a:prstGeom>
          <a:solidFill>
            <a:srgbClr val="F4F5F6"/>
          </a:solidFill>
          <a:ln>
            <a:noFill/>
          </a:ln>
          <a:effectLst/>
        </p:spPr>
        <p:txBody>
          <a:bodyPr rtlCol="0" anchor="ctr"/>
          <a:lstStyle/>
          <a:p/>
        </p:txBody>
      </p:sp>
      <p:sp>
        <p:nvSpPr>
          <p:cNvPr id="13" name="TextBox 12"/>
          <p:cNvSpPr txBox="1"/>
          <p:nvPr/>
        </p:nvSpPr>
        <p:spPr>
          <a:xfrm>
            <a:off x="4882896" y="2148840"/>
            <a:ext cx="1645920" cy="640080"/>
          </a:xfrm>
          <a:prstGeom prst="rect">
            <a:avLst/>
          </a:prstGeom>
          <a:noFill/>
        </p:spPr>
        <p:txBody>
          <a:bodyPr wrap="square" lIns="0" rIns="0" tIns="0" bIns="0" anchor="t">
            <a:spAutoFit/>
          </a:bodyPr>
          <a:lstStyle/>
          <a:p>
            <a:pPr algn="l">
              <a:lnSpc>
                <a:spcPct val="100000"/>
              </a:lnSpc>
            </a:pPr>
            <a:r>
              <a:rPr sz="3200" b="1">
                <a:solidFill>
                  <a:srgbClr val="009343"/>
                </a:solidFill>
                <a:latin typeface="Arial"/>
              </a:rPr>
              <a:t>38.8k L</a:t>
            </a:r>
          </a:p>
        </p:txBody>
      </p:sp>
      <p:sp>
        <p:nvSpPr>
          <p:cNvPr id="14" name="TextBox 13"/>
          <p:cNvSpPr txBox="1"/>
          <p:nvPr/>
        </p:nvSpPr>
        <p:spPr>
          <a:xfrm>
            <a:off x="4882896" y="2834640"/>
            <a:ext cx="1600200" cy="73152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Castrol sold, 1 Jan – 8 Oct 2026</a:t>
            </a:r>
          </a:p>
        </p:txBody>
      </p:sp>
      <p:sp>
        <p:nvSpPr>
          <p:cNvPr id="15" name="TextBox 14"/>
          <p:cNvSpPr txBox="1"/>
          <p:nvPr/>
        </p:nvSpPr>
        <p:spPr>
          <a:xfrm>
            <a:off x="548640" y="4069080"/>
            <a:ext cx="6035040" cy="274320"/>
          </a:xfrm>
          <a:prstGeom prst="rect">
            <a:avLst/>
          </a:prstGeom>
          <a:noFill/>
        </p:spPr>
        <p:txBody>
          <a:bodyPr wrap="square" lIns="0" rIns="0" tIns="0" bIns="0" anchor="t">
            <a:spAutoFit/>
          </a:bodyPr>
          <a:lstStyle/>
          <a:p>
            <a:pPr algn="l">
              <a:lnSpc>
                <a:spcPct val="100000"/>
              </a:lnSpc>
            </a:pPr>
            <a:r>
              <a:rPr sz="1200" b="1">
                <a:solidFill>
                  <a:srgbClr val="5F6670"/>
                </a:solidFill>
                <a:latin typeface="Arial"/>
              </a:rPr>
              <a:t>WHO WE SERVE</a:t>
            </a:r>
          </a:p>
        </p:txBody>
      </p:sp>
      <p:sp>
        <p:nvSpPr>
          <p:cNvPr id="16" name="Oval 15"/>
          <p:cNvSpPr/>
          <p:nvPr/>
        </p:nvSpPr>
        <p:spPr>
          <a:xfrm>
            <a:off x="896112" y="4480560"/>
            <a:ext cx="713232" cy="713232"/>
          </a:xfrm>
          <a:prstGeom prst="ellipse">
            <a:avLst/>
          </a:prstGeom>
          <a:solidFill>
            <a:srgbClr val="E6F4EC"/>
          </a:solidFill>
          <a:ln>
            <a:noFill/>
          </a:ln>
          <a:effectLst/>
        </p:spPr>
        <p:txBody>
          <a:bodyPr rtlCol="0" anchor="ctr"/>
          <a:lstStyle/>
          <a:p>
            <a:pPr algn="ctr"/>
          </a:p>
        </p:txBody>
      </p:sp>
      <p:pic>
        <p:nvPicPr>
          <p:cNvPr id="17" name="Picture 16" descr="gauge_g.png"/>
          <p:cNvPicPr>
            <a:picLocks noChangeAspect="1"/>
          </p:cNvPicPr>
          <p:nvPr/>
        </p:nvPicPr>
        <p:blipFill>
          <a:blip r:embed="rId2"/>
          <a:stretch>
            <a:fillRect/>
          </a:stretch>
        </p:blipFill>
        <p:spPr>
          <a:xfrm>
            <a:off x="1053023" y="4637471"/>
            <a:ext cx="399409" cy="399409"/>
          </a:xfrm>
          <a:prstGeom prst="rect">
            <a:avLst/>
          </a:prstGeom>
        </p:spPr>
      </p:pic>
      <p:sp>
        <p:nvSpPr>
          <p:cNvPr id="18" name="TextBox 17"/>
          <p:cNvSpPr txBox="1"/>
          <p:nvPr/>
        </p:nvSpPr>
        <p:spPr>
          <a:xfrm>
            <a:off x="548640"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Workshops &amp; garages</a:t>
            </a:r>
          </a:p>
        </p:txBody>
      </p:sp>
      <p:sp>
        <p:nvSpPr>
          <p:cNvPr id="19" name="Oval 18"/>
          <p:cNvSpPr/>
          <p:nvPr/>
        </p:nvSpPr>
        <p:spPr>
          <a:xfrm>
            <a:off x="2450591" y="4480560"/>
            <a:ext cx="713232" cy="713232"/>
          </a:xfrm>
          <a:prstGeom prst="ellipse">
            <a:avLst/>
          </a:prstGeom>
          <a:solidFill>
            <a:srgbClr val="E6F4EC"/>
          </a:solidFill>
          <a:ln>
            <a:noFill/>
          </a:ln>
          <a:effectLst/>
        </p:spPr>
        <p:txBody>
          <a:bodyPr rtlCol="0" anchor="ctr"/>
          <a:lstStyle/>
          <a:p>
            <a:pPr algn="ctr"/>
          </a:p>
        </p:txBody>
      </p:sp>
      <p:pic>
        <p:nvPicPr>
          <p:cNvPr id="20" name="Picture 19" descr="repeat_g.png"/>
          <p:cNvPicPr>
            <a:picLocks noChangeAspect="1"/>
          </p:cNvPicPr>
          <p:nvPr/>
        </p:nvPicPr>
        <p:blipFill>
          <a:blip r:embed="rId3"/>
          <a:stretch>
            <a:fillRect/>
          </a:stretch>
        </p:blipFill>
        <p:spPr>
          <a:xfrm>
            <a:off x="2607503" y="4637471"/>
            <a:ext cx="399409" cy="399409"/>
          </a:xfrm>
          <a:prstGeom prst="rect">
            <a:avLst/>
          </a:prstGeom>
        </p:spPr>
      </p:pic>
      <p:sp>
        <p:nvSpPr>
          <p:cNvPr id="21" name="TextBox 20"/>
          <p:cNvSpPr txBox="1"/>
          <p:nvPr/>
        </p:nvSpPr>
        <p:spPr>
          <a:xfrm>
            <a:off x="2103120"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Oil-change points</a:t>
            </a:r>
          </a:p>
        </p:txBody>
      </p:sp>
      <p:sp>
        <p:nvSpPr>
          <p:cNvPr id="22" name="Oval 21"/>
          <p:cNvSpPr/>
          <p:nvPr/>
        </p:nvSpPr>
        <p:spPr>
          <a:xfrm>
            <a:off x="4005072" y="4480560"/>
            <a:ext cx="713232" cy="713232"/>
          </a:xfrm>
          <a:prstGeom prst="ellipse">
            <a:avLst/>
          </a:prstGeom>
          <a:solidFill>
            <a:srgbClr val="E6F4EC"/>
          </a:solidFill>
          <a:ln>
            <a:noFill/>
          </a:ln>
          <a:effectLst/>
        </p:spPr>
        <p:txBody>
          <a:bodyPr rtlCol="0" anchor="ctr"/>
          <a:lstStyle/>
          <a:p>
            <a:pPr algn="ctr"/>
          </a:p>
        </p:txBody>
      </p:sp>
      <p:pic>
        <p:nvPicPr>
          <p:cNvPr id="23" name="Picture 22" descr="store_g.png"/>
          <p:cNvPicPr>
            <a:picLocks noChangeAspect="1"/>
          </p:cNvPicPr>
          <p:nvPr/>
        </p:nvPicPr>
        <p:blipFill>
          <a:blip r:embed="rId4"/>
          <a:stretch>
            <a:fillRect/>
          </a:stretch>
        </p:blipFill>
        <p:spPr>
          <a:xfrm>
            <a:off x="4161983" y="4637471"/>
            <a:ext cx="399409" cy="399409"/>
          </a:xfrm>
          <a:prstGeom prst="rect">
            <a:avLst/>
          </a:prstGeom>
        </p:spPr>
      </p:pic>
      <p:sp>
        <p:nvSpPr>
          <p:cNvPr id="24" name="TextBox 23"/>
          <p:cNvSpPr txBox="1"/>
          <p:nvPr/>
        </p:nvSpPr>
        <p:spPr>
          <a:xfrm>
            <a:off x="3657600"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Auto-parts shops</a:t>
            </a:r>
          </a:p>
        </p:txBody>
      </p:sp>
      <p:sp>
        <p:nvSpPr>
          <p:cNvPr id="25" name="Oval 24"/>
          <p:cNvSpPr/>
          <p:nvPr/>
        </p:nvSpPr>
        <p:spPr>
          <a:xfrm>
            <a:off x="5559551" y="4480560"/>
            <a:ext cx="713232" cy="713232"/>
          </a:xfrm>
          <a:prstGeom prst="ellipse">
            <a:avLst/>
          </a:prstGeom>
          <a:solidFill>
            <a:srgbClr val="E6F4EC"/>
          </a:solidFill>
          <a:ln>
            <a:noFill/>
          </a:ln>
          <a:effectLst/>
        </p:spPr>
        <p:txBody>
          <a:bodyPr rtlCol="0" anchor="ctr"/>
          <a:lstStyle/>
          <a:p>
            <a:pPr algn="ctr"/>
          </a:p>
        </p:txBody>
      </p:sp>
      <p:pic>
        <p:nvPicPr>
          <p:cNvPr id="26" name="Picture 25" descr="truck_g.png"/>
          <p:cNvPicPr>
            <a:picLocks noChangeAspect="1"/>
          </p:cNvPicPr>
          <p:nvPr/>
        </p:nvPicPr>
        <p:blipFill>
          <a:blip r:embed="rId5"/>
          <a:stretch>
            <a:fillRect/>
          </a:stretch>
        </p:blipFill>
        <p:spPr>
          <a:xfrm>
            <a:off x="5716463" y="4637471"/>
            <a:ext cx="399409" cy="399409"/>
          </a:xfrm>
          <a:prstGeom prst="rect">
            <a:avLst/>
          </a:prstGeom>
        </p:spPr>
      </p:pic>
      <p:sp>
        <p:nvSpPr>
          <p:cNvPr id="27" name="TextBox 26"/>
          <p:cNvSpPr txBox="1"/>
          <p:nvPr/>
        </p:nvSpPr>
        <p:spPr>
          <a:xfrm>
            <a:off x="5212079" y="5285232"/>
            <a:ext cx="1417320" cy="548640"/>
          </a:xfrm>
          <a:prstGeom prst="rect">
            <a:avLst/>
          </a:prstGeom>
          <a:noFill/>
        </p:spPr>
        <p:txBody>
          <a:bodyPr wrap="square" lIns="0" rIns="0" tIns="0" bIns="0" anchor="t">
            <a:spAutoFit/>
          </a:bodyPr>
          <a:lstStyle/>
          <a:p>
            <a:pPr algn="ctr">
              <a:lnSpc>
                <a:spcPct val="100000"/>
              </a:lnSpc>
            </a:pPr>
            <a:r>
              <a:rPr sz="1250" b="0">
                <a:solidFill>
                  <a:srgbClr val="23272B"/>
                </a:solidFill>
                <a:latin typeface="Arial"/>
              </a:rPr>
              <a:t>Fleets &amp; car dealers</a:t>
            </a:r>
          </a:p>
        </p:txBody>
      </p:sp>
      <p:sp>
        <p:nvSpPr>
          <p:cNvPr id="28" name="Rounded Rectangle 27"/>
          <p:cNvSpPr/>
          <p:nvPr/>
        </p:nvSpPr>
        <p:spPr>
          <a:xfrm>
            <a:off x="6995160" y="1965960"/>
            <a:ext cx="4645152" cy="3977639"/>
          </a:xfrm>
          <a:prstGeom prst="roundRect">
            <a:avLst>
              <a:gd name="adj" fmla="val 4137"/>
            </a:avLst>
          </a:prstGeom>
          <a:solidFill>
            <a:srgbClr val="009343"/>
          </a:solidFill>
          <a:ln>
            <a:noFill/>
          </a:ln>
          <a:effectLst/>
        </p:spPr>
        <p:txBody>
          <a:bodyPr rtlCol="0" anchor="ctr"/>
          <a:lstStyle/>
          <a:p/>
        </p:txBody>
      </p:sp>
      <p:sp>
        <p:nvSpPr>
          <p:cNvPr id="29" name="TextBox 28"/>
          <p:cNvSpPr txBox="1"/>
          <p:nvPr/>
        </p:nvSpPr>
        <p:spPr>
          <a:xfrm>
            <a:off x="7360920" y="2240280"/>
            <a:ext cx="4023360" cy="274320"/>
          </a:xfrm>
          <a:prstGeom prst="rect">
            <a:avLst/>
          </a:prstGeom>
          <a:noFill/>
        </p:spPr>
        <p:txBody>
          <a:bodyPr wrap="square" lIns="0" rIns="0" tIns="0" bIns="0" anchor="t">
            <a:spAutoFit/>
          </a:bodyPr>
          <a:lstStyle/>
          <a:p>
            <a:pPr algn="l">
              <a:lnSpc>
                <a:spcPct val="100000"/>
              </a:lnSpc>
            </a:pPr>
            <a:r>
              <a:rPr sz="1200" b="1">
                <a:solidFill>
                  <a:srgbClr val="FFFFFF"/>
                </a:solidFill>
                <a:latin typeface="Arial"/>
              </a:rPr>
              <a:t>OUR GOAL</a:t>
            </a:r>
          </a:p>
        </p:txBody>
      </p:sp>
      <p:sp>
        <p:nvSpPr>
          <p:cNvPr id="30" name="TextBox 29"/>
          <p:cNvSpPr txBox="1"/>
          <p:nvPr/>
        </p:nvSpPr>
        <p:spPr>
          <a:xfrm>
            <a:off x="7360920" y="2560320"/>
            <a:ext cx="4023360" cy="914400"/>
          </a:xfrm>
          <a:prstGeom prst="rect">
            <a:avLst/>
          </a:prstGeom>
          <a:noFill/>
        </p:spPr>
        <p:txBody>
          <a:bodyPr wrap="square" lIns="0" rIns="0" tIns="0" bIns="0" anchor="t">
            <a:spAutoFit/>
          </a:bodyPr>
          <a:lstStyle/>
          <a:p>
            <a:pPr algn="l">
              <a:lnSpc>
                <a:spcPct val="95000"/>
              </a:lnSpc>
            </a:pPr>
            <a:r>
              <a:rPr sz="2600" b="1">
                <a:solidFill>
                  <a:srgbClr val="FFFFFF"/>
                </a:solidFill>
                <a:latin typeface="Arial"/>
              </a:rPr>
              <a:t>No. 1 in Armenia's oil market</a:t>
            </a:r>
          </a:p>
        </p:txBody>
      </p:sp>
      <p:sp>
        <p:nvSpPr>
          <p:cNvPr id="31" name="Rounded Rectangle 30"/>
          <p:cNvSpPr/>
          <p:nvPr/>
        </p:nvSpPr>
        <p:spPr>
          <a:xfrm>
            <a:off x="7360920" y="3657600"/>
            <a:ext cx="1874519" cy="475488"/>
          </a:xfrm>
          <a:prstGeom prst="roundRect">
            <a:avLst>
              <a:gd name="adj" fmla="val 50000"/>
            </a:avLst>
          </a:prstGeom>
          <a:solidFill>
            <a:srgbClr val="006E32"/>
          </a:solidFill>
          <a:ln>
            <a:noFill/>
          </a:ln>
          <a:effectLst/>
        </p:spPr>
        <p:txBody>
          <a:bodyPr rtlCol="0" anchor="ctr"/>
          <a:lstStyle/>
          <a:p/>
        </p:txBody>
      </p:sp>
      <p:pic>
        <p:nvPicPr>
          <p:cNvPr id="32" name="Picture 31" descr="checkCircle_w.png"/>
          <p:cNvPicPr>
            <a:picLocks noChangeAspect="1"/>
          </p:cNvPicPr>
          <p:nvPr/>
        </p:nvPicPr>
        <p:blipFill>
          <a:blip r:embed="rId6"/>
          <a:stretch>
            <a:fillRect/>
          </a:stretch>
        </p:blipFill>
        <p:spPr>
          <a:xfrm>
            <a:off x="7452360" y="3730752"/>
            <a:ext cx="329184" cy="329184"/>
          </a:xfrm>
          <a:prstGeom prst="rect">
            <a:avLst/>
          </a:prstGeom>
        </p:spPr>
      </p:pic>
      <p:sp>
        <p:nvSpPr>
          <p:cNvPr id="33" name="TextBox 32"/>
          <p:cNvSpPr txBox="1"/>
          <p:nvPr/>
        </p:nvSpPr>
        <p:spPr>
          <a:xfrm>
            <a:off x="7863840" y="3749039"/>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Volume</a:t>
            </a:r>
          </a:p>
        </p:txBody>
      </p:sp>
      <p:sp>
        <p:nvSpPr>
          <p:cNvPr id="34" name="Rounded Rectangle 33"/>
          <p:cNvSpPr/>
          <p:nvPr/>
        </p:nvSpPr>
        <p:spPr>
          <a:xfrm>
            <a:off x="9372600" y="3657600"/>
            <a:ext cx="1874519" cy="475488"/>
          </a:xfrm>
          <a:prstGeom prst="roundRect">
            <a:avLst>
              <a:gd name="adj" fmla="val 50000"/>
            </a:avLst>
          </a:prstGeom>
          <a:solidFill>
            <a:srgbClr val="006E32"/>
          </a:solidFill>
          <a:ln>
            <a:noFill/>
          </a:ln>
          <a:effectLst/>
        </p:spPr>
        <p:txBody>
          <a:bodyPr rtlCol="0" anchor="ctr"/>
          <a:lstStyle/>
          <a:p/>
        </p:txBody>
      </p:sp>
      <p:pic>
        <p:nvPicPr>
          <p:cNvPr id="35" name="Picture 34" descr="checkCircle_w.png"/>
          <p:cNvPicPr>
            <a:picLocks noChangeAspect="1"/>
          </p:cNvPicPr>
          <p:nvPr/>
        </p:nvPicPr>
        <p:blipFill>
          <a:blip r:embed="rId6"/>
          <a:stretch>
            <a:fillRect/>
          </a:stretch>
        </p:blipFill>
        <p:spPr>
          <a:xfrm>
            <a:off x="9464040" y="3730752"/>
            <a:ext cx="329184" cy="329184"/>
          </a:xfrm>
          <a:prstGeom prst="rect">
            <a:avLst/>
          </a:prstGeom>
        </p:spPr>
      </p:pic>
      <p:sp>
        <p:nvSpPr>
          <p:cNvPr id="36" name="TextBox 35"/>
          <p:cNvSpPr txBox="1"/>
          <p:nvPr/>
        </p:nvSpPr>
        <p:spPr>
          <a:xfrm>
            <a:off x="9875520" y="3749039"/>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Revenue</a:t>
            </a:r>
          </a:p>
        </p:txBody>
      </p:sp>
      <p:sp>
        <p:nvSpPr>
          <p:cNvPr id="37" name="Rounded Rectangle 36"/>
          <p:cNvSpPr/>
          <p:nvPr/>
        </p:nvSpPr>
        <p:spPr>
          <a:xfrm>
            <a:off x="7360920" y="4279392"/>
            <a:ext cx="1874519" cy="475488"/>
          </a:xfrm>
          <a:prstGeom prst="roundRect">
            <a:avLst>
              <a:gd name="adj" fmla="val 50000"/>
            </a:avLst>
          </a:prstGeom>
          <a:solidFill>
            <a:srgbClr val="006E32"/>
          </a:solidFill>
          <a:ln>
            <a:noFill/>
          </a:ln>
          <a:effectLst/>
        </p:spPr>
        <p:txBody>
          <a:bodyPr rtlCol="0" anchor="ctr"/>
          <a:lstStyle/>
          <a:p/>
        </p:txBody>
      </p:sp>
      <p:pic>
        <p:nvPicPr>
          <p:cNvPr id="38" name="Picture 37" descr="checkCircle_w.png"/>
          <p:cNvPicPr>
            <a:picLocks noChangeAspect="1"/>
          </p:cNvPicPr>
          <p:nvPr/>
        </p:nvPicPr>
        <p:blipFill>
          <a:blip r:embed="rId6"/>
          <a:stretch>
            <a:fillRect/>
          </a:stretch>
        </p:blipFill>
        <p:spPr>
          <a:xfrm>
            <a:off x="7452360" y="4352544"/>
            <a:ext cx="329184" cy="329184"/>
          </a:xfrm>
          <a:prstGeom prst="rect">
            <a:avLst/>
          </a:prstGeom>
        </p:spPr>
      </p:pic>
      <p:sp>
        <p:nvSpPr>
          <p:cNvPr id="39" name="TextBox 38"/>
          <p:cNvSpPr txBox="1"/>
          <p:nvPr/>
        </p:nvSpPr>
        <p:spPr>
          <a:xfrm>
            <a:off x="7863840" y="4370831"/>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Reputation</a:t>
            </a:r>
          </a:p>
        </p:txBody>
      </p:sp>
      <p:sp>
        <p:nvSpPr>
          <p:cNvPr id="40" name="Rounded Rectangle 39"/>
          <p:cNvSpPr/>
          <p:nvPr/>
        </p:nvSpPr>
        <p:spPr>
          <a:xfrm>
            <a:off x="9372600" y="4279392"/>
            <a:ext cx="1874519" cy="475488"/>
          </a:xfrm>
          <a:prstGeom prst="roundRect">
            <a:avLst>
              <a:gd name="adj" fmla="val 50000"/>
            </a:avLst>
          </a:prstGeom>
          <a:solidFill>
            <a:srgbClr val="006E32"/>
          </a:solidFill>
          <a:ln>
            <a:noFill/>
          </a:ln>
          <a:effectLst/>
        </p:spPr>
        <p:txBody>
          <a:bodyPr rtlCol="0" anchor="ctr"/>
          <a:lstStyle/>
          <a:p/>
        </p:txBody>
      </p:sp>
      <p:pic>
        <p:nvPicPr>
          <p:cNvPr id="41" name="Picture 40" descr="checkCircle_w.png"/>
          <p:cNvPicPr>
            <a:picLocks noChangeAspect="1"/>
          </p:cNvPicPr>
          <p:nvPr/>
        </p:nvPicPr>
        <p:blipFill>
          <a:blip r:embed="rId6"/>
          <a:stretch>
            <a:fillRect/>
          </a:stretch>
        </p:blipFill>
        <p:spPr>
          <a:xfrm>
            <a:off x="9464040" y="4352544"/>
            <a:ext cx="329184" cy="329184"/>
          </a:xfrm>
          <a:prstGeom prst="rect">
            <a:avLst/>
          </a:prstGeom>
        </p:spPr>
      </p:pic>
      <p:sp>
        <p:nvSpPr>
          <p:cNvPr id="42" name="TextBox 41"/>
          <p:cNvSpPr txBox="1"/>
          <p:nvPr/>
        </p:nvSpPr>
        <p:spPr>
          <a:xfrm>
            <a:off x="9875520" y="4370831"/>
            <a:ext cx="13258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Arial"/>
              </a:rPr>
              <a:t>Technology</a:t>
            </a:r>
          </a:p>
        </p:txBody>
      </p:sp>
      <p:sp>
        <p:nvSpPr>
          <p:cNvPr id="43" name="Oval 42"/>
          <p:cNvSpPr/>
          <p:nvPr/>
        </p:nvSpPr>
        <p:spPr>
          <a:xfrm>
            <a:off x="7360920" y="5074920"/>
            <a:ext cx="502920" cy="502920"/>
          </a:xfrm>
          <a:prstGeom prst="ellipse">
            <a:avLst/>
          </a:prstGeom>
          <a:solidFill>
            <a:srgbClr val="FFFFFF"/>
          </a:solidFill>
          <a:ln>
            <a:noFill/>
          </a:ln>
          <a:effectLst/>
        </p:spPr>
        <p:txBody>
          <a:bodyPr rtlCol="0" anchor="ctr"/>
          <a:lstStyle/>
          <a:p>
            <a:pPr algn="ctr"/>
          </a:p>
        </p:txBody>
      </p:sp>
      <p:pic>
        <p:nvPicPr>
          <p:cNvPr id="44" name="Picture 43" descr="trendUp_g.png"/>
          <p:cNvPicPr>
            <a:picLocks noChangeAspect="1"/>
          </p:cNvPicPr>
          <p:nvPr/>
        </p:nvPicPr>
        <p:blipFill>
          <a:blip r:embed="rId7"/>
          <a:stretch>
            <a:fillRect/>
          </a:stretch>
        </p:blipFill>
        <p:spPr>
          <a:xfrm>
            <a:off x="7471562" y="5185562"/>
            <a:ext cx="281635" cy="281635"/>
          </a:xfrm>
          <a:prstGeom prst="rect">
            <a:avLst/>
          </a:prstGeom>
        </p:spPr>
      </p:pic>
      <p:sp>
        <p:nvSpPr>
          <p:cNvPr id="45" name="TextBox 44"/>
          <p:cNvSpPr txBox="1"/>
          <p:nvPr/>
        </p:nvSpPr>
        <p:spPr>
          <a:xfrm>
            <a:off x="8001000" y="5120640"/>
            <a:ext cx="3474720" cy="457200"/>
          </a:xfrm>
          <a:prstGeom prst="rect">
            <a:avLst/>
          </a:prstGeom>
          <a:noFill/>
        </p:spPr>
        <p:txBody>
          <a:bodyPr wrap="square" lIns="0" rIns="0" tIns="0" bIns="0" anchor="ctr">
            <a:spAutoFit/>
          </a:bodyPr>
          <a:lstStyle/>
          <a:p>
            <a:pPr algn="l">
              <a:lnSpc>
                <a:spcPct val="100000"/>
              </a:lnSpc>
            </a:pPr>
            <a:r>
              <a:rPr sz="1500" b="1">
                <a:solidFill>
                  <a:srgbClr val="FFFFFF"/>
                </a:solidFill>
                <a:latin typeface="Arial"/>
              </a:rPr>
              <a:t>Then: take the model beyond Armenia</a:t>
            </a:r>
          </a:p>
        </p:txBody>
      </p:sp>
      <p:cxnSp>
        <p:nvCxnSpPr>
          <p:cNvPr id="46" name="Connector 45"/>
          <p:cNvCxnSpPr/>
          <p:nvPr/>
        </p:nvCxnSpPr>
        <p:spPr>
          <a:xfrm>
            <a:off x="548640" y="6400800"/>
            <a:ext cx="11094415" cy="0"/>
          </a:xfrm>
          <a:prstGeom prst="line">
            <a:avLst/>
          </a:prstGeom>
          <a:ln w="9525">
            <a:solidFill>
              <a:srgbClr val="D9DEDB"/>
            </a:solidFill>
          </a:ln>
        </p:spPr>
      </p:cxnSp>
      <p:pic>
        <p:nvPicPr>
          <p:cNvPr id="47" name="Picture 46" descr="kad-wordmark.png"/>
          <p:cNvPicPr>
            <a:picLocks noChangeAspect="1"/>
          </p:cNvPicPr>
          <p:nvPr/>
        </p:nvPicPr>
        <p:blipFill>
          <a:blip r:embed="rId8"/>
          <a:stretch>
            <a:fillRect/>
          </a:stretch>
        </p:blipFill>
        <p:spPr>
          <a:xfrm>
            <a:off x="548640" y="6519672"/>
            <a:ext cx="759129" cy="155448"/>
          </a:xfrm>
          <a:prstGeom prst="rect">
            <a:avLst/>
          </a:prstGeom>
        </p:spPr>
      </p:pic>
      <p:sp>
        <p:nvSpPr>
          <p:cNvPr id="48" name="TextBox 47"/>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9" name="TextBox 48"/>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THE PROBLEM</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Distributor sales still run on Excel, calls and chats</a:t>
            </a:r>
          </a:p>
        </p:txBody>
      </p:sp>
      <p:sp>
        <p:nvSpPr>
          <p:cNvPr id="6" name="Rounded Rectangle 5"/>
          <p:cNvSpPr/>
          <p:nvPr/>
        </p:nvSpPr>
        <p:spPr>
          <a:xfrm>
            <a:off x="548640" y="1920240"/>
            <a:ext cx="2633472" cy="3063240"/>
          </a:xfrm>
          <a:prstGeom prst="roundRect">
            <a:avLst>
              <a:gd name="adj" fmla="val 4166"/>
            </a:avLst>
          </a:prstGeom>
          <a:solidFill>
            <a:srgbClr val="F4F5F6"/>
          </a:solidFill>
          <a:ln>
            <a:noFill/>
          </a:ln>
          <a:effectLst/>
        </p:spPr>
        <p:txBody>
          <a:bodyPr rtlCol="0" anchor="ctr"/>
          <a:lstStyle/>
          <a:p/>
        </p:txBody>
      </p:sp>
      <p:sp>
        <p:nvSpPr>
          <p:cNvPr id="7" name="Oval 6"/>
          <p:cNvSpPr/>
          <p:nvPr/>
        </p:nvSpPr>
        <p:spPr>
          <a:xfrm>
            <a:off x="822959" y="2212848"/>
            <a:ext cx="868680" cy="868680"/>
          </a:xfrm>
          <a:prstGeom prst="ellipse">
            <a:avLst/>
          </a:prstGeom>
          <a:solidFill>
            <a:srgbClr val="FDEBED"/>
          </a:solidFill>
          <a:ln>
            <a:noFill/>
          </a:ln>
          <a:effectLst/>
        </p:spPr>
        <p:txBody>
          <a:bodyPr rtlCol="0" anchor="ctr"/>
          <a:lstStyle/>
          <a:p>
            <a:pPr algn="ctr"/>
          </a:p>
        </p:txBody>
      </p:sp>
      <p:pic>
        <p:nvPicPr>
          <p:cNvPr id="8" name="Picture 7" descr="phone_r.png"/>
          <p:cNvPicPr>
            <a:picLocks noChangeAspect="1"/>
          </p:cNvPicPr>
          <p:nvPr/>
        </p:nvPicPr>
        <p:blipFill>
          <a:blip r:embed="rId2"/>
          <a:stretch>
            <a:fillRect/>
          </a:stretch>
        </p:blipFill>
        <p:spPr>
          <a:xfrm>
            <a:off x="1014069" y="2403957"/>
            <a:ext cx="486460" cy="486460"/>
          </a:xfrm>
          <a:prstGeom prst="rect">
            <a:avLst/>
          </a:prstGeom>
        </p:spPr>
      </p:pic>
      <p:sp>
        <p:nvSpPr>
          <p:cNvPr id="9" name="TextBox 8"/>
          <p:cNvSpPr txBox="1"/>
          <p:nvPr/>
        </p:nvSpPr>
        <p:spPr>
          <a:xfrm>
            <a:off x="822959" y="3310128"/>
            <a:ext cx="2148840" cy="731520"/>
          </a:xfrm>
          <a:prstGeom prst="rect">
            <a:avLst/>
          </a:prstGeom>
          <a:noFill/>
        </p:spPr>
        <p:txBody>
          <a:bodyPr wrap="square" lIns="0" rIns="0" tIns="0" bIns="0" anchor="t">
            <a:spAutoFit/>
          </a:bodyPr>
          <a:lstStyle/>
          <a:p>
            <a:pPr algn="l">
              <a:lnSpc>
                <a:spcPct val="95000"/>
              </a:lnSpc>
            </a:pPr>
            <a:r>
              <a:rPr sz="1900" b="1">
                <a:solidFill>
                  <a:srgbClr val="23272B"/>
                </a:solidFill>
                <a:latin typeface="Arial"/>
              </a:rPr>
              <a:t>Orders by phone and chat</a:t>
            </a:r>
          </a:p>
        </p:txBody>
      </p:sp>
      <p:sp>
        <p:nvSpPr>
          <p:cNvPr id="10" name="TextBox 9"/>
          <p:cNvSpPr txBox="1"/>
          <p:nvPr/>
        </p:nvSpPr>
        <p:spPr>
          <a:xfrm>
            <a:off x="822959" y="4069080"/>
            <a:ext cx="2148840" cy="822960"/>
          </a:xfrm>
          <a:prstGeom prst="rect">
            <a:avLst/>
          </a:prstGeom>
          <a:noFill/>
        </p:spPr>
        <p:txBody>
          <a:bodyPr wrap="square" lIns="0" rIns="0" tIns="0" bIns="0" anchor="t">
            <a:spAutoFit/>
          </a:bodyPr>
          <a:lstStyle/>
          <a:p>
            <a:pPr algn="l">
              <a:lnSpc>
                <a:spcPct val="100000"/>
              </a:lnSpc>
            </a:pPr>
            <a:r>
              <a:rPr sz="1400" b="0">
                <a:solidFill>
                  <a:srgbClr val="5F6670"/>
                </a:solidFill>
                <a:latin typeface="Arial"/>
              </a:rPr>
              <a:t>Re-typed by hand, with errors and delays.</a:t>
            </a:r>
          </a:p>
        </p:txBody>
      </p:sp>
      <p:sp>
        <p:nvSpPr>
          <p:cNvPr id="11" name="Rounded Rectangle 10"/>
          <p:cNvSpPr/>
          <p:nvPr/>
        </p:nvSpPr>
        <p:spPr>
          <a:xfrm>
            <a:off x="3364992" y="1920240"/>
            <a:ext cx="2633472" cy="3063240"/>
          </a:xfrm>
          <a:prstGeom prst="roundRect">
            <a:avLst>
              <a:gd name="adj" fmla="val 4166"/>
            </a:avLst>
          </a:prstGeom>
          <a:solidFill>
            <a:srgbClr val="F4F5F6"/>
          </a:solidFill>
          <a:ln>
            <a:noFill/>
          </a:ln>
          <a:effectLst/>
        </p:spPr>
        <p:txBody>
          <a:bodyPr rtlCol="0" anchor="ctr"/>
          <a:lstStyle/>
          <a:p/>
        </p:txBody>
      </p:sp>
      <p:sp>
        <p:nvSpPr>
          <p:cNvPr id="12" name="Oval 11"/>
          <p:cNvSpPr/>
          <p:nvPr/>
        </p:nvSpPr>
        <p:spPr>
          <a:xfrm>
            <a:off x="3639312" y="2212848"/>
            <a:ext cx="868680" cy="868680"/>
          </a:xfrm>
          <a:prstGeom prst="ellipse">
            <a:avLst/>
          </a:prstGeom>
          <a:solidFill>
            <a:srgbClr val="FDEBED"/>
          </a:solidFill>
          <a:ln>
            <a:noFill/>
          </a:ln>
          <a:effectLst/>
        </p:spPr>
        <p:txBody>
          <a:bodyPr rtlCol="0" anchor="ctr"/>
          <a:lstStyle/>
          <a:p>
            <a:pPr algn="ctr"/>
          </a:p>
        </p:txBody>
      </p:sp>
      <p:pic>
        <p:nvPicPr>
          <p:cNvPr id="13" name="Picture 12" descr="mapWarning_r.png"/>
          <p:cNvPicPr>
            <a:picLocks noChangeAspect="1"/>
          </p:cNvPicPr>
          <p:nvPr/>
        </p:nvPicPr>
        <p:blipFill>
          <a:blip r:embed="rId3"/>
          <a:stretch>
            <a:fillRect/>
          </a:stretch>
        </p:blipFill>
        <p:spPr>
          <a:xfrm>
            <a:off x="3830421" y="2403957"/>
            <a:ext cx="486460" cy="486460"/>
          </a:xfrm>
          <a:prstGeom prst="rect">
            <a:avLst/>
          </a:prstGeom>
        </p:spPr>
      </p:pic>
      <p:sp>
        <p:nvSpPr>
          <p:cNvPr id="14" name="TextBox 13"/>
          <p:cNvSpPr txBox="1"/>
          <p:nvPr/>
        </p:nvSpPr>
        <p:spPr>
          <a:xfrm>
            <a:off x="3639312" y="3310128"/>
            <a:ext cx="2148840" cy="731520"/>
          </a:xfrm>
          <a:prstGeom prst="rect">
            <a:avLst/>
          </a:prstGeom>
          <a:noFill/>
        </p:spPr>
        <p:txBody>
          <a:bodyPr wrap="square" lIns="0" rIns="0" tIns="0" bIns="0" anchor="t">
            <a:spAutoFit/>
          </a:bodyPr>
          <a:lstStyle/>
          <a:p>
            <a:pPr algn="l">
              <a:lnSpc>
                <a:spcPct val="95000"/>
              </a:lnSpc>
            </a:pPr>
            <a:r>
              <a:rPr sz="1900" b="1">
                <a:solidFill>
                  <a:srgbClr val="23272B"/>
                </a:solidFill>
                <a:latin typeface="Arial"/>
              </a:rPr>
              <a:t>No proof of visits</a:t>
            </a:r>
          </a:p>
        </p:txBody>
      </p:sp>
      <p:sp>
        <p:nvSpPr>
          <p:cNvPr id="15" name="TextBox 14"/>
          <p:cNvSpPr txBox="1"/>
          <p:nvPr/>
        </p:nvSpPr>
        <p:spPr>
          <a:xfrm>
            <a:off x="3639312" y="4069080"/>
            <a:ext cx="2148840" cy="822960"/>
          </a:xfrm>
          <a:prstGeom prst="rect">
            <a:avLst/>
          </a:prstGeom>
          <a:noFill/>
        </p:spPr>
        <p:txBody>
          <a:bodyPr wrap="square" lIns="0" rIns="0" tIns="0" bIns="0" anchor="t">
            <a:spAutoFit/>
          </a:bodyPr>
          <a:lstStyle/>
          <a:p>
            <a:pPr algn="l">
              <a:lnSpc>
                <a:spcPct val="100000"/>
              </a:lnSpc>
            </a:pPr>
            <a:r>
              <a:rPr sz="1400" b="0">
                <a:solidFill>
                  <a:srgbClr val="5F6670"/>
                </a:solidFill>
                <a:latin typeface="Arial"/>
              </a:rPr>
              <a:t>Who visited which outlet, and when?</a:t>
            </a:r>
          </a:p>
        </p:txBody>
      </p:sp>
      <p:sp>
        <p:nvSpPr>
          <p:cNvPr id="16" name="Rounded Rectangle 15"/>
          <p:cNvSpPr/>
          <p:nvPr/>
        </p:nvSpPr>
        <p:spPr>
          <a:xfrm>
            <a:off x="6181344" y="1920240"/>
            <a:ext cx="2633472" cy="3063240"/>
          </a:xfrm>
          <a:prstGeom prst="roundRect">
            <a:avLst>
              <a:gd name="adj" fmla="val 4166"/>
            </a:avLst>
          </a:prstGeom>
          <a:solidFill>
            <a:srgbClr val="F4F5F6"/>
          </a:solidFill>
          <a:ln>
            <a:noFill/>
          </a:ln>
          <a:effectLst/>
        </p:spPr>
        <p:txBody>
          <a:bodyPr rtlCol="0" anchor="ctr"/>
          <a:lstStyle/>
          <a:p/>
        </p:txBody>
      </p:sp>
      <p:sp>
        <p:nvSpPr>
          <p:cNvPr id="17" name="Oval 16"/>
          <p:cNvSpPr/>
          <p:nvPr/>
        </p:nvSpPr>
        <p:spPr>
          <a:xfrm>
            <a:off x="6455664" y="2212848"/>
            <a:ext cx="868680" cy="868680"/>
          </a:xfrm>
          <a:prstGeom prst="ellipse">
            <a:avLst/>
          </a:prstGeom>
          <a:solidFill>
            <a:srgbClr val="FDEBED"/>
          </a:solidFill>
          <a:ln>
            <a:noFill/>
          </a:ln>
          <a:effectLst/>
        </p:spPr>
        <p:txBody>
          <a:bodyPr rtlCol="0" anchor="ctr"/>
          <a:lstStyle/>
          <a:p>
            <a:pPr algn="ctr"/>
          </a:p>
        </p:txBody>
      </p:sp>
      <p:pic>
        <p:nvPicPr>
          <p:cNvPr id="18" name="Picture 17" descr="clock_r.png"/>
          <p:cNvPicPr>
            <a:picLocks noChangeAspect="1"/>
          </p:cNvPicPr>
          <p:nvPr/>
        </p:nvPicPr>
        <p:blipFill>
          <a:blip r:embed="rId4"/>
          <a:stretch>
            <a:fillRect/>
          </a:stretch>
        </p:blipFill>
        <p:spPr>
          <a:xfrm>
            <a:off x="6646773" y="2403957"/>
            <a:ext cx="486460" cy="486460"/>
          </a:xfrm>
          <a:prstGeom prst="rect">
            <a:avLst/>
          </a:prstGeom>
        </p:spPr>
      </p:pic>
      <p:sp>
        <p:nvSpPr>
          <p:cNvPr id="19" name="TextBox 18"/>
          <p:cNvSpPr txBox="1"/>
          <p:nvPr/>
        </p:nvSpPr>
        <p:spPr>
          <a:xfrm>
            <a:off x="6455664" y="3310128"/>
            <a:ext cx="2148840" cy="731520"/>
          </a:xfrm>
          <a:prstGeom prst="rect">
            <a:avLst/>
          </a:prstGeom>
          <a:noFill/>
        </p:spPr>
        <p:txBody>
          <a:bodyPr wrap="square" lIns="0" rIns="0" tIns="0" bIns="0" anchor="t">
            <a:spAutoFit/>
          </a:bodyPr>
          <a:lstStyle/>
          <a:p>
            <a:pPr algn="l">
              <a:lnSpc>
                <a:spcPct val="95000"/>
              </a:lnSpc>
            </a:pPr>
            <a:r>
              <a:rPr sz="1900" b="1">
                <a:solidFill>
                  <a:srgbClr val="23272B"/>
                </a:solidFill>
                <a:latin typeface="Arial"/>
              </a:rPr>
              <a:t>Late debt data</a:t>
            </a:r>
          </a:p>
        </p:txBody>
      </p:sp>
      <p:sp>
        <p:nvSpPr>
          <p:cNvPr id="20" name="TextBox 19"/>
          <p:cNvSpPr txBox="1"/>
          <p:nvPr/>
        </p:nvSpPr>
        <p:spPr>
          <a:xfrm>
            <a:off x="6455664" y="4069080"/>
            <a:ext cx="2148840" cy="822960"/>
          </a:xfrm>
          <a:prstGeom prst="rect">
            <a:avLst/>
          </a:prstGeom>
          <a:noFill/>
        </p:spPr>
        <p:txBody>
          <a:bodyPr wrap="square" lIns="0" rIns="0" tIns="0" bIns="0" anchor="t">
            <a:spAutoFit/>
          </a:bodyPr>
          <a:lstStyle/>
          <a:p>
            <a:pPr algn="l">
              <a:lnSpc>
                <a:spcPct val="100000"/>
              </a:lnSpc>
            </a:pPr>
            <a:r>
              <a:rPr sz="1400" b="0">
                <a:solidFill>
                  <a:srgbClr val="5F6670"/>
                </a:solidFill>
                <a:latin typeface="Arial"/>
              </a:rPr>
              <a:t>Reps collect without current balances.</a:t>
            </a:r>
          </a:p>
        </p:txBody>
      </p:sp>
      <p:sp>
        <p:nvSpPr>
          <p:cNvPr id="21" name="Rounded Rectangle 20"/>
          <p:cNvSpPr/>
          <p:nvPr/>
        </p:nvSpPr>
        <p:spPr>
          <a:xfrm>
            <a:off x="8997696" y="1920240"/>
            <a:ext cx="2633472" cy="3063240"/>
          </a:xfrm>
          <a:prstGeom prst="roundRect">
            <a:avLst>
              <a:gd name="adj" fmla="val 4166"/>
            </a:avLst>
          </a:prstGeom>
          <a:solidFill>
            <a:srgbClr val="F4F5F6"/>
          </a:solidFill>
          <a:ln>
            <a:noFill/>
          </a:ln>
          <a:effectLst/>
        </p:spPr>
        <p:txBody>
          <a:bodyPr rtlCol="0" anchor="ctr"/>
          <a:lstStyle/>
          <a:p/>
        </p:txBody>
      </p:sp>
      <p:sp>
        <p:nvSpPr>
          <p:cNvPr id="22" name="Oval 21"/>
          <p:cNvSpPr/>
          <p:nvPr/>
        </p:nvSpPr>
        <p:spPr>
          <a:xfrm>
            <a:off x="9272016" y="2212848"/>
            <a:ext cx="868680" cy="868680"/>
          </a:xfrm>
          <a:prstGeom prst="ellipse">
            <a:avLst/>
          </a:prstGeom>
          <a:solidFill>
            <a:srgbClr val="FDEBED"/>
          </a:solidFill>
          <a:ln>
            <a:noFill/>
          </a:ln>
          <a:effectLst/>
        </p:spPr>
        <p:txBody>
          <a:bodyPr rtlCol="0" anchor="ctr"/>
          <a:lstStyle/>
          <a:p>
            <a:pPr algn="ctr"/>
          </a:p>
        </p:txBody>
      </p:sp>
      <p:pic>
        <p:nvPicPr>
          <p:cNvPr id="23" name="Picture 22" descr="store_r.png"/>
          <p:cNvPicPr>
            <a:picLocks noChangeAspect="1"/>
          </p:cNvPicPr>
          <p:nvPr/>
        </p:nvPicPr>
        <p:blipFill>
          <a:blip r:embed="rId5"/>
          <a:stretch>
            <a:fillRect/>
          </a:stretch>
        </p:blipFill>
        <p:spPr>
          <a:xfrm>
            <a:off x="9463125" y="2403957"/>
            <a:ext cx="486460" cy="486460"/>
          </a:xfrm>
          <a:prstGeom prst="rect">
            <a:avLst/>
          </a:prstGeom>
        </p:spPr>
      </p:pic>
      <p:sp>
        <p:nvSpPr>
          <p:cNvPr id="24" name="TextBox 23"/>
          <p:cNvSpPr txBox="1"/>
          <p:nvPr/>
        </p:nvSpPr>
        <p:spPr>
          <a:xfrm>
            <a:off x="9272016" y="3310128"/>
            <a:ext cx="2148840" cy="731520"/>
          </a:xfrm>
          <a:prstGeom prst="rect">
            <a:avLst/>
          </a:prstGeom>
          <a:noFill/>
        </p:spPr>
        <p:txBody>
          <a:bodyPr wrap="square" lIns="0" rIns="0" tIns="0" bIns="0" anchor="t">
            <a:spAutoFit/>
          </a:bodyPr>
          <a:lstStyle/>
          <a:p>
            <a:pPr algn="l">
              <a:lnSpc>
                <a:spcPct val="95000"/>
              </a:lnSpc>
            </a:pPr>
            <a:r>
              <a:rPr sz="1900" b="1">
                <a:solidFill>
                  <a:srgbClr val="23272B"/>
                </a:solidFill>
                <a:latin typeface="Arial"/>
              </a:rPr>
              <a:t>No shelf visibility</a:t>
            </a:r>
          </a:p>
        </p:txBody>
      </p:sp>
      <p:sp>
        <p:nvSpPr>
          <p:cNvPr id="25" name="TextBox 24"/>
          <p:cNvSpPr txBox="1"/>
          <p:nvPr/>
        </p:nvSpPr>
        <p:spPr>
          <a:xfrm>
            <a:off x="9272016" y="4069080"/>
            <a:ext cx="2148840" cy="822960"/>
          </a:xfrm>
          <a:prstGeom prst="rect">
            <a:avLst/>
          </a:prstGeom>
          <a:noFill/>
        </p:spPr>
        <p:txBody>
          <a:bodyPr wrap="square" lIns="0" rIns="0" tIns="0" bIns="0" anchor="t">
            <a:spAutoFit/>
          </a:bodyPr>
          <a:lstStyle/>
          <a:p>
            <a:pPr algn="l">
              <a:lnSpc>
                <a:spcPct val="100000"/>
              </a:lnSpc>
            </a:pPr>
            <a:r>
              <a:rPr sz="1400" b="0">
                <a:solidFill>
                  <a:srgbClr val="5F6670"/>
                </a:solidFill>
                <a:latin typeface="Arial"/>
              </a:rPr>
              <a:t>Which Castrol lines are on the shelf?</a:t>
            </a:r>
          </a:p>
        </p:txBody>
      </p:sp>
      <p:sp>
        <p:nvSpPr>
          <p:cNvPr id="26" name="Rounded Rectangle 25"/>
          <p:cNvSpPr/>
          <p:nvPr/>
        </p:nvSpPr>
        <p:spPr>
          <a:xfrm>
            <a:off x="548640" y="5303520"/>
            <a:ext cx="11091672" cy="749808"/>
          </a:xfrm>
          <a:prstGeom prst="roundRect">
            <a:avLst>
              <a:gd name="adj" fmla="val 14634"/>
            </a:avLst>
          </a:prstGeom>
          <a:solidFill>
            <a:srgbClr val="FDEBED"/>
          </a:solidFill>
          <a:ln>
            <a:noFill/>
          </a:ln>
          <a:effectLst/>
        </p:spPr>
        <p:txBody>
          <a:bodyPr rtlCol="0" anchor="ctr"/>
          <a:lstStyle/>
          <a:p/>
        </p:txBody>
      </p:sp>
      <p:pic>
        <p:nvPicPr>
          <p:cNvPr id="27" name="Picture 26" descr="warning_r.png"/>
          <p:cNvPicPr>
            <a:picLocks noChangeAspect="1"/>
          </p:cNvPicPr>
          <p:nvPr/>
        </p:nvPicPr>
        <p:blipFill>
          <a:blip r:embed="rId6"/>
          <a:stretch>
            <a:fillRect/>
          </a:stretch>
        </p:blipFill>
        <p:spPr>
          <a:xfrm>
            <a:off x="777240" y="5422392"/>
            <a:ext cx="512064" cy="512064"/>
          </a:xfrm>
          <a:prstGeom prst="rect">
            <a:avLst/>
          </a:prstGeom>
        </p:spPr>
      </p:pic>
      <p:sp>
        <p:nvSpPr>
          <p:cNvPr id="28" name="TextBox 27"/>
          <p:cNvSpPr txBox="1"/>
          <p:nvPr/>
        </p:nvSpPr>
        <p:spPr>
          <a:xfrm>
            <a:off x="1463040" y="5303520"/>
            <a:ext cx="9875520" cy="749808"/>
          </a:xfrm>
          <a:prstGeom prst="rect">
            <a:avLst/>
          </a:prstGeom>
          <a:noFill/>
        </p:spPr>
        <p:txBody>
          <a:bodyPr wrap="square" lIns="0" rIns="0" tIns="0" bIns="0" anchor="ctr">
            <a:spAutoFit/>
          </a:bodyPr>
          <a:lstStyle/>
          <a:p>
            <a:pPr algn="l">
              <a:lnSpc>
                <a:spcPct val="100000"/>
              </a:lnSpc>
            </a:pPr>
            <a:r>
              <a:rPr sz="1700" b="1">
                <a:solidFill>
                  <a:srgbClr val="E2001A"/>
                </a:solidFill>
                <a:latin typeface="Arial"/>
              </a:rPr>
              <a:t>Result: </a:t>
            </a:r>
            <a:r>
              <a:rPr sz="1700" b="0">
                <a:solidFill>
                  <a:srgbClr val="23272B"/>
                </a:solidFill>
                <a:latin typeface="Arial"/>
              </a:rPr>
              <a:t>decisions made on last month's data, and growth that is hard to scale.</a:t>
            </a:r>
          </a:p>
        </p:txBody>
      </p:sp>
      <p:cxnSp>
        <p:nvCxnSpPr>
          <p:cNvPr id="29" name="Connector 28"/>
          <p:cNvCxnSpPr/>
          <p:nvPr/>
        </p:nvCxnSpPr>
        <p:spPr>
          <a:xfrm>
            <a:off x="548640" y="6400800"/>
            <a:ext cx="11094415" cy="0"/>
          </a:xfrm>
          <a:prstGeom prst="line">
            <a:avLst/>
          </a:prstGeom>
          <a:ln w="9525">
            <a:solidFill>
              <a:srgbClr val="D9DEDB"/>
            </a:solidFill>
          </a:ln>
        </p:spPr>
      </p:cxnSp>
      <p:pic>
        <p:nvPicPr>
          <p:cNvPr id="30" name="Picture 29" descr="kad-wordmark.png"/>
          <p:cNvPicPr>
            <a:picLocks noChangeAspect="1"/>
          </p:cNvPicPr>
          <p:nvPr/>
        </p:nvPicPr>
        <p:blipFill>
          <a:blip r:embed="rId7"/>
          <a:stretch>
            <a:fillRect/>
          </a:stretch>
        </p:blipFill>
        <p:spPr>
          <a:xfrm>
            <a:off x="548640" y="6519672"/>
            <a:ext cx="759129" cy="155448"/>
          </a:xfrm>
          <a:prstGeom prst="rect">
            <a:avLst/>
          </a:prstGeom>
        </p:spPr>
      </p:pic>
      <p:sp>
        <p:nvSpPr>
          <p:cNvPr id="31" name="TextBox 30"/>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2" name="TextBox 31"/>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THE SOLUTION</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One app from a link for the team, one bot for management</a:t>
            </a:r>
          </a:p>
        </p:txBody>
      </p:sp>
      <p:sp>
        <p:nvSpPr>
          <p:cNvPr id="6" name="Rounded Rectangle 5"/>
          <p:cNvSpPr/>
          <p:nvPr/>
        </p:nvSpPr>
        <p:spPr>
          <a:xfrm>
            <a:off x="548640" y="1920240"/>
            <a:ext cx="5760720" cy="1600200"/>
          </a:xfrm>
          <a:prstGeom prst="roundRect">
            <a:avLst>
              <a:gd name="adj" fmla="val 6857"/>
            </a:avLst>
          </a:prstGeom>
          <a:solidFill>
            <a:srgbClr val="F4F5F6"/>
          </a:solidFill>
          <a:ln>
            <a:noFill/>
          </a:ln>
          <a:effectLst/>
        </p:spPr>
        <p:txBody>
          <a:bodyPr rtlCol="0" anchor="ctr"/>
          <a:lstStyle/>
          <a:p/>
        </p:txBody>
      </p:sp>
      <p:sp>
        <p:nvSpPr>
          <p:cNvPr id="7" name="Oval 6"/>
          <p:cNvSpPr/>
          <p:nvPr/>
        </p:nvSpPr>
        <p:spPr>
          <a:xfrm>
            <a:off x="822960" y="2267712"/>
            <a:ext cx="914400" cy="914400"/>
          </a:xfrm>
          <a:prstGeom prst="ellipse">
            <a:avLst/>
          </a:prstGeom>
          <a:solidFill>
            <a:srgbClr val="E6F4EC"/>
          </a:solidFill>
          <a:ln>
            <a:noFill/>
          </a:ln>
          <a:effectLst/>
        </p:spPr>
        <p:txBody>
          <a:bodyPr rtlCol="0" anchor="ctr"/>
          <a:lstStyle/>
          <a:p>
            <a:pPr algn="ctr"/>
          </a:p>
        </p:txBody>
      </p:sp>
      <p:pic>
        <p:nvPicPr>
          <p:cNvPr id="8" name="Picture 7" descr="smartphone_g.png"/>
          <p:cNvPicPr>
            <a:picLocks noChangeAspect="1"/>
          </p:cNvPicPr>
          <p:nvPr/>
        </p:nvPicPr>
        <p:blipFill>
          <a:blip r:embed="rId2"/>
          <a:stretch>
            <a:fillRect/>
          </a:stretch>
        </p:blipFill>
        <p:spPr>
          <a:xfrm>
            <a:off x="1024128" y="2468880"/>
            <a:ext cx="512064" cy="512064"/>
          </a:xfrm>
          <a:prstGeom prst="rect">
            <a:avLst/>
          </a:prstGeom>
        </p:spPr>
      </p:pic>
      <p:sp>
        <p:nvSpPr>
          <p:cNvPr id="9" name="TextBox 8"/>
          <p:cNvSpPr txBox="1"/>
          <p:nvPr/>
        </p:nvSpPr>
        <p:spPr>
          <a:xfrm>
            <a:off x="2011680" y="2194560"/>
            <a:ext cx="4114800" cy="411480"/>
          </a:xfrm>
          <a:prstGeom prst="rect">
            <a:avLst/>
          </a:prstGeom>
          <a:noFill/>
        </p:spPr>
        <p:txBody>
          <a:bodyPr wrap="square" lIns="0" rIns="0" tIns="0" bIns="0" anchor="t">
            <a:spAutoFit/>
          </a:bodyPr>
          <a:lstStyle/>
          <a:p>
            <a:pPr algn="l">
              <a:lnSpc>
                <a:spcPct val="100000"/>
              </a:lnSpc>
            </a:pPr>
            <a:r>
              <a:rPr sz="2100" b="1">
                <a:solidFill>
                  <a:srgbClr val="23272B"/>
                </a:solidFill>
                <a:latin typeface="Arial"/>
              </a:rPr>
              <a:t>Field Visits app</a:t>
            </a:r>
          </a:p>
        </p:txBody>
      </p:sp>
      <p:sp>
        <p:nvSpPr>
          <p:cNvPr id="10" name="TextBox 9"/>
          <p:cNvSpPr txBox="1"/>
          <p:nvPr/>
        </p:nvSpPr>
        <p:spPr>
          <a:xfrm>
            <a:off x="2011680" y="2670048"/>
            <a:ext cx="4114800" cy="731520"/>
          </a:xfrm>
          <a:prstGeom prst="rect">
            <a:avLst/>
          </a:prstGeom>
          <a:noFill/>
        </p:spPr>
        <p:txBody>
          <a:bodyPr wrap="square" lIns="0" rIns="0" tIns="0" bIns="0" anchor="t">
            <a:spAutoFit/>
          </a:bodyPr>
          <a:lstStyle/>
          <a:p>
            <a:pPr algn="l">
              <a:lnSpc>
                <a:spcPct val="100000"/>
              </a:lnSpc>
            </a:pPr>
            <a:r>
              <a:rPr sz="1450" b="0">
                <a:solidFill>
                  <a:srgbClr val="5F6670"/>
                </a:solidFill>
                <a:latin typeface="Arial"/>
              </a:rPr>
              <a:t>Opens from a link on iPhone and Android. No app store. Works offline.</a:t>
            </a:r>
          </a:p>
        </p:txBody>
      </p:sp>
      <p:sp>
        <p:nvSpPr>
          <p:cNvPr id="11" name="Rounded Rectangle 10"/>
          <p:cNvSpPr/>
          <p:nvPr/>
        </p:nvSpPr>
        <p:spPr>
          <a:xfrm>
            <a:off x="548640" y="3703320"/>
            <a:ext cx="5760720" cy="1600200"/>
          </a:xfrm>
          <a:prstGeom prst="roundRect">
            <a:avLst>
              <a:gd name="adj" fmla="val 6857"/>
            </a:avLst>
          </a:prstGeom>
          <a:solidFill>
            <a:srgbClr val="F4F5F6"/>
          </a:solidFill>
          <a:ln>
            <a:noFill/>
          </a:ln>
          <a:effectLst/>
        </p:spPr>
        <p:txBody>
          <a:bodyPr rtlCol="0" anchor="ctr"/>
          <a:lstStyle/>
          <a:p/>
        </p:txBody>
      </p:sp>
      <p:sp>
        <p:nvSpPr>
          <p:cNvPr id="12" name="Oval 11"/>
          <p:cNvSpPr/>
          <p:nvPr/>
        </p:nvSpPr>
        <p:spPr>
          <a:xfrm>
            <a:off x="822960" y="4050791"/>
            <a:ext cx="914400" cy="914400"/>
          </a:xfrm>
          <a:prstGeom prst="ellipse">
            <a:avLst/>
          </a:prstGeom>
          <a:solidFill>
            <a:srgbClr val="E6F4EC"/>
          </a:solidFill>
          <a:ln>
            <a:noFill/>
          </a:ln>
          <a:effectLst/>
        </p:spPr>
        <p:txBody>
          <a:bodyPr rtlCol="0" anchor="ctr"/>
          <a:lstStyle/>
          <a:p>
            <a:pPr algn="ctr"/>
          </a:p>
        </p:txBody>
      </p:sp>
      <p:pic>
        <p:nvPicPr>
          <p:cNvPr id="13" name="Picture 12" descr="bot_g.png"/>
          <p:cNvPicPr>
            <a:picLocks noChangeAspect="1"/>
          </p:cNvPicPr>
          <p:nvPr/>
        </p:nvPicPr>
        <p:blipFill>
          <a:blip r:embed="rId3"/>
          <a:stretch>
            <a:fillRect/>
          </a:stretch>
        </p:blipFill>
        <p:spPr>
          <a:xfrm>
            <a:off x="1024128" y="4251959"/>
            <a:ext cx="512064" cy="512064"/>
          </a:xfrm>
          <a:prstGeom prst="rect">
            <a:avLst/>
          </a:prstGeom>
        </p:spPr>
      </p:pic>
      <p:sp>
        <p:nvSpPr>
          <p:cNvPr id="14" name="TextBox 13"/>
          <p:cNvSpPr txBox="1"/>
          <p:nvPr/>
        </p:nvSpPr>
        <p:spPr>
          <a:xfrm>
            <a:off x="2011680" y="3977639"/>
            <a:ext cx="4114800" cy="411480"/>
          </a:xfrm>
          <a:prstGeom prst="rect">
            <a:avLst/>
          </a:prstGeom>
          <a:noFill/>
        </p:spPr>
        <p:txBody>
          <a:bodyPr wrap="square" lIns="0" rIns="0" tIns="0" bIns="0" anchor="t">
            <a:spAutoFit/>
          </a:bodyPr>
          <a:lstStyle/>
          <a:p>
            <a:pPr algn="l">
              <a:lnSpc>
                <a:spcPct val="100000"/>
              </a:lnSpc>
            </a:pPr>
            <a:r>
              <a:rPr sz="2100" b="1">
                <a:solidFill>
                  <a:srgbClr val="23272B"/>
                </a:solidFill>
                <a:latin typeface="Arial"/>
              </a:rPr>
              <a:t>CEO Telegram bot</a:t>
            </a:r>
          </a:p>
        </p:txBody>
      </p:sp>
      <p:sp>
        <p:nvSpPr>
          <p:cNvPr id="15" name="TextBox 14"/>
          <p:cNvSpPr txBox="1"/>
          <p:nvPr/>
        </p:nvSpPr>
        <p:spPr>
          <a:xfrm>
            <a:off x="2011680" y="4453128"/>
            <a:ext cx="4114800" cy="731520"/>
          </a:xfrm>
          <a:prstGeom prst="rect">
            <a:avLst/>
          </a:prstGeom>
          <a:noFill/>
        </p:spPr>
        <p:txBody>
          <a:bodyPr wrap="square" lIns="0" rIns="0" tIns="0" bIns="0" anchor="t">
            <a:spAutoFit/>
          </a:bodyPr>
          <a:lstStyle/>
          <a:p>
            <a:pPr algn="l">
              <a:lnSpc>
                <a:spcPct val="100000"/>
              </a:lnSpc>
            </a:pPr>
            <a:r>
              <a:rPr sz="1450" b="0">
                <a:solidFill>
                  <a:srgbClr val="5F6670"/>
                </a:solidFill>
                <a:latin typeface="Arial"/>
              </a:rPr>
              <a:t>Checks the daily ERP file and sends management reports.</a:t>
            </a:r>
          </a:p>
        </p:txBody>
      </p:sp>
      <p:sp>
        <p:nvSpPr>
          <p:cNvPr id="16" name="Rounded Rectangle 15"/>
          <p:cNvSpPr/>
          <p:nvPr/>
        </p:nvSpPr>
        <p:spPr>
          <a:xfrm>
            <a:off x="548640" y="5532120"/>
            <a:ext cx="5760720" cy="566928"/>
          </a:xfrm>
          <a:prstGeom prst="roundRect">
            <a:avLst>
              <a:gd name="adj" fmla="val 16129"/>
            </a:avLst>
          </a:prstGeom>
          <a:solidFill>
            <a:srgbClr val="E6F4EC"/>
          </a:solidFill>
          <a:ln>
            <a:noFill/>
          </a:ln>
          <a:effectLst/>
        </p:spPr>
        <p:txBody>
          <a:bodyPr rtlCol="0" anchor="ctr"/>
          <a:lstStyle/>
          <a:p/>
        </p:txBody>
      </p:sp>
      <p:pic>
        <p:nvPicPr>
          <p:cNvPr id="17" name="Picture 16" descr="sheet_g.png"/>
          <p:cNvPicPr>
            <a:picLocks noChangeAspect="1"/>
          </p:cNvPicPr>
          <p:nvPr/>
        </p:nvPicPr>
        <p:blipFill>
          <a:blip r:embed="rId4"/>
          <a:stretch>
            <a:fillRect/>
          </a:stretch>
        </p:blipFill>
        <p:spPr>
          <a:xfrm>
            <a:off x="713232" y="5596128"/>
            <a:ext cx="438912" cy="438912"/>
          </a:xfrm>
          <a:prstGeom prst="rect">
            <a:avLst/>
          </a:prstGeom>
        </p:spPr>
      </p:pic>
      <p:sp>
        <p:nvSpPr>
          <p:cNvPr id="18" name="TextBox 17"/>
          <p:cNvSpPr txBox="1"/>
          <p:nvPr/>
        </p:nvSpPr>
        <p:spPr>
          <a:xfrm>
            <a:off x="1280160" y="5532120"/>
            <a:ext cx="4937760" cy="566928"/>
          </a:xfrm>
          <a:prstGeom prst="rect">
            <a:avLst/>
          </a:prstGeom>
          <a:noFill/>
        </p:spPr>
        <p:txBody>
          <a:bodyPr wrap="square" lIns="0" rIns="0" tIns="0" bIns="0" anchor="ctr">
            <a:spAutoFit/>
          </a:bodyPr>
          <a:lstStyle/>
          <a:p>
            <a:pPr algn="l">
              <a:lnSpc>
                <a:spcPct val="100000"/>
              </a:lnSpc>
            </a:pPr>
            <a:r>
              <a:rPr sz="1400" b="1">
                <a:solidFill>
                  <a:srgbClr val="006E32"/>
                </a:solidFill>
                <a:latin typeface="Arial"/>
              </a:rPr>
              <a:t>Both fed every day from the same ERP workbook (Excel)</a:t>
            </a:r>
          </a:p>
        </p:txBody>
      </p:sp>
      <p:pic>
        <p:nvPicPr>
          <p:cNvPr id="19" name="Picture 18" descr="customer.png"/>
          <p:cNvPicPr>
            <a:picLocks noChangeAspect="1"/>
          </p:cNvPicPr>
          <p:nvPr/>
        </p:nvPicPr>
        <p:blipFill>
          <a:blip r:embed="rId5"/>
          <a:stretch>
            <a:fillRect/>
          </a:stretch>
        </p:blipFill>
        <p:spPr>
          <a:xfrm>
            <a:off x="6720840" y="1325880"/>
            <a:ext cx="2428596" cy="4983480"/>
          </a:xfrm>
          <a:prstGeom prst="rect">
            <a:avLst/>
          </a:prstGeom>
        </p:spPr>
      </p:pic>
      <p:pic>
        <p:nvPicPr>
          <p:cNvPr id="20" name="Picture 19" descr="bot.png"/>
          <p:cNvPicPr>
            <a:picLocks noChangeAspect="1"/>
          </p:cNvPicPr>
          <p:nvPr/>
        </p:nvPicPr>
        <p:blipFill>
          <a:blip r:embed="rId6"/>
          <a:stretch>
            <a:fillRect/>
          </a:stretch>
        </p:blipFill>
        <p:spPr>
          <a:xfrm>
            <a:off x="9189720" y="1325880"/>
            <a:ext cx="2428596" cy="4983480"/>
          </a:xfrm>
          <a:prstGeom prst="rect">
            <a:avLst/>
          </a:prstGeom>
        </p:spPr>
      </p:pic>
      <p:sp>
        <p:nvSpPr>
          <p:cNvPr id="21" name="TextBox 20"/>
          <p:cNvSpPr txBox="1"/>
          <p:nvPr/>
        </p:nvSpPr>
        <p:spPr>
          <a:xfrm>
            <a:off x="6720840" y="6144768"/>
            <a:ext cx="4937760" cy="228600"/>
          </a:xfrm>
          <a:prstGeom prst="rect">
            <a:avLst/>
          </a:prstGeom>
          <a:noFill/>
        </p:spPr>
        <p:txBody>
          <a:bodyPr wrap="square" lIns="0" rIns="0" tIns="0" bIns="0" anchor="t">
            <a:spAutoFit/>
          </a:bodyPr>
          <a:lstStyle/>
          <a:p>
            <a:pPr algn="ctr">
              <a:lnSpc>
                <a:spcPct val="100000"/>
              </a:lnSpc>
            </a:pPr>
            <a:r>
              <a:rPr sz="900" b="0">
                <a:solidFill>
                  <a:srgbClr val="5F6670"/>
                </a:solidFill>
                <a:latin typeface="Arial"/>
              </a:rPr>
              <a:t>Demo data</a:t>
            </a:r>
          </a:p>
        </p:txBody>
      </p:sp>
      <p:cxnSp>
        <p:nvCxnSpPr>
          <p:cNvPr id="22" name="Connector 21"/>
          <p:cNvCxnSpPr/>
          <p:nvPr/>
        </p:nvCxnSpPr>
        <p:spPr>
          <a:xfrm>
            <a:off x="548640" y="6400800"/>
            <a:ext cx="11094415" cy="0"/>
          </a:xfrm>
          <a:prstGeom prst="line">
            <a:avLst/>
          </a:prstGeom>
          <a:ln w="9525">
            <a:solidFill>
              <a:srgbClr val="D9DEDB"/>
            </a:solidFill>
          </a:ln>
        </p:spPr>
      </p:cxnSp>
      <p:pic>
        <p:nvPicPr>
          <p:cNvPr id="23" name="Picture 22" descr="kad-wordmark.png"/>
          <p:cNvPicPr>
            <a:picLocks noChangeAspect="1"/>
          </p:cNvPicPr>
          <p:nvPr/>
        </p:nvPicPr>
        <p:blipFill>
          <a:blip r:embed="rId7"/>
          <a:stretch>
            <a:fillRect/>
          </a:stretch>
        </p:blipFill>
        <p:spPr>
          <a:xfrm>
            <a:off x="548640" y="6519672"/>
            <a:ext cx="759129" cy="155448"/>
          </a:xfrm>
          <a:prstGeom prst="rect">
            <a:avLst/>
          </a:prstGeom>
        </p:spPr>
      </p:pic>
      <p:sp>
        <p:nvSpPr>
          <p:cNvPr id="24" name="TextBox 23"/>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25" name="TextBox 24"/>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HOW IT WORKS</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One daily file feeds the whole team</a:t>
            </a:r>
          </a:p>
        </p:txBody>
      </p:sp>
      <p:sp>
        <p:nvSpPr>
          <p:cNvPr id="6" name="Rounded Rectangle 5"/>
          <p:cNvSpPr/>
          <p:nvPr/>
        </p:nvSpPr>
        <p:spPr>
          <a:xfrm>
            <a:off x="548640" y="1920240"/>
            <a:ext cx="2377440" cy="2103120"/>
          </a:xfrm>
          <a:prstGeom prst="roundRect">
            <a:avLst>
              <a:gd name="adj" fmla="val 5217"/>
            </a:avLst>
          </a:prstGeom>
          <a:solidFill>
            <a:srgbClr val="FFFFFF"/>
          </a:solidFill>
          <a:ln w="19050">
            <a:solidFill>
              <a:srgbClr val="009343"/>
            </a:solidFill>
          </a:ln>
          <a:effectLst/>
        </p:spPr>
        <p:txBody>
          <a:bodyPr rtlCol="0" anchor="ctr"/>
          <a:lstStyle/>
          <a:p/>
        </p:txBody>
      </p:sp>
      <p:sp>
        <p:nvSpPr>
          <p:cNvPr id="7" name="Oval 6"/>
          <p:cNvSpPr/>
          <p:nvPr/>
        </p:nvSpPr>
        <p:spPr>
          <a:xfrm>
            <a:off x="777240" y="2130552"/>
            <a:ext cx="685800" cy="685800"/>
          </a:xfrm>
          <a:prstGeom prst="ellipse">
            <a:avLst/>
          </a:prstGeom>
          <a:solidFill>
            <a:srgbClr val="E6F4EC"/>
          </a:solidFill>
          <a:ln>
            <a:noFill/>
          </a:ln>
          <a:effectLst/>
        </p:spPr>
        <p:txBody>
          <a:bodyPr rtlCol="0" anchor="ctr"/>
          <a:lstStyle/>
          <a:p>
            <a:pPr algn="ctr"/>
          </a:p>
        </p:txBody>
      </p:sp>
      <p:pic>
        <p:nvPicPr>
          <p:cNvPr id="8" name="Picture 7" descr="sheet_g.png"/>
          <p:cNvPicPr>
            <a:picLocks noChangeAspect="1"/>
          </p:cNvPicPr>
          <p:nvPr/>
        </p:nvPicPr>
        <p:blipFill>
          <a:blip r:embed="rId2"/>
          <a:stretch>
            <a:fillRect/>
          </a:stretch>
        </p:blipFill>
        <p:spPr>
          <a:xfrm>
            <a:off x="928115" y="2281428"/>
            <a:ext cx="384048" cy="384048"/>
          </a:xfrm>
          <a:prstGeom prst="rect">
            <a:avLst/>
          </a:prstGeom>
        </p:spPr>
      </p:pic>
      <p:sp>
        <p:nvSpPr>
          <p:cNvPr id="9" name="TextBox 8"/>
          <p:cNvSpPr txBox="1"/>
          <p:nvPr/>
        </p:nvSpPr>
        <p:spPr>
          <a:xfrm>
            <a:off x="1572768" y="2286000"/>
            <a:ext cx="1280160" cy="36576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STEP 1</a:t>
            </a:r>
          </a:p>
        </p:txBody>
      </p:sp>
      <p:sp>
        <p:nvSpPr>
          <p:cNvPr id="10" name="TextBox 9"/>
          <p:cNvSpPr txBox="1"/>
          <p:nvPr/>
        </p:nvSpPr>
        <p:spPr>
          <a:xfrm>
            <a:off x="777240" y="2926080"/>
            <a:ext cx="201168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ERP workbook</a:t>
            </a:r>
          </a:p>
        </p:txBody>
      </p:sp>
      <p:sp>
        <p:nvSpPr>
          <p:cNvPr id="11" name="TextBox 10"/>
          <p:cNvSpPr txBox="1"/>
          <p:nvPr/>
        </p:nvSpPr>
        <p:spPr>
          <a:xfrm>
            <a:off x="777240" y="3310128"/>
            <a:ext cx="2011680" cy="640080"/>
          </a:xfrm>
          <a:prstGeom prst="rect">
            <a:avLst/>
          </a:prstGeom>
          <a:noFill/>
        </p:spPr>
        <p:txBody>
          <a:bodyPr wrap="square" lIns="0" rIns="0" tIns="0" bIns="0" anchor="t">
            <a:spAutoFit/>
          </a:bodyPr>
          <a:lstStyle/>
          <a:p>
            <a:pPr algn="l">
              <a:lnSpc>
                <a:spcPct val="100000"/>
              </a:lnSpc>
            </a:pPr>
            <a:r>
              <a:rPr sz="1250" b="0">
                <a:solidFill>
                  <a:srgbClr val="5F6670"/>
                </a:solidFill>
                <a:latin typeface="Arial"/>
              </a:rPr>
              <a:t>Excel, updated daily by accounting</a:t>
            </a:r>
          </a:p>
        </p:txBody>
      </p:sp>
      <p:sp>
        <p:nvSpPr>
          <p:cNvPr id="12" name="Right Arrow 11"/>
          <p:cNvSpPr/>
          <p:nvPr/>
        </p:nvSpPr>
        <p:spPr>
          <a:xfrm>
            <a:off x="3017520" y="2788920"/>
            <a:ext cx="338327" cy="384048"/>
          </a:xfrm>
          <a:prstGeom prst="rightArrow">
            <a:avLst/>
          </a:prstGeom>
          <a:solidFill>
            <a:srgbClr val="009343"/>
          </a:solidFill>
          <a:ln>
            <a:noFill/>
          </a:ln>
          <a:effectLst/>
        </p:spPr>
        <p:txBody>
          <a:bodyPr rtlCol="0" anchor="ctr"/>
          <a:lstStyle/>
          <a:p>
            <a:pPr algn="ctr"/>
          </a:p>
        </p:txBody>
      </p:sp>
      <p:sp>
        <p:nvSpPr>
          <p:cNvPr id="13" name="Rounded Rectangle 12"/>
          <p:cNvSpPr/>
          <p:nvPr/>
        </p:nvSpPr>
        <p:spPr>
          <a:xfrm>
            <a:off x="3447288" y="1920240"/>
            <a:ext cx="2377440" cy="2103120"/>
          </a:xfrm>
          <a:prstGeom prst="roundRect">
            <a:avLst>
              <a:gd name="adj" fmla="val 5217"/>
            </a:avLst>
          </a:prstGeom>
          <a:solidFill>
            <a:srgbClr val="FFFFFF"/>
          </a:solidFill>
          <a:ln w="19050">
            <a:solidFill>
              <a:srgbClr val="009343"/>
            </a:solidFill>
          </a:ln>
          <a:effectLst/>
        </p:spPr>
        <p:txBody>
          <a:bodyPr rtlCol="0" anchor="ctr"/>
          <a:lstStyle/>
          <a:p/>
        </p:txBody>
      </p:sp>
      <p:sp>
        <p:nvSpPr>
          <p:cNvPr id="14" name="Oval 13"/>
          <p:cNvSpPr/>
          <p:nvPr/>
        </p:nvSpPr>
        <p:spPr>
          <a:xfrm>
            <a:off x="3675887" y="2130552"/>
            <a:ext cx="685800" cy="685800"/>
          </a:xfrm>
          <a:prstGeom prst="ellipse">
            <a:avLst/>
          </a:prstGeom>
          <a:solidFill>
            <a:srgbClr val="E6F4EC"/>
          </a:solidFill>
          <a:ln>
            <a:noFill/>
          </a:ln>
          <a:effectLst/>
        </p:spPr>
        <p:txBody>
          <a:bodyPr rtlCol="0" anchor="ctr"/>
          <a:lstStyle/>
          <a:p>
            <a:pPr algn="ctr"/>
          </a:p>
        </p:txBody>
      </p:sp>
      <p:pic>
        <p:nvPicPr>
          <p:cNvPr id="15" name="Picture 14" descr="bot_g.png"/>
          <p:cNvPicPr>
            <a:picLocks noChangeAspect="1"/>
          </p:cNvPicPr>
          <p:nvPr/>
        </p:nvPicPr>
        <p:blipFill>
          <a:blip r:embed="rId3"/>
          <a:stretch>
            <a:fillRect/>
          </a:stretch>
        </p:blipFill>
        <p:spPr>
          <a:xfrm>
            <a:off x="3826763" y="2281428"/>
            <a:ext cx="384048" cy="384048"/>
          </a:xfrm>
          <a:prstGeom prst="rect">
            <a:avLst/>
          </a:prstGeom>
        </p:spPr>
      </p:pic>
      <p:sp>
        <p:nvSpPr>
          <p:cNvPr id="16" name="TextBox 15"/>
          <p:cNvSpPr txBox="1"/>
          <p:nvPr/>
        </p:nvSpPr>
        <p:spPr>
          <a:xfrm>
            <a:off x="4471416" y="2286000"/>
            <a:ext cx="1280160" cy="36576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STEP 2</a:t>
            </a:r>
          </a:p>
        </p:txBody>
      </p:sp>
      <p:sp>
        <p:nvSpPr>
          <p:cNvPr id="17" name="TextBox 16"/>
          <p:cNvSpPr txBox="1"/>
          <p:nvPr/>
        </p:nvSpPr>
        <p:spPr>
          <a:xfrm>
            <a:off x="3675887" y="2926080"/>
            <a:ext cx="201168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CEO bot</a:t>
            </a:r>
          </a:p>
        </p:txBody>
      </p:sp>
      <p:sp>
        <p:nvSpPr>
          <p:cNvPr id="18" name="TextBox 17"/>
          <p:cNvSpPr txBox="1"/>
          <p:nvPr/>
        </p:nvSpPr>
        <p:spPr>
          <a:xfrm>
            <a:off x="3675887" y="3310128"/>
            <a:ext cx="2011680" cy="640080"/>
          </a:xfrm>
          <a:prstGeom prst="rect">
            <a:avLst/>
          </a:prstGeom>
          <a:noFill/>
        </p:spPr>
        <p:txBody>
          <a:bodyPr wrap="square" lIns="0" rIns="0" tIns="0" bIns="0" anchor="t">
            <a:spAutoFit/>
          </a:bodyPr>
          <a:lstStyle/>
          <a:p>
            <a:pPr algn="l">
              <a:lnSpc>
                <a:spcPct val="100000"/>
              </a:lnSpc>
            </a:pPr>
            <a:r>
              <a:rPr sz="1250" b="0">
                <a:solidFill>
                  <a:srgbClr val="5F6670"/>
                </a:solidFill>
                <a:latin typeface="Arial"/>
              </a:rPr>
              <a:t>Checks the file, builds the reports</a:t>
            </a:r>
          </a:p>
        </p:txBody>
      </p:sp>
      <p:sp>
        <p:nvSpPr>
          <p:cNvPr id="19" name="Right Arrow 18"/>
          <p:cNvSpPr/>
          <p:nvPr/>
        </p:nvSpPr>
        <p:spPr>
          <a:xfrm>
            <a:off x="5916168" y="2788920"/>
            <a:ext cx="338327" cy="384048"/>
          </a:xfrm>
          <a:prstGeom prst="rightArrow">
            <a:avLst/>
          </a:prstGeom>
          <a:solidFill>
            <a:srgbClr val="009343"/>
          </a:solidFill>
          <a:ln>
            <a:noFill/>
          </a:ln>
          <a:effectLst/>
        </p:spPr>
        <p:txBody>
          <a:bodyPr rtlCol="0" anchor="ctr"/>
          <a:lstStyle/>
          <a:p>
            <a:pPr algn="ctr"/>
          </a:p>
        </p:txBody>
      </p:sp>
      <p:sp>
        <p:nvSpPr>
          <p:cNvPr id="20" name="Rounded Rectangle 19"/>
          <p:cNvSpPr/>
          <p:nvPr/>
        </p:nvSpPr>
        <p:spPr>
          <a:xfrm>
            <a:off x="6345936" y="1920240"/>
            <a:ext cx="2377440" cy="2103120"/>
          </a:xfrm>
          <a:prstGeom prst="roundRect">
            <a:avLst>
              <a:gd name="adj" fmla="val 5217"/>
            </a:avLst>
          </a:prstGeom>
          <a:solidFill>
            <a:srgbClr val="FFFFFF"/>
          </a:solidFill>
          <a:ln w="19050">
            <a:solidFill>
              <a:srgbClr val="009343"/>
            </a:solidFill>
          </a:ln>
          <a:effectLst/>
        </p:spPr>
        <p:txBody>
          <a:bodyPr rtlCol="0" anchor="ctr"/>
          <a:lstStyle/>
          <a:p/>
        </p:txBody>
      </p:sp>
      <p:sp>
        <p:nvSpPr>
          <p:cNvPr id="21" name="Oval 20"/>
          <p:cNvSpPr/>
          <p:nvPr/>
        </p:nvSpPr>
        <p:spPr>
          <a:xfrm>
            <a:off x="6574536" y="2130552"/>
            <a:ext cx="685800" cy="685800"/>
          </a:xfrm>
          <a:prstGeom prst="ellipse">
            <a:avLst/>
          </a:prstGeom>
          <a:solidFill>
            <a:srgbClr val="E6F4EC"/>
          </a:solidFill>
          <a:ln>
            <a:noFill/>
          </a:ln>
          <a:effectLst/>
        </p:spPr>
        <p:txBody>
          <a:bodyPr rtlCol="0" anchor="ctr"/>
          <a:lstStyle/>
          <a:p>
            <a:pPr algn="ctr"/>
          </a:p>
        </p:txBody>
      </p:sp>
      <p:pic>
        <p:nvPicPr>
          <p:cNvPr id="22" name="Picture 21" descr="repeat_g.png"/>
          <p:cNvPicPr>
            <a:picLocks noChangeAspect="1"/>
          </p:cNvPicPr>
          <p:nvPr/>
        </p:nvPicPr>
        <p:blipFill>
          <a:blip r:embed="rId4"/>
          <a:stretch>
            <a:fillRect/>
          </a:stretch>
        </p:blipFill>
        <p:spPr>
          <a:xfrm>
            <a:off x="6725412" y="2281428"/>
            <a:ext cx="384048" cy="384048"/>
          </a:xfrm>
          <a:prstGeom prst="rect">
            <a:avLst/>
          </a:prstGeom>
        </p:spPr>
      </p:pic>
      <p:sp>
        <p:nvSpPr>
          <p:cNvPr id="23" name="TextBox 22"/>
          <p:cNvSpPr txBox="1"/>
          <p:nvPr/>
        </p:nvSpPr>
        <p:spPr>
          <a:xfrm>
            <a:off x="7370063" y="2286000"/>
            <a:ext cx="1280160" cy="365760"/>
          </a:xfrm>
          <a:prstGeom prst="rect">
            <a:avLst/>
          </a:prstGeom>
          <a:noFill/>
        </p:spPr>
        <p:txBody>
          <a:bodyPr wrap="square" lIns="0" rIns="0" tIns="0" bIns="0" anchor="t">
            <a:spAutoFit/>
          </a:bodyPr>
          <a:lstStyle/>
          <a:p>
            <a:pPr algn="l">
              <a:lnSpc>
                <a:spcPct val="100000"/>
              </a:lnSpc>
            </a:pPr>
            <a:r>
              <a:rPr sz="1100" b="1">
                <a:solidFill>
                  <a:srgbClr val="009343"/>
                </a:solidFill>
                <a:latin typeface="Arial"/>
              </a:rPr>
              <a:t>STEP 3</a:t>
            </a:r>
          </a:p>
        </p:txBody>
      </p:sp>
      <p:sp>
        <p:nvSpPr>
          <p:cNvPr id="24" name="TextBox 23"/>
          <p:cNvSpPr txBox="1"/>
          <p:nvPr/>
        </p:nvSpPr>
        <p:spPr>
          <a:xfrm>
            <a:off x="6574536" y="2926080"/>
            <a:ext cx="2011680" cy="411480"/>
          </a:xfrm>
          <a:prstGeom prst="rect">
            <a:avLst/>
          </a:prstGeom>
          <a:noFill/>
        </p:spPr>
        <p:txBody>
          <a:bodyPr wrap="square" lIns="0" rIns="0" tIns="0" bIns="0" anchor="t">
            <a:spAutoFit/>
          </a:bodyPr>
          <a:lstStyle/>
          <a:p>
            <a:pPr algn="l">
              <a:lnSpc>
                <a:spcPct val="100000"/>
              </a:lnSpc>
            </a:pPr>
            <a:r>
              <a:rPr sz="1800" b="1">
                <a:solidFill>
                  <a:srgbClr val="23272B"/>
                </a:solidFill>
                <a:latin typeface="Arial"/>
              </a:rPr>
              <a:t>ERP sync</a:t>
            </a:r>
          </a:p>
        </p:txBody>
      </p:sp>
      <p:sp>
        <p:nvSpPr>
          <p:cNvPr id="25" name="TextBox 24"/>
          <p:cNvSpPr txBox="1"/>
          <p:nvPr/>
        </p:nvSpPr>
        <p:spPr>
          <a:xfrm>
            <a:off x="6574536" y="3310128"/>
            <a:ext cx="2011680" cy="640080"/>
          </a:xfrm>
          <a:prstGeom prst="rect">
            <a:avLst/>
          </a:prstGeom>
          <a:noFill/>
        </p:spPr>
        <p:txBody>
          <a:bodyPr wrap="square" lIns="0" rIns="0" tIns="0" bIns="0" anchor="t">
            <a:spAutoFit/>
          </a:bodyPr>
          <a:lstStyle/>
          <a:p>
            <a:pPr algn="l">
              <a:lnSpc>
                <a:spcPct val="100000"/>
              </a:lnSpc>
            </a:pPr>
            <a:r>
              <a:rPr sz="1250" b="0">
                <a:solidFill>
                  <a:srgbClr val="5F6670"/>
                </a:solidFill>
                <a:latin typeface="Arial"/>
              </a:rPr>
              <a:t>Debt, sales, prices, stock and plans</a:t>
            </a:r>
          </a:p>
        </p:txBody>
      </p:sp>
      <p:sp>
        <p:nvSpPr>
          <p:cNvPr id="26" name="Right Arrow 25"/>
          <p:cNvSpPr/>
          <p:nvPr/>
        </p:nvSpPr>
        <p:spPr>
          <a:xfrm>
            <a:off x="8814815" y="2788920"/>
            <a:ext cx="338327" cy="384048"/>
          </a:xfrm>
          <a:prstGeom prst="rightArrow">
            <a:avLst/>
          </a:prstGeom>
          <a:solidFill>
            <a:srgbClr val="009343"/>
          </a:solidFill>
          <a:ln>
            <a:noFill/>
          </a:ln>
          <a:effectLst/>
        </p:spPr>
        <p:txBody>
          <a:bodyPr rtlCol="0" anchor="ctr"/>
          <a:lstStyle/>
          <a:p>
            <a:pPr algn="ctr"/>
          </a:p>
        </p:txBody>
      </p:sp>
      <p:sp>
        <p:nvSpPr>
          <p:cNvPr id="27" name="Rounded Rectangle 26"/>
          <p:cNvSpPr/>
          <p:nvPr/>
        </p:nvSpPr>
        <p:spPr>
          <a:xfrm>
            <a:off x="9244584" y="1920240"/>
            <a:ext cx="2377440" cy="2103120"/>
          </a:xfrm>
          <a:prstGeom prst="roundRect">
            <a:avLst>
              <a:gd name="adj" fmla="val 5217"/>
            </a:avLst>
          </a:prstGeom>
          <a:solidFill>
            <a:srgbClr val="009343"/>
          </a:solidFill>
          <a:ln>
            <a:noFill/>
          </a:ln>
          <a:effectLst/>
        </p:spPr>
        <p:txBody>
          <a:bodyPr rtlCol="0" anchor="ctr"/>
          <a:lstStyle/>
          <a:p/>
        </p:txBody>
      </p:sp>
      <p:sp>
        <p:nvSpPr>
          <p:cNvPr id="28" name="Oval 27"/>
          <p:cNvSpPr/>
          <p:nvPr/>
        </p:nvSpPr>
        <p:spPr>
          <a:xfrm>
            <a:off x="9473184" y="2130552"/>
            <a:ext cx="685800" cy="685800"/>
          </a:xfrm>
          <a:prstGeom prst="ellipse">
            <a:avLst/>
          </a:prstGeom>
          <a:solidFill>
            <a:srgbClr val="FFFFFF"/>
          </a:solidFill>
          <a:ln>
            <a:noFill/>
          </a:ln>
          <a:effectLst/>
        </p:spPr>
        <p:txBody>
          <a:bodyPr rtlCol="0" anchor="ctr"/>
          <a:lstStyle/>
          <a:p>
            <a:pPr algn="ctr"/>
          </a:p>
        </p:txBody>
      </p:sp>
      <p:pic>
        <p:nvPicPr>
          <p:cNvPr id="29" name="Picture 28" descr="smartphone_g.png"/>
          <p:cNvPicPr>
            <a:picLocks noChangeAspect="1"/>
          </p:cNvPicPr>
          <p:nvPr/>
        </p:nvPicPr>
        <p:blipFill>
          <a:blip r:embed="rId5"/>
          <a:stretch>
            <a:fillRect/>
          </a:stretch>
        </p:blipFill>
        <p:spPr>
          <a:xfrm>
            <a:off x="9624059" y="2281428"/>
            <a:ext cx="384048" cy="384048"/>
          </a:xfrm>
          <a:prstGeom prst="rect">
            <a:avLst/>
          </a:prstGeom>
        </p:spPr>
      </p:pic>
      <p:sp>
        <p:nvSpPr>
          <p:cNvPr id="30" name="TextBox 29"/>
          <p:cNvSpPr txBox="1"/>
          <p:nvPr/>
        </p:nvSpPr>
        <p:spPr>
          <a:xfrm>
            <a:off x="10268712" y="2286000"/>
            <a:ext cx="1280160" cy="365760"/>
          </a:xfrm>
          <a:prstGeom prst="rect">
            <a:avLst/>
          </a:prstGeom>
          <a:noFill/>
        </p:spPr>
        <p:txBody>
          <a:bodyPr wrap="square" lIns="0" rIns="0" tIns="0" bIns="0" anchor="t">
            <a:spAutoFit/>
          </a:bodyPr>
          <a:lstStyle/>
          <a:p>
            <a:pPr algn="l">
              <a:lnSpc>
                <a:spcPct val="100000"/>
              </a:lnSpc>
            </a:pPr>
            <a:r>
              <a:rPr sz="1100" b="1">
                <a:solidFill>
                  <a:srgbClr val="FFFFFF"/>
                </a:solidFill>
                <a:latin typeface="Arial"/>
              </a:rPr>
              <a:t>STEP 4</a:t>
            </a:r>
          </a:p>
        </p:txBody>
      </p:sp>
      <p:sp>
        <p:nvSpPr>
          <p:cNvPr id="31" name="TextBox 30"/>
          <p:cNvSpPr txBox="1"/>
          <p:nvPr/>
        </p:nvSpPr>
        <p:spPr>
          <a:xfrm>
            <a:off x="9473184" y="2926080"/>
            <a:ext cx="2011680" cy="411480"/>
          </a:xfrm>
          <a:prstGeom prst="rect">
            <a:avLst/>
          </a:prstGeom>
          <a:noFill/>
        </p:spPr>
        <p:txBody>
          <a:bodyPr wrap="square" lIns="0" rIns="0" tIns="0" bIns="0" anchor="t">
            <a:spAutoFit/>
          </a:bodyPr>
          <a:lstStyle/>
          <a:p>
            <a:pPr algn="l">
              <a:lnSpc>
                <a:spcPct val="100000"/>
              </a:lnSpc>
            </a:pPr>
            <a:r>
              <a:rPr sz="1800" b="1">
                <a:solidFill>
                  <a:srgbClr val="FFFFFF"/>
                </a:solidFill>
                <a:latin typeface="Arial"/>
              </a:rPr>
              <a:t>Field Visits app</a:t>
            </a:r>
          </a:p>
        </p:txBody>
      </p:sp>
      <p:sp>
        <p:nvSpPr>
          <p:cNvPr id="32" name="TextBox 31"/>
          <p:cNvSpPr txBox="1"/>
          <p:nvPr/>
        </p:nvSpPr>
        <p:spPr>
          <a:xfrm>
            <a:off x="9473184" y="3310128"/>
            <a:ext cx="2011680" cy="640080"/>
          </a:xfrm>
          <a:prstGeom prst="rect">
            <a:avLst/>
          </a:prstGeom>
          <a:noFill/>
        </p:spPr>
        <p:txBody>
          <a:bodyPr wrap="square" lIns="0" rIns="0" tIns="0" bIns="0" anchor="t">
            <a:spAutoFit/>
          </a:bodyPr>
          <a:lstStyle/>
          <a:p>
            <a:pPr algn="l">
              <a:lnSpc>
                <a:spcPct val="100000"/>
              </a:lnSpc>
            </a:pPr>
            <a:r>
              <a:rPr sz="1250" b="0">
                <a:solidFill>
                  <a:srgbClr val="FFFFFF"/>
                </a:solidFill>
                <a:latin typeface="Arial"/>
              </a:rPr>
              <a:t>Reps, managers, warehouse, accounting</a:t>
            </a:r>
          </a:p>
        </p:txBody>
      </p:sp>
      <p:sp>
        <p:nvSpPr>
          <p:cNvPr id="33" name="Down Arrow 32"/>
          <p:cNvSpPr/>
          <p:nvPr/>
        </p:nvSpPr>
        <p:spPr>
          <a:xfrm>
            <a:off x="4453128" y="4114800"/>
            <a:ext cx="365760" cy="411480"/>
          </a:xfrm>
          <a:prstGeom prst="downArrow">
            <a:avLst/>
          </a:prstGeom>
          <a:solidFill>
            <a:srgbClr val="9ED3B3"/>
          </a:solidFill>
          <a:ln>
            <a:noFill/>
          </a:ln>
          <a:effectLst/>
        </p:spPr>
        <p:txBody>
          <a:bodyPr rtlCol="0" anchor="ctr"/>
          <a:lstStyle/>
          <a:p>
            <a:pPr algn="ctr"/>
          </a:p>
        </p:txBody>
      </p:sp>
      <p:sp>
        <p:nvSpPr>
          <p:cNvPr id="34" name="Rounded Rectangle 33"/>
          <p:cNvSpPr/>
          <p:nvPr/>
        </p:nvSpPr>
        <p:spPr>
          <a:xfrm>
            <a:off x="3127248" y="4617720"/>
            <a:ext cx="3017520" cy="777240"/>
          </a:xfrm>
          <a:prstGeom prst="roundRect">
            <a:avLst>
              <a:gd name="adj" fmla="val 14117"/>
            </a:avLst>
          </a:prstGeom>
          <a:solidFill>
            <a:srgbClr val="E6F4EC"/>
          </a:solidFill>
          <a:ln>
            <a:noFill/>
          </a:ln>
          <a:effectLst/>
        </p:spPr>
        <p:txBody>
          <a:bodyPr rtlCol="0" anchor="ctr"/>
          <a:lstStyle/>
          <a:p/>
        </p:txBody>
      </p:sp>
      <p:sp>
        <p:nvSpPr>
          <p:cNvPr id="35" name="Oval 34"/>
          <p:cNvSpPr/>
          <p:nvPr/>
        </p:nvSpPr>
        <p:spPr>
          <a:xfrm>
            <a:off x="3264408" y="4745736"/>
            <a:ext cx="512064" cy="512064"/>
          </a:xfrm>
          <a:prstGeom prst="ellipse">
            <a:avLst/>
          </a:prstGeom>
          <a:solidFill>
            <a:srgbClr val="FFFFFF"/>
          </a:solidFill>
          <a:ln>
            <a:noFill/>
          </a:ln>
          <a:effectLst/>
        </p:spPr>
        <p:txBody>
          <a:bodyPr rtlCol="0" anchor="ctr"/>
          <a:lstStyle/>
          <a:p>
            <a:pPr algn="ctr"/>
          </a:p>
        </p:txBody>
      </p:sp>
      <p:pic>
        <p:nvPicPr>
          <p:cNvPr id="36" name="Picture 35" descr="send_g.png"/>
          <p:cNvPicPr>
            <a:picLocks noChangeAspect="1"/>
          </p:cNvPicPr>
          <p:nvPr/>
        </p:nvPicPr>
        <p:blipFill>
          <a:blip r:embed="rId6"/>
          <a:stretch>
            <a:fillRect/>
          </a:stretch>
        </p:blipFill>
        <p:spPr>
          <a:xfrm>
            <a:off x="3377062" y="4858390"/>
            <a:ext cx="286755" cy="286755"/>
          </a:xfrm>
          <a:prstGeom prst="rect">
            <a:avLst/>
          </a:prstGeom>
        </p:spPr>
      </p:pic>
      <p:sp>
        <p:nvSpPr>
          <p:cNvPr id="37" name="TextBox 36"/>
          <p:cNvSpPr txBox="1"/>
          <p:nvPr/>
        </p:nvSpPr>
        <p:spPr>
          <a:xfrm>
            <a:off x="3904487" y="4617720"/>
            <a:ext cx="2148840" cy="777240"/>
          </a:xfrm>
          <a:prstGeom prst="rect">
            <a:avLst/>
          </a:prstGeom>
          <a:noFill/>
        </p:spPr>
        <p:txBody>
          <a:bodyPr wrap="square" lIns="0" rIns="0" tIns="0" bIns="0" anchor="ctr">
            <a:spAutoFit/>
          </a:bodyPr>
          <a:lstStyle/>
          <a:p>
            <a:pPr algn="l">
              <a:lnSpc>
                <a:spcPct val="100000"/>
              </a:lnSpc>
            </a:pPr>
            <a:r>
              <a:rPr sz="1300" b="1">
                <a:solidFill>
                  <a:srgbClr val="006E32"/>
                </a:solidFill>
                <a:latin typeface="Arial"/>
              </a:rPr>
              <a:t>Daily reports to management on Telegram</a:t>
            </a:r>
          </a:p>
        </p:txBody>
      </p:sp>
      <p:sp>
        <p:nvSpPr>
          <p:cNvPr id="38" name="Up-Down Arrow 37"/>
          <p:cNvSpPr/>
          <p:nvPr/>
        </p:nvSpPr>
        <p:spPr>
          <a:xfrm>
            <a:off x="10250424" y="4114800"/>
            <a:ext cx="365760" cy="411480"/>
          </a:xfrm>
          <a:prstGeom prst="upDownArrow">
            <a:avLst/>
          </a:prstGeom>
          <a:solidFill>
            <a:srgbClr val="9ED3B3"/>
          </a:solidFill>
          <a:ln>
            <a:noFill/>
          </a:ln>
          <a:effectLst/>
        </p:spPr>
        <p:txBody>
          <a:bodyPr rtlCol="0" anchor="ctr"/>
          <a:lstStyle/>
          <a:p>
            <a:pPr algn="ctr"/>
          </a:p>
        </p:txBody>
      </p:sp>
      <p:sp>
        <p:nvSpPr>
          <p:cNvPr id="39" name="Rounded Rectangle 38"/>
          <p:cNvSpPr/>
          <p:nvPr/>
        </p:nvSpPr>
        <p:spPr>
          <a:xfrm>
            <a:off x="7507223" y="4617720"/>
            <a:ext cx="4114800" cy="1234440"/>
          </a:xfrm>
          <a:prstGeom prst="roundRect">
            <a:avLst>
              <a:gd name="adj" fmla="val 8888"/>
            </a:avLst>
          </a:prstGeom>
          <a:solidFill>
            <a:srgbClr val="F4F5F6"/>
          </a:solidFill>
          <a:ln>
            <a:noFill/>
          </a:ln>
          <a:effectLst/>
        </p:spPr>
        <p:txBody>
          <a:bodyPr rtlCol="0" anchor="ctr"/>
          <a:lstStyle/>
          <a:p/>
        </p:txBody>
      </p:sp>
      <p:sp>
        <p:nvSpPr>
          <p:cNvPr id="40" name="TextBox 39"/>
          <p:cNvSpPr txBox="1"/>
          <p:nvPr/>
        </p:nvSpPr>
        <p:spPr>
          <a:xfrm>
            <a:off x="7690104" y="4709160"/>
            <a:ext cx="3840480" cy="274320"/>
          </a:xfrm>
          <a:prstGeom prst="rect">
            <a:avLst/>
          </a:prstGeom>
          <a:noFill/>
        </p:spPr>
        <p:txBody>
          <a:bodyPr wrap="square" lIns="0" rIns="0" tIns="0" bIns="0" anchor="t">
            <a:spAutoFit/>
          </a:bodyPr>
          <a:lstStyle/>
          <a:p>
            <a:pPr algn="l">
              <a:lnSpc>
                <a:spcPct val="100000"/>
              </a:lnSpc>
            </a:pPr>
            <a:r>
              <a:rPr sz="1100" b="1">
                <a:solidFill>
                  <a:srgbClr val="5F6670"/>
                </a:solidFill>
                <a:latin typeface="Arial"/>
              </a:rPr>
              <a:t>CAPTURED IN THE APP</a:t>
            </a:r>
          </a:p>
        </p:txBody>
      </p:sp>
      <p:sp>
        <p:nvSpPr>
          <p:cNvPr id="41" name="Rounded Rectangle 40"/>
          <p:cNvSpPr/>
          <p:nvPr/>
        </p:nvSpPr>
        <p:spPr>
          <a:xfrm>
            <a:off x="7690104" y="5029200"/>
            <a:ext cx="132588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2" name="TextBox 41"/>
          <p:cNvSpPr txBox="1"/>
          <p:nvPr/>
        </p:nvSpPr>
        <p:spPr>
          <a:xfrm>
            <a:off x="7690104" y="5029200"/>
            <a:ext cx="132588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GPS visits</a:t>
            </a:r>
          </a:p>
        </p:txBody>
      </p:sp>
      <p:sp>
        <p:nvSpPr>
          <p:cNvPr id="43" name="Rounded Rectangle 42"/>
          <p:cNvSpPr/>
          <p:nvPr/>
        </p:nvSpPr>
        <p:spPr>
          <a:xfrm>
            <a:off x="9107424" y="5029200"/>
            <a:ext cx="192024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4" name="TextBox 43"/>
          <p:cNvSpPr txBox="1"/>
          <p:nvPr/>
        </p:nvSpPr>
        <p:spPr>
          <a:xfrm>
            <a:off x="9107424" y="5029200"/>
            <a:ext cx="192024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Photos &amp; shelf audit</a:t>
            </a:r>
          </a:p>
        </p:txBody>
      </p:sp>
      <p:sp>
        <p:nvSpPr>
          <p:cNvPr id="45" name="Rounded Rectangle 44"/>
          <p:cNvSpPr/>
          <p:nvPr/>
        </p:nvSpPr>
        <p:spPr>
          <a:xfrm>
            <a:off x="7690104" y="5422392"/>
            <a:ext cx="132588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6" name="TextBox 45"/>
          <p:cNvSpPr txBox="1"/>
          <p:nvPr/>
        </p:nvSpPr>
        <p:spPr>
          <a:xfrm>
            <a:off x="7690104" y="5422392"/>
            <a:ext cx="132588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Orders</a:t>
            </a:r>
          </a:p>
        </p:txBody>
      </p:sp>
      <p:sp>
        <p:nvSpPr>
          <p:cNvPr id="47" name="Rounded Rectangle 46"/>
          <p:cNvSpPr/>
          <p:nvPr/>
        </p:nvSpPr>
        <p:spPr>
          <a:xfrm>
            <a:off x="9107424" y="5422392"/>
            <a:ext cx="1920240" cy="329184"/>
          </a:xfrm>
          <a:prstGeom prst="roundRect">
            <a:avLst>
              <a:gd name="adj" fmla="val 50000"/>
            </a:avLst>
          </a:prstGeom>
          <a:solidFill>
            <a:srgbClr val="FFFFFF"/>
          </a:solidFill>
          <a:ln w="9525">
            <a:solidFill>
              <a:srgbClr val="D9DEDB"/>
            </a:solidFill>
          </a:ln>
          <a:effectLst/>
        </p:spPr>
        <p:txBody>
          <a:bodyPr rtlCol="0" anchor="ctr"/>
          <a:lstStyle/>
          <a:p/>
        </p:txBody>
      </p:sp>
      <p:sp>
        <p:nvSpPr>
          <p:cNvPr id="48" name="TextBox 47"/>
          <p:cNvSpPr txBox="1"/>
          <p:nvPr/>
        </p:nvSpPr>
        <p:spPr>
          <a:xfrm>
            <a:off x="9107424" y="5422392"/>
            <a:ext cx="1920240" cy="329184"/>
          </a:xfrm>
          <a:prstGeom prst="rect">
            <a:avLst/>
          </a:prstGeom>
          <a:noFill/>
        </p:spPr>
        <p:txBody>
          <a:bodyPr wrap="square" lIns="0" rIns="0" tIns="0" bIns="0" anchor="ctr">
            <a:spAutoFit/>
          </a:bodyPr>
          <a:lstStyle/>
          <a:p>
            <a:pPr algn="ctr">
              <a:lnSpc>
                <a:spcPct val="100000"/>
              </a:lnSpc>
            </a:pPr>
            <a:r>
              <a:rPr sz="1150" b="1">
                <a:solidFill>
                  <a:srgbClr val="23272B"/>
                </a:solidFill>
                <a:latin typeface="Arial"/>
              </a:rPr>
              <a:t>Payments</a:t>
            </a:r>
          </a:p>
        </p:txBody>
      </p:sp>
      <p:sp>
        <p:nvSpPr>
          <p:cNvPr id="49" name="TextBox 48"/>
          <p:cNvSpPr txBox="1"/>
          <p:nvPr/>
        </p:nvSpPr>
        <p:spPr>
          <a:xfrm>
            <a:off x="548640" y="5989320"/>
            <a:ext cx="5852160" cy="320040"/>
          </a:xfrm>
          <a:prstGeom prst="rect">
            <a:avLst/>
          </a:prstGeom>
          <a:noFill/>
        </p:spPr>
        <p:txBody>
          <a:bodyPr wrap="square" lIns="0" rIns="0" tIns="0" bIns="0" anchor="t">
            <a:spAutoFit/>
          </a:bodyPr>
          <a:lstStyle/>
          <a:p>
            <a:pPr algn="l">
              <a:lnSpc>
                <a:spcPct val="100000"/>
              </a:lnSpc>
            </a:pPr>
            <a:r>
              <a:rPr sz="1150" b="0">
                <a:solidFill>
                  <a:srgbClr val="5F6670"/>
                </a:solidFill>
                <a:latin typeface="Arial"/>
              </a:rPr>
              <a:t>Matched by ERP ID, never by name. Excel stays the source of truth.</a:t>
            </a:r>
          </a:p>
        </p:txBody>
      </p:sp>
      <p:cxnSp>
        <p:nvCxnSpPr>
          <p:cNvPr id="50" name="Connector 49"/>
          <p:cNvCxnSpPr/>
          <p:nvPr/>
        </p:nvCxnSpPr>
        <p:spPr>
          <a:xfrm>
            <a:off x="548640" y="6400800"/>
            <a:ext cx="11094415" cy="0"/>
          </a:xfrm>
          <a:prstGeom prst="line">
            <a:avLst/>
          </a:prstGeom>
          <a:ln w="9525">
            <a:solidFill>
              <a:srgbClr val="D9DEDB"/>
            </a:solidFill>
          </a:ln>
        </p:spPr>
      </p:cxnSp>
      <p:pic>
        <p:nvPicPr>
          <p:cNvPr id="51" name="Picture 50" descr="kad-wordmark.png"/>
          <p:cNvPicPr>
            <a:picLocks noChangeAspect="1"/>
          </p:cNvPicPr>
          <p:nvPr/>
        </p:nvPicPr>
        <p:blipFill>
          <a:blip r:embed="rId7"/>
          <a:stretch>
            <a:fillRect/>
          </a:stretch>
        </p:blipFill>
        <p:spPr>
          <a:xfrm>
            <a:off x="548640" y="6519672"/>
            <a:ext cx="759129" cy="155448"/>
          </a:xfrm>
          <a:prstGeom prst="rect">
            <a:avLst/>
          </a:prstGeom>
        </p:spPr>
      </p:pic>
      <p:sp>
        <p:nvSpPr>
          <p:cNvPr id="52" name="TextBox 51"/>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53" name="TextBox 52"/>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FIELD EXECUTION</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Every visit is verified: GPS check-in, photo and shelf audit</a:t>
            </a:r>
          </a:p>
        </p:txBody>
      </p:sp>
      <p:pic>
        <p:nvPicPr>
          <p:cNvPr id="6" name="Picture 5" descr="checkin.png"/>
          <p:cNvPicPr>
            <a:picLocks noChangeAspect="1"/>
          </p:cNvPicPr>
          <p:nvPr/>
        </p:nvPicPr>
        <p:blipFill>
          <a:blip r:embed="rId2"/>
          <a:stretch>
            <a:fillRect/>
          </a:stretch>
        </p:blipFill>
        <p:spPr>
          <a:xfrm>
            <a:off x="960120" y="1600200"/>
            <a:ext cx="1893859" cy="3886200"/>
          </a:xfrm>
          <a:prstGeom prst="rect">
            <a:avLst/>
          </a:prstGeom>
        </p:spPr>
      </p:pic>
      <p:sp>
        <p:nvSpPr>
          <p:cNvPr id="7" name="TextBox 6"/>
          <p:cNvSpPr txBox="1"/>
          <p:nvPr/>
        </p:nvSpPr>
        <p:spPr>
          <a:xfrm>
            <a:off x="306849" y="5486400"/>
            <a:ext cx="3200400" cy="320040"/>
          </a:xfrm>
          <a:prstGeom prst="rect">
            <a:avLst/>
          </a:prstGeom>
          <a:noFill/>
        </p:spPr>
        <p:txBody>
          <a:bodyPr wrap="square" lIns="0" rIns="0" tIns="0" bIns="0" anchor="t">
            <a:spAutoFit/>
          </a:bodyPr>
          <a:lstStyle/>
          <a:p>
            <a:pPr algn="ctr">
              <a:lnSpc>
                <a:spcPct val="100000"/>
              </a:lnSpc>
            </a:pPr>
            <a:r>
              <a:rPr sz="1600" b="1">
                <a:solidFill>
                  <a:srgbClr val="23272B"/>
                </a:solidFill>
                <a:latin typeface="Arial"/>
              </a:rPr>
              <a:t>GPS check-in + photo</a:t>
            </a:r>
          </a:p>
        </p:txBody>
      </p:sp>
      <p:sp>
        <p:nvSpPr>
          <p:cNvPr id="8" name="TextBox 7"/>
          <p:cNvSpPr txBox="1"/>
          <p:nvPr/>
        </p:nvSpPr>
        <p:spPr>
          <a:xfrm>
            <a:off x="306849" y="5806440"/>
            <a:ext cx="3200400" cy="502920"/>
          </a:xfrm>
          <a:prstGeom prst="rect">
            <a:avLst/>
          </a:prstGeom>
          <a:noFill/>
        </p:spPr>
        <p:txBody>
          <a:bodyPr wrap="square" lIns="0" rIns="0" tIns="0" bIns="0" anchor="t">
            <a:spAutoFit/>
          </a:bodyPr>
          <a:lstStyle/>
          <a:p>
            <a:pPr algn="ctr">
              <a:lnSpc>
                <a:spcPct val="100000"/>
              </a:lnSpc>
            </a:pPr>
            <a:r>
              <a:rPr sz="1250" b="0">
                <a:solidFill>
                  <a:srgbClr val="5F6670"/>
                </a:solidFill>
                <a:latin typeface="Arial"/>
              </a:rPr>
              <a:t>Accepted only within 300 m of the outlet.</a:t>
            </a:r>
          </a:p>
        </p:txBody>
      </p:sp>
      <p:pic>
        <p:nvPicPr>
          <p:cNvPr id="9" name="Picture 8" descr="shelf_audit.png"/>
          <p:cNvPicPr>
            <a:picLocks noChangeAspect="1"/>
          </p:cNvPicPr>
          <p:nvPr/>
        </p:nvPicPr>
        <p:blipFill>
          <a:blip r:embed="rId3"/>
          <a:stretch>
            <a:fillRect/>
          </a:stretch>
        </p:blipFill>
        <p:spPr>
          <a:xfrm>
            <a:off x="4800600" y="1783080"/>
            <a:ext cx="1650609" cy="3520440"/>
          </a:xfrm>
          <a:prstGeom prst="rect">
            <a:avLst/>
          </a:prstGeom>
        </p:spPr>
      </p:pic>
      <p:sp>
        <p:nvSpPr>
          <p:cNvPr id="10" name="TextBox 9"/>
          <p:cNvSpPr txBox="1"/>
          <p:nvPr/>
        </p:nvSpPr>
        <p:spPr>
          <a:xfrm>
            <a:off x="3979984" y="5486400"/>
            <a:ext cx="3200400" cy="320040"/>
          </a:xfrm>
          <a:prstGeom prst="rect">
            <a:avLst/>
          </a:prstGeom>
          <a:noFill/>
        </p:spPr>
        <p:txBody>
          <a:bodyPr wrap="square" lIns="0" rIns="0" tIns="0" bIns="0" anchor="t">
            <a:spAutoFit/>
          </a:bodyPr>
          <a:lstStyle/>
          <a:p>
            <a:pPr algn="ctr">
              <a:lnSpc>
                <a:spcPct val="100000"/>
              </a:lnSpc>
            </a:pPr>
            <a:r>
              <a:rPr sz="1600" b="1">
                <a:solidFill>
                  <a:srgbClr val="23272B"/>
                </a:solidFill>
                <a:latin typeface="Arial"/>
              </a:rPr>
              <a:t>Shelf audit at every visit</a:t>
            </a:r>
          </a:p>
        </p:txBody>
      </p:sp>
      <p:sp>
        <p:nvSpPr>
          <p:cNvPr id="11" name="TextBox 10"/>
          <p:cNvSpPr txBox="1"/>
          <p:nvPr/>
        </p:nvSpPr>
        <p:spPr>
          <a:xfrm>
            <a:off x="3979984" y="5806440"/>
            <a:ext cx="3200400" cy="502920"/>
          </a:xfrm>
          <a:prstGeom prst="rect">
            <a:avLst/>
          </a:prstGeom>
          <a:noFill/>
        </p:spPr>
        <p:txBody>
          <a:bodyPr wrap="square" lIns="0" rIns="0" tIns="0" bIns="0" anchor="t">
            <a:spAutoFit/>
          </a:bodyPr>
          <a:lstStyle/>
          <a:p>
            <a:pPr algn="ctr">
              <a:lnSpc>
                <a:spcPct val="100000"/>
              </a:lnSpc>
            </a:pPr>
            <a:r>
              <a:rPr sz="1250" b="0">
                <a:solidFill>
                  <a:srgbClr val="5F6670"/>
                </a:solidFill>
                <a:latin typeface="Arial"/>
              </a:rPr>
              <a:t>Castrol available, full range, fake or parallel import.</a:t>
            </a:r>
          </a:p>
        </p:txBody>
      </p:sp>
      <p:pic>
        <p:nvPicPr>
          <p:cNvPr id="12" name="Picture 11" descr="map.png"/>
          <p:cNvPicPr>
            <a:picLocks noChangeAspect="1"/>
          </p:cNvPicPr>
          <p:nvPr/>
        </p:nvPicPr>
        <p:blipFill>
          <a:blip r:embed="rId4"/>
          <a:stretch>
            <a:fillRect/>
          </a:stretch>
        </p:blipFill>
        <p:spPr>
          <a:xfrm>
            <a:off x="8458200" y="1600200"/>
            <a:ext cx="1893859" cy="3886200"/>
          </a:xfrm>
          <a:prstGeom prst="rect">
            <a:avLst/>
          </a:prstGeom>
        </p:spPr>
      </p:pic>
      <p:sp>
        <p:nvSpPr>
          <p:cNvPr id="13" name="TextBox 12"/>
          <p:cNvSpPr txBox="1"/>
          <p:nvPr/>
        </p:nvSpPr>
        <p:spPr>
          <a:xfrm>
            <a:off x="7804929" y="5486400"/>
            <a:ext cx="3200400" cy="320040"/>
          </a:xfrm>
          <a:prstGeom prst="rect">
            <a:avLst/>
          </a:prstGeom>
          <a:noFill/>
        </p:spPr>
        <p:txBody>
          <a:bodyPr wrap="square" lIns="0" rIns="0" tIns="0" bIns="0" anchor="t">
            <a:spAutoFit/>
          </a:bodyPr>
          <a:lstStyle/>
          <a:p>
            <a:pPr algn="ctr">
              <a:lnSpc>
                <a:spcPct val="100000"/>
              </a:lnSpc>
            </a:pPr>
            <a:r>
              <a:rPr sz="1600" b="1">
                <a:solidFill>
                  <a:srgbClr val="23272B"/>
                </a:solidFill>
                <a:latin typeface="Arial"/>
              </a:rPr>
              <a:t>Customer map &amp; CRM</a:t>
            </a:r>
          </a:p>
        </p:txBody>
      </p:sp>
      <p:sp>
        <p:nvSpPr>
          <p:cNvPr id="14" name="TextBox 13"/>
          <p:cNvSpPr txBox="1"/>
          <p:nvPr/>
        </p:nvSpPr>
        <p:spPr>
          <a:xfrm>
            <a:off x="7804929" y="5806440"/>
            <a:ext cx="3200400" cy="502920"/>
          </a:xfrm>
          <a:prstGeom prst="rect">
            <a:avLst/>
          </a:prstGeom>
          <a:noFill/>
        </p:spPr>
        <p:txBody>
          <a:bodyPr wrap="square" lIns="0" rIns="0" tIns="0" bIns="0" anchor="t">
            <a:spAutoFit/>
          </a:bodyPr>
          <a:lstStyle/>
          <a:p>
            <a:pPr algn="ctr">
              <a:lnSpc>
                <a:spcPct val="100000"/>
              </a:lnSpc>
            </a:pPr>
            <a:r>
              <a:rPr sz="1250" b="0">
                <a:solidFill>
                  <a:srgbClr val="5F6670"/>
                </a:solidFill>
                <a:latin typeface="Arial"/>
              </a:rPr>
              <a:t>Every outlet with visit status, debt and plan.</a:t>
            </a:r>
          </a:p>
        </p:txBody>
      </p:sp>
      <p:cxnSp>
        <p:nvCxnSpPr>
          <p:cNvPr id="15" name="Connector 14"/>
          <p:cNvCxnSpPr/>
          <p:nvPr/>
        </p:nvCxnSpPr>
        <p:spPr>
          <a:xfrm>
            <a:off x="548640" y="6400800"/>
            <a:ext cx="11094415" cy="0"/>
          </a:xfrm>
          <a:prstGeom prst="line">
            <a:avLst/>
          </a:prstGeom>
          <a:ln w="9525">
            <a:solidFill>
              <a:srgbClr val="D9DEDB"/>
            </a:solidFill>
          </a:ln>
        </p:spPr>
      </p:cxnSp>
      <p:pic>
        <p:nvPicPr>
          <p:cNvPr id="16" name="Picture 15" descr="kad-wordmark.png"/>
          <p:cNvPicPr>
            <a:picLocks noChangeAspect="1"/>
          </p:cNvPicPr>
          <p:nvPr/>
        </p:nvPicPr>
        <p:blipFill>
          <a:blip r:embed="rId5"/>
          <a:stretch>
            <a:fillRect/>
          </a:stretch>
        </p:blipFill>
        <p:spPr>
          <a:xfrm>
            <a:off x="548640" y="6519672"/>
            <a:ext cx="759129" cy="155448"/>
          </a:xfrm>
          <a:prstGeom prst="rect">
            <a:avLst/>
          </a:prstGeom>
        </p:spPr>
      </p:pic>
      <p:sp>
        <p:nvSpPr>
          <p:cNvPr id="17" name="TextBox 16"/>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18" name="TextBox 17"/>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COMMERCIAL CONTROL</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Orders, prices, credit and cash in one controlled flow</a:t>
            </a:r>
          </a:p>
        </p:txBody>
      </p:sp>
      <p:pic>
        <p:nvPicPr>
          <p:cNvPr id="6" name="Picture 5" descr="order.png"/>
          <p:cNvPicPr>
            <a:picLocks noChangeAspect="1"/>
          </p:cNvPicPr>
          <p:nvPr/>
        </p:nvPicPr>
        <p:blipFill>
          <a:blip r:embed="rId2"/>
          <a:stretch>
            <a:fillRect/>
          </a:stretch>
        </p:blipFill>
        <p:spPr>
          <a:xfrm>
            <a:off x="502920" y="1600200"/>
            <a:ext cx="2228070" cy="4572000"/>
          </a:xfrm>
          <a:prstGeom prst="rect">
            <a:avLst/>
          </a:prstGeom>
        </p:spPr>
      </p:pic>
      <p:pic>
        <p:nvPicPr>
          <p:cNvPr id="7" name="Picture 6" descr="debt.png"/>
          <p:cNvPicPr>
            <a:picLocks noChangeAspect="1"/>
          </p:cNvPicPr>
          <p:nvPr/>
        </p:nvPicPr>
        <p:blipFill>
          <a:blip r:embed="rId3"/>
          <a:stretch>
            <a:fillRect/>
          </a:stretch>
        </p:blipFill>
        <p:spPr>
          <a:xfrm>
            <a:off x="2926080" y="1600200"/>
            <a:ext cx="2228070" cy="4572000"/>
          </a:xfrm>
          <a:prstGeom prst="rect">
            <a:avLst/>
          </a:prstGeom>
        </p:spPr>
      </p:pic>
      <p:sp>
        <p:nvSpPr>
          <p:cNvPr id="8" name="Oval 7"/>
          <p:cNvSpPr/>
          <p:nvPr/>
        </p:nvSpPr>
        <p:spPr>
          <a:xfrm>
            <a:off x="5806440" y="1783080"/>
            <a:ext cx="640080" cy="640080"/>
          </a:xfrm>
          <a:prstGeom prst="ellipse">
            <a:avLst/>
          </a:prstGeom>
          <a:solidFill>
            <a:srgbClr val="E6F4EC"/>
          </a:solidFill>
          <a:ln>
            <a:noFill/>
          </a:ln>
          <a:effectLst/>
        </p:spPr>
        <p:txBody>
          <a:bodyPr rtlCol="0" anchor="ctr"/>
          <a:lstStyle/>
          <a:p>
            <a:pPr algn="ctr"/>
          </a:p>
        </p:txBody>
      </p:sp>
      <p:pic>
        <p:nvPicPr>
          <p:cNvPr id="9" name="Picture 8" descr="cart_g.png"/>
          <p:cNvPicPr>
            <a:picLocks noChangeAspect="1"/>
          </p:cNvPicPr>
          <p:nvPr/>
        </p:nvPicPr>
        <p:blipFill>
          <a:blip r:embed="rId4"/>
          <a:stretch>
            <a:fillRect/>
          </a:stretch>
        </p:blipFill>
        <p:spPr>
          <a:xfrm>
            <a:off x="5947257" y="1923897"/>
            <a:ext cx="358444" cy="358444"/>
          </a:xfrm>
          <a:prstGeom prst="rect">
            <a:avLst/>
          </a:prstGeom>
        </p:spPr>
      </p:pic>
      <p:sp>
        <p:nvSpPr>
          <p:cNvPr id="10" name="TextBox 9"/>
          <p:cNvSpPr txBox="1"/>
          <p:nvPr/>
        </p:nvSpPr>
        <p:spPr>
          <a:xfrm>
            <a:off x="6675120" y="178308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Orders in a few taps</a:t>
            </a:r>
          </a:p>
        </p:txBody>
      </p:sp>
      <p:sp>
        <p:nvSpPr>
          <p:cNvPr id="11" name="TextBox 10"/>
          <p:cNvSpPr txBox="1"/>
          <p:nvPr/>
        </p:nvSpPr>
        <p:spPr>
          <a:xfrm>
            <a:off x="6675120" y="211226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Usual basket and repeat order, even offline.</a:t>
            </a:r>
          </a:p>
        </p:txBody>
      </p:sp>
      <p:sp>
        <p:nvSpPr>
          <p:cNvPr id="12" name="Oval 11"/>
          <p:cNvSpPr/>
          <p:nvPr/>
        </p:nvSpPr>
        <p:spPr>
          <a:xfrm>
            <a:off x="5806440" y="2651760"/>
            <a:ext cx="640080" cy="640080"/>
          </a:xfrm>
          <a:prstGeom prst="ellipse">
            <a:avLst/>
          </a:prstGeom>
          <a:solidFill>
            <a:srgbClr val="E6F4EC"/>
          </a:solidFill>
          <a:ln>
            <a:noFill/>
          </a:ln>
          <a:effectLst/>
        </p:spPr>
        <p:txBody>
          <a:bodyPr rtlCol="0" anchor="ctr"/>
          <a:lstStyle/>
          <a:p>
            <a:pPr algn="ctr"/>
          </a:p>
        </p:txBody>
      </p:sp>
      <p:pic>
        <p:nvPicPr>
          <p:cNvPr id="13" name="Picture 12" descr="tag_g.png"/>
          <p:cNvPicPr>
            <a:picLocks noChangeAspect="1"/>
          </p:cNvPicPr>
          <p:nvPr/>
        </p:nvPicPr>
        <p:blipFill>
          <a:blip r:embed="rId5"/>
          <a:stretch>
            <a:fillRect/>
          </a:stretch>
        </p:blipFill>
        <p:spPr>
          <a:xfrm>
            <a:off x="5947257" y="2792577"/>
            <a:ext cx="358444" cy="358444"/>
          </a:xfrm>
          <a:prstGeom prst="rect">
            <a:avLst/>
          </a:prstGeom>
        </p:spPr>
      </p:pic>
      <p:sp>
        <p:nvSpPr>
          <p:cNvPr id="14" name="TextBox 13"/>
          <p:cNvSpPr txBox="1"/>
          <p:nvPr/>
        </p:nvSpPr>
        <p:spPr>
          <a:xfrm>
            <a:off x="6675120" y="265176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Central price lists</a:t>
            </a:r>
          </a:p>
        </p:txBody>
      </p:sp>
      <p:sp>
        <p:nvSpPr>
          <p:cNvPr id="15" name="TextBox 14"/>
          <p:cNvSpPr txBox="1"/>
          <p:nvPr/>
        </p:nvSpPr>
        <p:spPr>
          <a:xfrm>
            <a:off x="6675120" y="298094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Bronze, Silver and Gold tiers; no typed prices.</a:t>
            </a:r>
          </a:p>
        </p:txBody>
      </p:sp>
      <p:sp>
        <p:nvSpPr>
          <p:cNvPr id="16" name="Oval 15"/>
          <p:cNvSpPr/>
          <p:nvPr/>
        </p:nvSpPr>
        <p:spPr>
          <a:xfrm>
            <a:off x="5806440" y="3520439"/>
            <a:ext cx="640080" cy="640080"/>
          </a:xfrm>
          <a:prstGeom prst="ellipse">
            <a:avLst/>
          </a:prstGeom>
          <a:solidFill>
            <a:srgbClr val="E6F4EC"/>
          </a:solidFill>
          <a:ln>
            <a:noFill/>
          </a:ln>
          <a:effectLst/>
        </p:spPr>
        <p:txBody>
          <a:bodyPr rtlCol="0" anchor="ctr"/>
          <a:lstStyle/>
          <a:p>
            <a:pPr algn="ctr"/>
          </a:p>
        </p:txBody>
      </p:sp>
      <p:pic>
        <p:nvPicPr>
          <p:cNvPr id="17" name="Picture 16" descr="checkCircle_g.png"/>
          <p:cNvPicPr>
            <a:picLocks noChangeAspect="1"/>
          </p:cNvPicPr>
          <p:nvPr/>
        </p:nvPicPr>
        <p:blipFill>
          <a:blip r:embed="rId6"/>
          <a:stretch>
            <a:fillRect/>
          </a:stretch>
        </p:blipFill>
        <p:spPr>
          <a:xfrm>
            <a:off x="5947257" y="3661257"/>
            <a:ext cx="358444" cy="358444"/>
          </a:xfrm>
          <a:prstGeom prst="rect">
            <a:avLst/>
          </a:prstGeom>
        </p:spPr>
      </p:pic>
      <p:sp>
        <p:nvSpPr>
          <p:cNvPr id="18" name="TextBox 17"/>
          <p:cNvSpPr txBox="1"/>
          <p:nvPr/>
        </p:nvSpPr>
        <p:spPr>
          <a:xfrm>
            <a:off x="6675120" y="3520439"/>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Discount control</a:t>
            </a:r>
          </a:p>
        </p:txBody>
      </p:sp>
      <p:sp>
        <p:nvSpPr>
          <p:cNvPr id="19" name="TextBox 18"/>
          <p:cNvSpPr txBox="1"/>
          <p:nvPr/>
        </p:nvSpPr>
        <p:spPr>
          <a:xfrm>
            <a:off x="6675120" y="384962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Above 3% needs management approval.</a:t>
            </a:r>
          </a:p>
        </p:txBody>
      </p:sp>
      <p:sp>
        <p:nvSpPr>
          <p:cNvPr id="20" name="Oval 19"/>
          <p:cNvSpPr/>
          <p:nvPr/>
        </p:nvSpPr>
        <p:spPr>
          <a:xfrm>
            <a:off x="5806440" y="4389120"/>
            <a:ext cx="640080" cy="640080"/>
          </a:xfrm>
          <a:prstGeom prst="ellipse">
            <a:avLst/>
          </a:prstGeom>
          <a:solidFill>
            <a:srgbClr val="E6F4EC"/>
          </a:solidFill>
          <a:ln>
            <a:noFill/>
          </a:ln>
          <a:effectLst/>
        </p:spPr>
        <p:txBody>
          <a:bodyPr rtlCol="0" anchor="ctr"/>
          <a:lstStyle/>
          <a:p>
            <a:pPr algn="ctr"/>
          </a:p>
        </p:txBody>
      </p:sp>
      <p:pic>
        <p:nvPicPr>
          <p:cNvPr id="21" name="Picture 20" descr="wallet_g.png"/>
          <p:cNvPicPr>
            <a:picLocks noChangeAspect="1"/>
          </p:cNvPicPr>
          <p:nvPr/>
        </p:nvPicPr>
        <p:blipFill>
          <a:blip r:embed="rId7"/>
          <a:stretch>
            <a:fillRect/>
          </a:stretch>
        </p:blipFill>
        <p:spPr>
          <a:xfrm>
            <a:off x="5947257" y="4529937"/>
            <a:ext cx="358444" cy="358444"/>
          </a:xfrm>
          <a:prstGeom prst="rect">
            <a:avLst/>
          </a:prstGeom>
        </p:spPr>
      </p:pic>
      <p:sp>
        <p:nvSpPr>
          <p:cNvPr id="22" name="TextBox 21"/>
          <p:cNvSpPr txBox="1"/>
          <p:nvPr/>
        </p:nvSpPr>
        <p:spPr>
          <a:xfrm>
            <a:off x="6675120" y="438912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Credit and cash</a:t>
            </a:r>
          </a:p>
        </p:txBody>
      </p:sp>
      <p:sp>
        <p:nvSpPr>
          <p:cNvPr id="23" name="TextBox 22"/>
          <p:cNvSpPr txBox="1"/>
          <p:nvPr/>
        </p:nvSpPr>
        <p:spPr>
          <a:xfrm>
            <a:off x="6675120" y="471830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Credit limits, overdue alerts, cash tracked to the accountant.</a:t>
            </a:r>
          </a:p>
        </p:txBody>
      </p:sp>
      <p:sp>
        <p:nvSpPr>
          <p:cNvPr id="24" name="Oval 23"/>
          <p:cNvSpPr/>
          <p:nvPr/>
        </p:nvSpPr>
        <p:spPr>
          <a:xfrm>
            <a:off x="5806440" y="5257800"/>
            <a:ext cx="640080" cy="640080"/>
          </a:xfrm>
          <a:prstGeom prst="ellipse">
            <a:avLst/>
          </a:prstGeom>
          <a:solidFill>
            <a:srgbClr val="E6F4EC"/>
          </a:solidFill>
          <a:ln>
            <a:noFill/>
          </a:ln>
          <a:effectLst/>
        </p:spPr>
        <p:txBody>
          <a:bodyPr rtlCol="0" anchor="ctr"/>
          <a:lstStyle/>
          <a:p>
            <a:pPr algn="ctr"/>
          </a:p>
        </p:txBody>
      </p:sp>
      <p:pic>
        <p:nvPicPr>
          <p:cNvPr id="25" name="Picture 24" descr="target_g.png"/>
          <p:cNvPicPr>
            <a:picLocks noChangeAspect="1"/>
          </p:cNvPicPr>
          <p:nvPr/>
        </p:nvPicPr>
        <p:blipFill>
          <a:blip r:embed="rId8"/>
          <a:stretch>
            <a:fillRect/>
          </a:stretch>
        </p:blipFill>
        <p:spPr>
          <a:xfrm>
            <a:off x="5947257" y="5398617"/>
            <a:ext cx="358444" cy="358444"/>
          </a:xfrm>
          <a:prstGeom prst="rect">
            <a:avLst/>
          </a:prstGeom>
        </p:spPr>
      </p:pic>
      <p:sp>
        <p:nvSpPr>
          <p:cNvPr id="26" name="TextBox 25"/>
          <p:cNvSpPr txBox="1"/>
          <p:nvPr/>
        </p:nvSpPr>
        <p:spPr>
          <a:xfrm>
            <a:off x="6675120" y="5257800"/>
            <a:ext cx="4937760" cy="320040"/>
          </a:xfrm>
          <a:prstGeom prst="rect">
            <a:avLst/>
          </a:prstGeom>
          <a:noFill/>
        </p:spPr>
        <p:txBody>
          <a:bodyPr wrap="square" lIns="0" rIns="0" tIns="0" bIns="0" anchor="t">
            <a:spAutoFit/>
          </a:bodyPr>
          <a:lstStyle/>
          <a:p>
            <a:pPr algn="l">
              <a:lnSpc>
                <a:spcPct val="100000"/>
              </a:lnSpc>
            </a:pPr>
            <a:r>
              <a:rPr sz="1700" b="1">
                <a:solidFill>
                  <a:srgbClr val="23272B"/>
                </a:solidFill>
                <a:latin typeface="Arial"/>
              </a:rPr>
              <a:t>Targets and bonuses</a:t>
            </a:r>
          </a:p>
        </p:txBody>
      </p:sp>
      <p:sp>
        <p:nvSpPr>
          <p:cNvPr id="27" name="TextBox 26"/>
          <p:cNvSpPr txBox="1"/>
          <p:nvPr/>
        </p:nvSpPr>
        <p:spPr>
          <a:xfrm>
            <a:off x="6675120" y="5586984"/>
            <a:ext cx="4937760" cy="36576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Rep targets and points for visits, orders and collections.</a:t>
            </a:r>
          </a:p>
        </p:txBody>
      </p:sp>
      <p:cxnSp>
        <p:nvCxnSpPr>
          <p:cNvPr id="28" name="Connector 27"/>
          <p:cNvCxnSpPr/>
          <p:nvPr/>
        </p:nvCxnSpPr>
        <p:spPr>
          <a:xfrm>
            <a:off x="548640" y="6400800"/>
            <a:ext cx="11094415" cy="0"/>
          </a:xfrm>
          <a:prstGeom prst="line">
            <a:avLst/>
          </a:prstGeom>
          <a:ln w="9525">
            <a:solidFill>
              <a:srgbClr val="D9DEDB"/>
            </a:solidFill>
          </a:ln>
        </p:spPr>
      </p:cxnSp>
      <p:pic>
        <p:nvPicPr>
          <p:cNvPr id="29" name="Picture 28" descr="kad-wordmark.png"/>
          <p:cNvPicPr>
            <a:picLocks noChangeAspect="1"/>
          </p:cNvPicPr>
          <p:nvPr/>
        </p:nvPicPr>
        <p:blipFill>
          <a:blip r:embed="rId9"/>
          <a:stretch>
            <a:fillRect/>
          </a:stretch>
        </p:blipFill>
        <p:spPr>
          <a:xfrm>
            <a:off x="548640" y="6519672"/>
            <a:ext cx="759129" cy="155448"/>
          </a:xfrm>
          <a:prstGeom prst="rect">
            <a:avLst/>
          </a:prstGeom>
        </p:spPr>
      </p:pic>
      <p:sp>
        <p:nvSpPr>
          <p:cNvPr id="30" name="TextBox 29"/>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1" name="TextBox 30"/>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MANAGEMENT VISIBILITY</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Management sees every rep, region and KPI, every day</a:t>
            </a:r>
          </a:p>
        </p:txBody>
      </p:sp>
      <p:pic>
        <p:nvPicPr>
          <p:cNvPr id="6" name="Picture 5" descr="dashboard.png"/>
          <p:cNvPicPr>
            <a:picLocks noChangeAspect="1"/>
          </p:cNvPicPr>
          <p:nvPr/>
        </p:nvPicPr>
        <p:blipFill>
          <a:blip r:embed="rId2"/>
          <a:stretch>
            <a:fillRect/>
          </a:stretch>
        </p:blipFill>
        <p:spPr>
          <a:xfrm>
            <a:off x="502920" y="1600200"/>
            <a:ext cx="2228070" cy="4572000"/>
          </a:xfrm>
          <a:prstGeom prst="rect">
            <a:avLst/>
          </a:prstGeom>
        </p:spPr>
      </p:pic>
      <p:pic>
        <p:nvPicPr>
          <p:cNvPr id="7" name="Picture 6" descr="team.png"/>
          <p:cNvPicPr>
            <a:picLocks noChangeAspect="1"/>
          </p:cNvPicPr>
          <p:nvPr/>
        </p:nvPicPr>
        <p:blipFill>
          <a:blip r:embed="rId3"/>
          <a:stretch>
            <a:fillRect/>
          </a:stretch>
        </p:blipFill>
        <p:spPr>
          <a:xfrm>
            <a:off x="2926080" y="1600200"/>
            <a:ext cx="2228070" cy="4572000"/>
          </a:xfrm>
          <a:prstGeom prst="rect">
            <a:avLst/>
          </a:prstGeom>
        </p:spPr>
      </p:pic>
      <p:sp>
        <p:nvSpPr>
          <p:cNvPr id="8" name="Rounded Rectangle 7"/>
          <p:cNvSpPr/>
          <p:nvPr/>
        </p:nvSpPr>
        <p:spPr>
          <a:xfrm>
            <a:off x="5806440" y="1783080"/>
            <a:ext cx="2743200" cy="749808"/>
          </a:xfrm>
          <a:prstGeom prst="roundRect">
            <a:avLst>
              <a:gd name="adj" fmla="val 14634"/>
            </a:avLst>
          </a:prstGeom>
          <a:solidFill>
            <a:srgbClr val="F4F5F6"/>
          </a:solidFill>
          <a:ln>
            <a:noFill/>
          </a:ln>
          <a:effectLst/>
        </p:spPr>
        <p:txBody>
          <a:bodyPr rtlCol="0" anchor="ctr"/>
          <a:lstStyle/>
          <a:p/>
        </p:txBody>
      </p:sp>
      <p:sp>
        <p:nvSpPr>
          <p:cNvPr id="9" name="Oval 8"/>
          <p:cNvSpPr/>
          <p:nvPr/>
        </p:nvSpPr>
        <p:spPr>
          <a:xfrm>
            <a:off x="5934455" y="1901952"/>
            <a:ext cx="512064" cy="512064"/>
          </a:xfrm>
          <a:prstGeom prst="ellipse">
            <a:avLst/>
          </a:prstGeom>
          <a:solidFill>
            <a:srgbClr val="E6F4EC"/>
          </a:solidFill>
          <a:ln>
            <a:noFill/>
          </a:ln>
          <a:effectLst/>
        </p:spPr>
        <p:txBody>
          <a:bodyPr rtlCol="0" anchor="ctr"/>
          <a:lstStyle/>
          <a:p>
            <a:pPr algn="ctr"/>
          </a:p>
        </p:txBody>
      </p:sp>
      <p:pic>
        <p:nvPicPr>
          <p:cNvPr id="10" name="Picture 9" descr="chart_g.png"/>
          <p:cNvPicPr>
            <a:picLocks noChangeAspect="1"/>
          </p:cNvPicPr>
          <p:nvPr/>
        </p:nvPicPr>
        <p:blipFill>
          <a:blip r:embed="rId4"/>
          <a:stretch>
            <a:fillRect/>
          </a:stretch>
        </p:blipFill>
        <p:spPr>
          <a:xfrm>
            <a:off x="6047110" y="2014606"/>
            <a:ext cx="286755" cy="286755"/>
          </a:xfrm>
          <a:prstGeom prst="rect">
            <a:avLst/>
          </a:prstGeom>
        </p:spPr>
      </p:pic>
      <p:sp>
        <p:nvSpPr>
          <p:cNvPr id="11" name="TextBox 10"/>
          <p:cNvSpPr txBox="1"/>
          <p:nvPr/>
        </p:nvSpPr>
        <p:spPr>
          <a:xfrm>
            <a:off x="6583679" y="17830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Sales vs plan</a:t>
            </a:r>
          </a:p>
        </p:txBody>
      </p:sp>
      <p:sp>
        <p:nvSpPr>
          <p:cNvPr id="12" name="Rounded Rectangle 11"/>
          <p:cNvSpPr/>
          <p:nvPr/>
        </p:nvSpPr>
        <p:spPr>
          <a:xfrm>
            <a:off x="8732520" y="1783080"/>
            <a:ext cx="2743200" cy="749808"/>
          </a:xfrm>
          <a:prstGeom prst="roundRect">
            <a:avLst>
              <a:gd name="adj" fmla="val 14634"/>
            </a:avLst>
          </a:prstGeom>
          <a:solidFill>
            <a:srgbClr val="F4F5F6"/>
          </a:solidFill>
          <a:ln>
            <a:noFill/>
          </a:ln>
          <a:effectLst/>
        </p:spPr>
        <p:txBody>
          <a:bodyPr rtlCol="0" anchor="ctr"/>
          <a:lstStyle/>
          <a:p/>
        </p:txBody>
      </p:sp>
      <p:sp>
        <p:nvSpPr>
          <p:cNvPr id="13" name="Oval 12"/>
          <p:cNvSpPr/>
          <p:nvPr/>
        </p:nvSpPr>
        <p:spPr>
          <a:xfrm>
            <a:off x="8860536" y="1901952"/>
            <a:ext cx="512064" cy="512064"/>
          </a:xfrm>
          <a:prstGeom prst="ellipse">
            <a:avLst/>
          </a:prstGeom>
          <a:solidFill>
            <a:srgbClr val="E6F4EC"/>
          </a:solidFill>
          <a:ln>
            <a:noFill/>
          </a:ln>
          <a:effectLst/>
        </p:spPr>
        <p:txBody>
          <a:bodyPr rtlCol="0" anchor="ctr"/>
          <a:lstStyle/>
          <a:p>
            <a:pPr algn="ctr"/>
          </a:p>
        </p:txBody>
      </p:sp>
      <p:pic>
        <p:nvPicPr>
          <p:cNvPr id="14" name="Picture 13" descr="wallet_g.png"/>
          <p:cNvPicPr>
            <a:picLocks noChangeAspect="1"/>
          </p:cNvPicPr>
          <p:nvPr/>
        </p:nvPicPr>
        <p:blipFill>
          <a:blip r:embed="rId5"/>
          <a:stretch>
            <a:fillRect/>
          </a:stretch>
        </p:blipFill>
        <p:spPr>
          <a:xfrm>
            <a:off x="8973190" y="2014606"/>
            <a:ext cx="286755" cy="286755"/>
          </a:xfrm>
          <a:prstGeom prst="rect">
            <a:avLst/>
          </a:prstGeom>
        </p:spPr>
      </p:pic>
      <p:sp>
        <p:nvSpPr>
          <p:cNvPr id="15" name="TextBox 14"/>
          <p:cNvSpPr txBox="1"/>
          <p:nvPr/>
        </p:nvSpPr>
        <p:spPr>
          <a:xfrm>
            <a:off x="9509760" y="17830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Cash collected</a:t>
            </a:r>
          </a:p>
        </p:txBody>
      </p:sp>
      <p:sp>
        <p:nvSpPr>
          <p:cNvPr id="16" name="Rounded Rectangle 15"/>
          <p:cNvSpPr/>
          <p:nvPr/>
        </p:nvSpPr>
        <p:spPr>
          <a:xfrm>
            <a:off x="5806440" y="2697480"/>
            <a:ext cx="2743200" cy="749808"/>
          </a:xfrm>
          <a:prstGeom prst="roundRect">
            <a:avLst>
              <a:gd name="adj" fmla="val 14634"/>
            </a:avLst>
          </a:prstGeom>
          <a:solidFill>
            <a:srgbClr val="F4F5F6"/>
          </a:solidFill>
          <a:ln>
            <a:noFill/>
          </a:ln>
          <a:effectLst/>
        </p:spPr>
        <p:txBody>
          <a:bodyPr rtlCol="0" anchor="ctr"/>
          <a:lstStyle/>
          <a:p/>
        </p:txBody>
      </p:sp>
      <p:sp>
        <p:nvSpPr>
          <p:cNvPr id="17" name="Oval 16"/>
          <p:cNvSpPr/>
          <p:nvPr/>
        </p:nvSpPr>
        <p:spPr>
          <a:xfrm>
            <a:off x="5934455" y="2816352"/>
            <a:ext cx="512064" cy="512064"/>
          </a:xfrm>
          <a:prstGeom prst="ellipse">
            <a:avLst/>
          </a:prstGeom>
          <a:solidFill>
            <a:srgbClr val="E6F4EC"/>
          </a:solidFill>
          <a:ln>
            <a:noFill/>
          </a:ln>
          <a:effectLst/>
        </p:spPr>
        <p:txBody>
          <a:bodyPr rtlCol="0" anchor="ctr"/>
          <a:lstStyle/>
          <a:p>
            <a:pPr algn="ctr"/>
          </a:p>
        </p:txBody>
      </p:sp>
      <p:pic>
        <p:nvPicPr>
          <p:cNvPr id="18" name="Picture 17" descr="mapPinCheck_g.png"/>
          <p:cNvPicPr>
            <a:picLocks noChangeAspect="1"/>
          </p:cNvPicPr>
          <p:nvPr/>
        </p:nvPicPr>
        <p:blipFill>
          <a:blip r:embed="rId6"/>
          <a:stretch>
            <a:fillRect/>
          </a:stretch>
        </p:blipFill>
        <p:spPr>
          <a:xfrm>
            <a:off x="6047110" y="2929006"/>
            <a:ext cx="286755" cy="286755"/>
          </a:xfrm>
          <a:prstGeom prst="rect">
            <a:avLst/>
          </a:prstGeom>
        </p:spPr>
      </p:pic>
      <p:sp>
        <p:nvSpPr>
          <p:cNvPr id="19" name="TextBox 18"/>
          <p:cNvSpPr txBox="1"/>
          <p:nvPr/>
        </p:nvSpPr>
        <p:spPr>
          <a:xfrm>
            <a:off x="6583679" y="26974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Visits &amp; coverage</a:t>
            </a:r>
          </a:p>
        </p:txBody>
      </p:sp>
      <p:sp>
        <p:nvSpPr>
          <p:cNvPr id="20" name="Rounded Rectangle 19"/>
          <p:cNvSpPr/>
          <p:nvPr/>
        </p:nvSpPr>
        <p:spPr>
          <a:xfrm>
            <a:off x="8732520" y="2697480"/>
            <a:ext cx="2743200" cy="749808"/>
          </a:xfrm>
          <a:prstGeom prst="roundRect">
            <a:avLst>
              <a:gd name="adj" fmla="val 14634"/>
            </a:avLst>
          </a:prstGeom>
          <a:solidFill>
            <a:srgbClr val="F4F5F6"/>
          </a:solidFill>
          <a:ln>
            <a:noFill/>
          </a:ln>
          <a:effectLst/>
        </p:spPr>
        <p:txBody>
          <a:bodyPr rtlCol="0" anchor="ctr"/>
          <a:lstStyle/>
          <a:p/>
        </p:txBody>
      </p:sp>
      <p:sp>
        <p:nvSpPr>
          <p:cNvPr id="21" name="Oval 20"/>
          <p:cNvSpPr/>
          <p:nvPr/>
        </p:nvSpPr>
        <p:spPr>
          <a:xfrm>
            <a:off x="8860536" y="2816352"/>
            <a:ext cx="512064" cy="512064"/>
          </a:xfrm>
          <a:prstGeom prst="ellipse">
            <a:avLst/>
          </a:prstGeom>
          <a:solidFill>
            <a:srgbClr val="E6F4EC"/>
          </a:solidFill>
          <a:ln>
            <a:noFill/>
          </a:ln>
          <a:effectLst/>
        </p:spPr>
        <p:txBody>
          <a:bodyPr rtlCol="0" anchor="ctr"/>
          <a:lstStyle/>
          <a:p>
            <a:pPr algn="ctr"/>
          </a:p>
        </p:txBody>
      </p:sp>
      <p:pic>
        <p:nvPicPr>
          <p:cNvPr id="22" name="Picture 21" descr="layers_g.png"/>
          <p:cNvPicPr>
            <a:picLocks noChangeAspect="1"/>
          </p:cNvPicPr>
          <p:nvPr/>
        </p:nvPicPr>
        <p:blipFill>
          <a:blip r:embed="rId7"/>
          <a:stretch>
            <a:fillRect/>
          </a:stretch>
        </p:blipFill>
        <p:spPr>
          <a:xfrm>
            <a:off x="8973190" y="2929006"/>
            <a:ext cx="286755" cy="286755"/>
          </a:xfrm>
          <a:prstGeom prst="rect">
            <a:avLst/>
          </a:prstGeom>
        </p:spPr>
      </p:pic>
      <p:sp>
        <p:nvSpPr>
          <p:cNvPr id="23" name="TextBox 22"/>
          <p:cNvSpPr txBox="1"/>
          <p:nvPr/>
        </p:nvSpPr>
        <p:spPr>
          <a:xfrm>
            <a:off x="9509760" y="26974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Litres by product line</a:t>
            </a:r>
          </a:p>
        </p:txBody>
      </p:sp>
      <p:sp>
        <p:nvSpPr>
          <p:cNvPr id="24" name="Rounded Rectangle 23"/>
          <p:cNvSpPr/>
          <p:nvPr/>
        </p:nvSpPr>
        <p:spPr>
          <a:xfrm>
            <a:off x="5806440" y="3611880"/>
            <a:ext cx="2743200" cy="749808"/>
          </a:xfrm>
          <a:prstGeom prst="roundRect">
            <a:avLst>
              <a:gd name="adj" fmla="val 14634"/>
            </a:avLst>
          </a:prstGeom>
          <a:solidFill>
            <a:srgbClr val="F4F5F6"/>
          </a:solidFill>
          <a:ln>
            <a:noFill/>
          </a:ln>
          <a:effectLst/>
        </p:spPr>
        <p:txBody>
          <a:bodyPr rtlCol="0" anchor="ctr"/>
          <a:lstStyle/>
          <a:p/>
        </p:txBody>
      </p:sp>
      <p:sp>
        <p:nvSpPr>
          <p:cNvPr id="25" name="Oval 24"/>
          <p:cNvSpPr/>
          <p:nvPr/>
        </p:nvSpPr>
        <p:spPr>
          <a:xfrm>
            <a:off x="5934455" y="3730752"/>
            <a:ext cx="512064" cy="512064"/>
          </a:xfrm>
          <a:prstGeom prst="ellipse">
            <a:avLst/>
          </a:prstGeom>
          <a:solidFill>
            <a:srgbClr val="E6F4EC"/>
          </a:solidFill>
          <a:ln>
            <a:noFill/>
          </a:ln>
          <a:effectLst/>
        </p:spPr>
        <p:txBody>
          <a:bodyPr rtlCol="0" anchor="ctr"/>
          <a:lstStyle/>
          <a:p>
            <a:pPr algn="ctr"/>
          </a:p>
        </p:txBody>
      </p:sp>
      <p:pic>
        <p:nvPicPr>
          <p:cNvPr id="26" name="Picture 25" descr="history_g.png"/>
          <p:cNvPicPr>
            <a:picLocks noChangeAspect="1"/>
          </p:cNvPicPr>
          <p:nvPr/>
        </p:nvPicPr>
        <p:blipFill>
          <a:blip r:embed="rId8"/>
          <a:stretch>
            <a:fillRect/>
          </a:stretch>
        </p:blipFill>
        <p:spPr>
          <a:xfrm>
            <a:off x="6047110" y="3843406"/>
            <a:ext cx="286755" cy="286755"/>
          </a:xfrm>
          <a:prstGeom prst="rect">
            <a:avLst/>
          </a:prstGeom>
        </p:spPr>
      </p:pic>
      <p:sp>
        <p:nvSpPr>
          <p:cNvPr id="27" name="TextBox 26"/>
          <p:cNvSpPr txBox="1"/>
          <p:nvPr/>
        </p:nvSpPr>
        <p:spPr>
          <a:xfrm>
            <a:off x="6583679" y="36118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Debt ageing</a:t>
            </a:r>
          </a:p>
        </p:txBody>
      </p:sp>
      <p:sp>
        <p:nvSpPr>
          <p:cNvPr id="28" name="Rounded Rectangle 27"/>
          <p:cNvSpPr/>
          <p:nvPr/>
        </p:nvSpPr>
        <p:spPr>
          <a:xfrm>
            <a:off x="8732520" y="3611880"/>
            <a:ext cx="2743200" cy="749808"/>
          </a:xfrm>
          <a:prstGeom prst="roundRect">
            <a:avLst>
              <a:gd name="adj" fmla="val 14634"/>
            </a:avLst>
          </a:prstGeom>
          <a:solidFill>
            <a:srgbClr val="F4F5F6"/>
          </a:solidFill>
          <a:ln>
            <a:noFill/>
          </a:ln>
          <a:effectLst/>
        </p:spPr>
        <p:txBody>
          <a:bodyPr rtlCol="0" anchor="ctr"/>
          <a:lstStyle/>
          <a:p/>
        </p:txBody>
      </p:sp>
      <p:sp>
        <p:nvSpPr>
          <p:cNvPr id="29" name="Oval 28"/>
          <p:cNvSpPr/>
          <p:nvPr/>
        </p:nvSpPr>
        <p:spPr>
          <a:xfrm>
            <a:off x="8860536" y="3730752"/>
            <a:ext cx="512064" cy="512064"/>
          </a:xfrm>
          <a:prstGeom prst="ellipse">
            <a:avLst/>
          </a:prstGeom>
          <a:solidFill>
            <a:srgbClr val="E6F4EC"/>
          </a:solidFill>
          <a:ln>
            <a:noFill/>
          </a:ln>
          <a:effectLst/>
        </p:spPr>
        <p:txBody>
          <a:bodyPr rtlCol="0" anchor="ctr"/>
          <a:lstStyle/>
          <a:p>
            <a:pPr algn="ctr"/>
          </a:p>
        </p:txBody>
      </p:sp>
      <p:pic>
        <p:nvPicPr>
          <p:cNvPr id="30" name="Picture 29" descr="team_g.png"/>
          <p:cNvPicPr>
            <a:picLocks noChangeAspect="1"/>
          </p:cNvPicPr>
          <p:nvPr/>
        </p:nvPicPr>
        <p:blipFill>
          <a:blip r:embed="rId9"/>
          <a:stretch>
            <a:fillRect/>
          </a:stretch>
        </p:blipFill>
        <p:spPr>
          <a:xfrm>
            <a:off x="8973190" y="3843406"/>
            <a:ext cx="286755" cy="286755"/>
          </a:xfrm>
          <a:prstGeom prst="rect">
            <a:avLst/>
          </a:prstGeom>
        </p:spPr>
      </p:pic>
      <p:sp>
        <p:nvSpPr>
          <p:cNvPr id="31" name="TextBox 30"/>
          <p:cNvSpPr txBox="1"/>
          <p:nvPr/>
        </p:nvSpPr>
        <p:spPr>
          <a:xfrm>
            <a:off x="9509760" y="3611880"/>
            <a:ext cx="1920240" cy="749808"/>
          </a:xfrm>
          <a:prstGeom prst="rect">
            <a:avLst/>
          </a:prstGeom>
          <a:noFill/>
        </p:spPr>
        <p:txBody>
          <a:bodyPr wrap="square" lIns="0" rIns="0" tIns="0" bIns="0" anchor="ctr">
            <a:spAutoFit/>
          </a:bodyPr>
          <a:lstStyle/>
          <a:p>
            <a:pPr algn="l">
              <a:lnSpc>
                <a:spcPct val="100000"/>
              </a:lnSpc>
            </a:pPr>
            <a:r>
              <a:rPr sz="1450" b="1">
                <a:solidFill>
                  <a:srgbClr val="23272B"/>
                </a:solidFill>
                <a:latin typeface="Arial"/>
              </a:rPr>
              <a:t>Rep scorecards</a:t>
            </a:r>
          </a:p>
        </p:txBody>
      </p:sp>
      <p:sp>
        <p:nvSpPr>
          <p:cNvPr id="32" name="Rounded Rectangle 31"/>
          <p:cNvSpPr/>
          <p:nvPr/>
        </p:nvSpPr>
        <p:spPr>
          <a:xfrm>
            <a:off x="5806440" y="4663440"/>
            <a:ext cx="5669280" cy="1280160"/>
          </a:xfrm>
          <a:prstGeom prst="roundRect">
            <a:avLst>
              <a:gd name="adj" fmla="val 10000"/>
            </a:avLst>
          </a:prstGeom>
          <a:solidFill>
            <a:srgbClr val="009343"/>
          </a:solidFill>
          <a:ln>
            <a:noFill/>
          </a:ln>
          <a:effectLst/>
        </p:spPr>
        <p:txBody>
          <a:bodyPr rtlCol="0" anchor="ctr"/>
          <a:lstStyle/>
          <a:p/>
        </p:txBody>
      </p:sp>
      <p:sp>
        <p:nvSpPr>
          <p:cNvPr id="33" name="Oval 32"/>
          <p:cNvSpPr/>
          <p:nvPr/>
        </p:nvSpPr>
        <p:spPr>
          <a:xfrm>
            <a:off x="6035040" y="4910328"/>
            <a:ext cx="777240" cy="777240"/>
          </a:xfrm>
          <a:prstGeom prst="ellipse">
            <a:avLst/>
          </a:prstGeom>
          <a:solidFill>
            <a:srgbClr val="FFFFFF"/>
          </a:solidFill>
          <a:ln>
            <a:noFill/>
          </a:ln>
          <a:effectLst/>
        </p:spPr>
        <p:txBody>
          <a:bodyPr rtlCol="0" anchor="ctr"/>
          <a:lstStyle/>
          <a:p>
            <a:pPr algn="ctr"/>
          </a:p>
        </p:txBody>
      </p:sp>
      <p:pic>
        <p:nvPicPr>
          <p:cNvPr id="34" name="Picture 33" descr="bot_g.png"/>
          <p:cNvPicPr>
            <a:picLocks noChangeAspect="1"/>
          </p:cNvPicPr>
          <p:nvPr/>
        </p:nvPicPr>
        <p:blipFill>
          <a:blip r:embed="rId10"/>
          <a:stretch>
            <a:fillRect/>
          </a:stretch>
        </p:blipFill>
        <p:spPr>
          <a:xfrm>
            <a:off x="6206032" y="5081320"/>
            <a:ext cx="435254" cy="435254"/>
          </a:xfrm>
          <a:prstGeom prst="rect">
            <a:avLst/>
          </a:prstGeom>
        </p:spPr>
      </p:pic>
      <p:sp>
        <p:nvSpPr>
          <p:cNvPr id="35" name="TextBox 34"/>
          <p:cNvSpPr txBox="1"/>
          <p:nvPr/>
        </p:nvSpPr>
        <p:spPr>
          <a:xfrm>
            <a:off x="7040880" y="4663440"/>
            <a:ext cx="4297680" cy="1280160"/>
          </a:xfrm>
          <a:prstGeom prst="rect">
            <a:avLst/>
          </a:prstGeom>
          <a:noFill/>
        </p:spPr>
        <p:txBody>
          <a:bodyPr wrap="square" lIns="0" rIns="0" tIns="0" bIns="0" anchor="ctr">
            <a:spAutoFit/>
          </a:bodyPr>
          <a:lstStyle/>
          <a:p>
            <a:pPr algn="l">
              <a:lnSpc>
                <a:spcPct val="100000"/>
              </a:lnSpc>
            </a:pPr>
            <a:r>
              <a:rPr sz="1700" b="1">
                <a:solidFill>
                  <a:srgbClr val="FFFFFF"/>
                </a:solidFill>
                <a:latin typeface="Arial"/>
              </a:rPr>
              <a:t>CEO bot on Telegram</a:t>
            </a:r>
          </a:p>
          <a:p>
            <a:pPr algn="l">
              <a:lnSpc>
                <a:spcPct val="100000"/>
              </a:lnSpc>
              <a:spcBef>
                <a:spcPts val="300"/>
              </a:spcBef>
            </a:pPr>
            <a:r>
              <a:rPr sz="1350" b="0">
                <a:solidFill>
                  <a:srgbClr val="FFFFFF"/>
                </a:solidFill>
                <a:latin typeface="Arial"/>
              </a:rPr>
              <a:t>Daily, weekly and monthly reports as soon as the ERP file arrives.</a:t>
            </a:r>
          </a:p>
        </p:txBody>
      </p:sp>
      <p:cxnSp>
        <p:nvCxnSpPr>
          <p:cNvPr id="36" name="Connector 35"/>
          <p:cNvCxnSpPr/>
          <p:nvPr/>
        </p:nvCxnSpPr>
        <p:spPr>
          <a:xfrm>
            <a:off x="548640" y="6400800"/>
            <a:ext cx="11094415" cy="0"/>
          </a:xfrm>
          <a:prstGeom prst="line">
            <a:avLst/>
          </a:prstGeom>
          <a:ln w="9525">
            <a:solidFill>
              <a:srgbClr val="D9DEDB"/>
            </a:solidFill>
          </a:ln>
        </p:spPr>
      </p:cxnSp>
      <p:pic>
        <p:nvPicPr>
          <p:cNvPr id="37" name="Picture 36" descr="kad-wordmark.png"/>
          <p:cNvPicPr>
            <a:picLocks noChangeAspect="1"/>
          </p:cNvPicPr>
          <p:nvPr/>
        </p:nvPicPr>
        <p:blipFill>
          <a:blip r:embed="rId11"/>
          <a:stretch>
            <a:fillRect/>
          </a:stretch>
        </p:blipFill>
        <p:spPr>
          <a:xfrm>
            <a:off x="548640" y="6519672"/>
            <a:ext cx="759129" cy="155448"/>
          </a:xfrm>
          <a:prstGeom prst="rect">
            <a:avLst/>
          </a:prstGeom>
        </p:spPr>
      </p:pic>
      <p:sp>
        <p:nvSpPr>
          <p:cNvPr id="38" name="TextBox 37"/>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9" name="TextBox 38"/>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RESULTS</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2026 so far: more litres, Castrol on plan, cash collected</a:t>
            </a:r>
          </a:p>
        </p:txBody>
      </p:sp>
      <p:sp>
        <p:nvSpPr>
          <p:cNvPr id="6" name="Rounded Rectangle 5"/>
          <p:cNvSpPr/>
          <p:nvPr/>
        </p:nvSpPr>
        <p:spPr>
          <a:xfrm>
            <a:off x="548640" y="1783080"/>
            <a:ext cx="2788920" cy="1737360"/>
          </a:xfrm>
          <a:prstGeom prst="roundRect">
            <a:avLst>
              <a:gd name="adj" fmla="val 6315"/>
            </a:avLst>
          </a:prstGeom>
          <a:solidFill>
            <a:srgbClr val="F4F5F6"/>
          </a:solidFill>
          <a:ln>
            <a:noFill/>
          </a:ln>
          <a:effectLst/>
        </p:spPr>
        <p:txBody>
          <a:bodyPr rtlCol="0" anchor="ctr"/>
          <a:lstStyle/>
          <a:p/>
        </p:txBody>
      </p:sp>
      <p:sp>
        <p:nvSpPr>
          <p:cNvPr id="7" name="TextBox 6"/>
          <p:cNvSpPr txBox="1"/>
          <p:nvPr/>
        </p:nvSpPr>
        <p:spPr>
          <a:xfrm>
            <a:off x="777240" y="1965960"/>
            <a:ext cx="2468880" cy="731520"/>
          </a:xfrm>
          <a:prstGeom prst="rect">
            <a:avLst/>
          </a:prstGeom>
          <a:noFill/>
        </p:spPr>
        <p:txBody>
          <a:bodyPr wrap="square" lIns="0" rIns="0" tIns="0" bIns="0" anchor="t">
            <a:spAutoFit/>
          </a:bodyPr>
          <a:lstStyle/>
          <a:p>
            <a:pPr algn="l">
              <a:lnSpc>
                <a:spcPct val="100000"/>
              </a:lnSpc>
            </a:pPr>
            <a:r>
              <a:rPr sz="4200" b="1">
                <a:solidFill>
                  <a:srgbClr val="009343"/>
                </a:solidFill>
                <a:latin typeface="Arial"/>
              </a:rPr>
              <a:t>+27%</a:t>
            </a:r>
          </a:p>
        </p:txBody>
      </p:sp>
      <p:sp>
        <p:nvSpPr>
          <p:cNvPr id="8" name="TextBox 7"/>
          <p:cNvSpPr txBox="1"/>
          <p:nvPr/>
        </p:nvSpPr>
        <p:spPr>
          <a:xfrm>
            <a:off x="777240" y="2743200"/>
            <a:ext cx="2377440" cy="68580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litres sold 1 Jan – 8 Oct 2026, vs all of 2025</a:t>
            </a:r>
          </a:p>
        </p:txBody>
      </p:sp>
      <p:sp>
        <p:nvSpPr>
          <p:cNvPr id="9" name="Rounded Rectangle 8"/>
          <p:cNvSpPr/>
          <p:nvPr/>
        </p:nvSpPr>
        <p:spPr>
          <a:xfrm>
            <a:off x="3520440" y="1783080"/>
            <a:ext cx="2788920" cy="1737360"/>
          </a:xfrm>
          <a:prstGeom prst="roundRect">
            <a:avLst>
              <a:gd name="adj" fmla="val 6315"/>
            </a:avLst>
          </a:prstGeom>
          <a:solidFill>
            <a:srgbClr val="F4F5F6"/>
          </a:solidFill>
          <a:ln>
            <a:noFill/>
          </a:ln>
          <a:effectLst/>
        </p:spPr>
        <p:txBody>
          <a:bodyPr rtlCol="0" anchor="ctr"/>
          <a:lstStyle/>
          <a:p/>
        </p:txBody>
      </p:sp>
      <p:sp>
        <p:nvSpPr>
          <p:cNvPr id="10" name="TextBox 9"/>
          <p:cNvSpPr txBox="1"/>
          <p:nvPr/>
        </p:nvSpPr>
        <p:spPr>
          <a:xfrm>
            <a:off x="3749039" y="1965960"/>
            <a:ext cx="2468880" cy="731520"/>
          </a:xfrm>
          <a:prstGeom prst="rect">
            <a:avLst/>
          </a:prstGeom>
          <a:noFill/>
        </p:spPr>
        <p:txBody>
          <a:bodyPr wrap="square" lIns="0" rIns="0" tIns="0" bIns="0" anchor="t">
            <a:spAutoFit/>
          </a:bodyPr>
          <a:lstStyle/>
          <a:p>
            <a:pPr algn="l">
              <a:lnSpc>
                <a:spcPct val="100000"/>
              </a:lnSpc>
            </a:pPr>
            <a:r>
              <a:rPr sz="4200" b="1">
                <a:solidFill>
                  <a:srgbClr val="009343"/>
                </a:solidFill>
                <a:latin typeface="Arial"/>
              </a:rPr>
              <a:t>96%</a:t>
            </a:r>
          </a:p>
        </p:txBody>
      </p:sp>
      <p:sp>
        <p:nvSpPr>
          <p:cNvPr id="11" name="TextBox 10"/>
          <p:cNvSpPr txBox="1"/>
          <p:nvPr/>
        </p:nvSpPr>
        <p:spPr>
          <a:xfrm>
            <a:off x="3749039" y="2743200"/>
            <a:ext cx="2377440" cy="68580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Castrol volume vs 2026 plan, year to date</a:t>
            </a:r>
          </a:p>
        </p:txBody>
      </p:sp>
      <p:sp>
        <p:nvSpPr>
          <p:cNvPr id="12" name="Rounded Rectangle 11"/>
          <p:cNvSpPr/>
          <p:nvPr/>
        </p:nvSpPr>
        <p:spPr>
          <a:xfrm>
            <a:off x="548640" y="3703320"/>
            <a:ext cx="2788920" cy="1737360"/>
          </a:xfrm>
          <a:prstGeom prst="roundRect">
            <a:avLst>
              <a:gd name="adj" fmla="val 6315"/>
            </a:avLst>
          </a:prstGeom>
          <a:solidFill>
            <a:srgbClr val="F4F5F6"/>
          </a:solidFill>
          <a:ln>
            <a:noFill/>
          </a:ln>
          <a:effectLst/>
        </p:spPr>
        <p:txBody>
          <a:bodyPr rtlCol="0" anchor="ctr"/>
          <a:lstStyle/>
          <a:p/>
        </p:txBody>
      </p:sp>
      <p:sp>
        <p:nvSpPr>
          <p:cNvPr id="13" name="TextBox 12"/>
          <p:cNvSpPr txBox="1"/>
          <p:nvPr/>
        </p:nvSpPr>
        <p:spPr>
          <a:xfrm>
            <a:off x="777240" y="3886200"/>
            <a:ext cx="2468880" cy="731520"/>
          </a:xfrm>
          <a:prstGeom prst="rect">
            <a:avLst/>
          </a:prstGeom>
          <a:noFill/>
        </p:spPr>
        <p:txBody>
          <a:bodyPr wrap="square" lIns="0" rIns="0" tIns="0" bIns="0" anchor="t">
            <a:spAutoFit/>
          </a:bodyPr>
          <a:lstStyle/>
          <a:p>
            <a:pPr algn="l">
              <a:lnSpc>
                <a:spcPct val="100000"/>
              </a:lnSpc>
            </a:pPr>
            <a:r>
              <a:rPr sz="4200" b="1">
                <a:solidFill>
                  <a:srgbClr val="009343"/>
                </a:solidFill>
                <a:latin typeface="Arial"/>
              </a:rPr>
              <a:t>90%</a:t>
            </a:r>
          </a:p>
        </p:txBody>
      </p:sp>
      <p:sp>
        <p:nvSpPr>
          <p:cNvPr id="14" name="TextBox 13"/>
          <p:cNvSpPr txBox="1"/>
          <p:nvPr/>
        </p:nvSpPr>
        <p:spPr>
          <a:xfrm>
            <a:off x="777240" y="4663440"/>
            <a:ext cx="2377440" cy="68580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of 2026 sales already collected</a:t>
            </a:r>
          </a:p>
        </p:txBody>
      </p:sp>
      <p:sp>
        <p:nvSpPr>
          <p:cNvPr id="15" name="Rounded Rectangle 14"/>
          <p:cNvSpPr/>
          <p:nvPr/>
        </p:nvSpPr>
        <p:spPr>
          <a:xfrm>
            <a:off x="3520440" y="3703320"/>
            <a:ext cx="2788920" cy="1737360"/>
          </a:xfrm>
          <a:prstGeom prst="roundRect">
            <a:avLst>
              <a:gd name="adj" fmla="val 6315"/>
            </a:avLst>
          </a:prstGeom>
          <a:solidFill>
            <a:srgbClr val="F4F5F6"/>
          </a:solidFill>
          <a:ln>
            <a:noFill/>
          </a:ln>
          <a:effectLst/>
        </p:spPr>
        <p:txBody>
          <a:bodyPr rtlCol="0" anchor="ctr"/>
          <a:lstStyle/>
          <a:p/>
        </p:txBody>
      </p:sp>
      <p:sp>
        <p:nvSpPr>
          <p:cNvPr id="16" name="TextBox 15"/>
          <p:cNvSpPr txBox="1"/>
          <p:nvPr/>
        </p:nvSpPr>
        <p:spPr>
          <a:xfrm>
            <a:off x="3749039" y="3886200"/>
            <a:ext cx="2468880" cy="731520"/>
          </a:xfrm>
          <a:prstGeom prst="rect">
            <a:avLst/>
          </a:prstGeom>
          <a:noFill/>
        </p:spPr>
        <p:txBody>
          <a:bodyPr wrap="square" lIns="0" rIns="0" tIns="0" bIns="0" anchor="t">
            <a:spAutoFit/>
          </a:bodyPr>
          <a:lstStyle/>
          <a:p>
            <a:pPr algn="l">
              <a:lnSpc>
                <a:spcPct val="100000"/>
              </a:lnSpc>
            </a:pPr>
            <a:r>
              <a:rPr sz="4200" b="1">
                <a:solidFill>
                  <a:srgbClr val="009343"/>
                </a:solidFill>
                <a:latin typeface="Arial"/>
              </a:rPr>
              <a:t>230</a:t>
            </a:r>
          </a:p>
        </p:txBody>
      </p:sp>
      <p:sp>
        <p:nvSpPr>
          <p:cNvPr id="17" name="TextBox 16"/>
          <p:cNvSpPr txBox="1"/>
          <p:nvPr/>
        </p:nvSpPr>
        <p:spPr>
          <a:xfrm>
            <a:off x="3749039" y="4663440"/>
            <a:ext cx="2377440" cy="685800"/>
          </a:xfrm>
          <a:prstGeom prst="rect">
            <a:avLst/>
          </a:prstGeom>
          <a:noFill/>
        </p:spPr>
        <p:txBody>
          <a:bodyPr wrap="square" lIns="0" rIns="0" tIns="0" bIns="0" anchor="t">
            <a:spAutoFit/>
          </a:bodyPr>
          <a:lstStyle/>
          <a:p>
            <a:pPr algn="l">
              <a:lnSpc>
                <a:spcPct val="100000"/>
              </a:lnSpc>
            </a:pPr>
            <a:r>
              <a:rPr sz="1300" b="0">
                <a:solidFill>
                  <a:srgbClr val="5F6670"/>
                </a:solidFill>
                <a:latin typeface="Arial"/>
              </a:rPr>
              <a:t>customers bought in 2026; 159 in the last 90 days</a:t>
            </a:r>
          </a:p>
        </p:txBody>
      </p:sp>
      <p:sp>
        <p:nvSpPr>
          <p:cNvPr id="18" name="TextBox 17"/>
          <p:cNvSpPr txBox="1"/>
          <p:nvPr/>
        </p:nvSpPr>
        <p:spPr>
          <a:xfrm>
            <a:off x="6720840" y="1783080"/>
            <a:ext cx="4937760" cy="320040"/>
          </a:xfrm>
          <a:prstGeom prst="rect">
            <a:avLst/>
          </a:prstGeom>
          <a:noFill/>
        </p:spPr>
        <p:txBody>
          <a:bodyPr wrap="square" lIns="0" rIns="0" tIns="0" bIns="0" anchor="t">
            <a:spAutoFit/>
          </a:bodyPr>
          <a:lstStyle/>
          <a:p>
            <a:pPr algn="l">
              <a:lnSpc>
                <a:spcPct val="100000"/>
              </a:lnSpc>
            </a:pPr>
            <a:r>
              <a:rPr sz="1500" b="1">
                <a:solidFill>
                  <a:srgbClr val="23272B"/>
                </a:solidFill>
                <a:latin typeface="Arial"/>
              </a:rPr>
              <a:t>Cash collected as % of sales, 2026</a:t>
            </a:r>
          </a:p>
        </p:txBody>
      </p:sp>
      <p:graphicFrame>
        <p:nvGraphicFramePr>
          <p:cNvPr id="19" name="Chart 18"/>
          <p:cNvGraphicFramePr>
            <a:graphicFrameLocks noGrp="1"/>
          </p:cNvGraphicFramePr>
          <p:nvPr/>
        </p:nvGraphicFramePr>
        <p:xfrm>
          <a:off x="6720840" y="2194560"/>
          <a:ext cx="4846320" cy="3246120"/>
        </p:xfrm>
        <a:graphic>
          <a:graphicData uri="http://schemas.openxmlformats.org/drawingml/2006/chart">
            <c:chart xmlns:c="http://schemas.openxmlformats.org/drawingml/2006/chart" r:id="rId2"/>
          </a:graphicData>
        </a:graphic>
      </p:graphicFrame>
      <p:sp>
        <p:nvSpPr>
          <p:cNvPr id="20" name="TextBox 19"/>
          <p:cNvSpPr txBox="1"/>
          <p:nvPr/>
        </p:nvSpPr>
        <p:spPr>
          <a:xfrm>
            <a:off x="548640" y="5715000"/>
            <a:ext cx="11064240" cy="548640"/>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Source: KAD ERP workbook, orders to 8 Oct 2026; aggregates only. The platform went live in Aug 2026: this is the baseline it now tracks daily.</a:t>
            </a:r>
          </a:p>
        </p:txBody>
      </p:sp>
      <p:cxnSp>
        <p:nvCxnSpPr>
          <p:cNvPr id="21" name="Connector 20"/>
          <p:cNvCxnSpPr/>
          <p:nvPr/>
        </p:nvCxnSpPr>
        <p:spPr>
          <a:xfrm>
            <a:off x="548640" y="6400800"/>
            <a:ext cx="11094415" cy="0"/>
          </a:xfrm>
          <a:prstGeom prst="line">
            <a:avLst/>
          </a:prstGeom>
          <a:ln w="9525">
            <a:solidFill>
              <a:srgbClr val="D9DEDB"/>
            </a:solidFill>
          </a:ln>
        </p:spPr>
      </p:cxnSp>
      <p:pic>
        <p:nvPicPr>
          <p:cNvPr id="22" name="Picture 21" descr="kad-wordmark.png"/>
          <p:cNvPicPr>
            <a:picLocks noChangeAspect="1"/>
          </p:cNvPicPr>
          <p:nvPr/>
        </p:nvPicPr>
        <p:blipFill>
          <a:blip r:embed="rId3"/>
          <a:stretch>
            <a:fillRect/>
          </a:stretch>
        </p:blipFill>
        <p:spPr>
          <a:xfrm>
            <a:off x="548640" y="6519672"/>
            <a:ext cx="759129" cy="155448"/>
          </a:xfrm>
          <a:prstGeom prst="rect">
            <a:avLst/>
          </a:prstGeom>
        </p:spPr>
      </p:pic>
      <p:sp>
        <p:nvSpPr>
          <p:cNvPr id="23" name="TextBox 22"/>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24" name="TextBox 23"/>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THE MARKET PLAN</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The platform drives a 3-stage plan to win Armenia's shelves</a:t>
            </a:r>
          </a:p>
        </p:txBody>
      </p:sp>
      <p:sp>
        <p:nvSpPr>
          <p:cNvPr id="6" name="Rounded Rectangle 5"/>
          <p:cNvSpPr/>
          <p:nvPr/>
        </p:nvSpPr>
        <p:spPr>
          <a:xfrm>
            <a:off x="548640" y="3291840"/>
            <a:ext cx="2359152" cy="2606040"/>
          </a:xfrm>
          <a:prstGeom prst="roundRect">
            <a:avLst>
              <a:gd name="adj" fmla="val 5426"/>
            </a:avLst>
          </a:prstGeom>
          <a:solidFill>
            <a:srgbClr val="E6F4EC"/>
          </a:solidFill>
          <a:ln>
            <a:noFill/>
          </a:ln>
          <a:effectLst/>
        </p:spPr>
        <p:txBody>
          <a:bodyPr rtlCol="0" anchor="ctr"/>
          <a:lstStyle/>
          <a:p/>
        </p:txBody>
      </p:sp>
      <p:sp>
        <p:nvSpPr>
          <p:cNvPr id="7" name="TextBox 6"/>
          <p:cNvSpPr txBox="1"/>
          <p:nvPr/>
        </p:nvSpPr>
        <p:spPr>
          <a:xfrm>
            <a:off x="749808" y="3493008"/>
            <a:ext cx="2011680" cy="274320"/>
          </a:xfrm>
          <a:prstGeom prst="rect">
            <a:avLst/>
          </a:prstGeom>
          <a:noFill/>
        </p:spPr>
        <p:txBody>
          <a:bodyPr wrap="square" lIns="0" rIns="0" tIns="0" bIns="0" anchor="t">
            <a:spAutoFit/>
          </a:bodyPr>
          <a:lstStyle/>
          <a:p>
            <a:pPr algn="l">
              <a:lnSpc>
                <a:spcPct val="100000"/>
              </a:lnSpc>
            </a:pPr>
            <a:r>
              <a:rPr sz="1100" b="1">
                <a:solidFill>
                  <a:srgbClr val="006E32"/>
                </a:solidFill>
                <a:latin typeface="Arial"/>
              </a:rPr>
              <a:t>STAGE 1</a:t>
            </a:r>
          </a:p>
        </p:txBody>
      </p:sp>
      <p:sp>
        <p:nvSpPr>
          <p:cNvPr id="8" name="TextBox 7"/>
          <p:cNvSpPr txBox="1"/>
          <p:nvPr/>
        </p:nvSpPr>
        <p:spPr>
          <a:xfrm>
            <a:off x="749808" y="3749039"/>
            <a:ext cx="201168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Presence</a:t>
            </a:r>
          </a:p>
        </p:txBody>
      </p:sp>
      <p:sp>
        <p:nvSpPr>
          <p:cNvPr id="9" name="TextBox 8"/>
          <p:cNvSpPr txBox="1"/>
          <p:nvPr/>
        </p:nvSpPr>
        <p:spPr>
          <a:xfrm>
            <a:off x="749808" y="4206240"/>
            <a:ext cx="1965960" cy="91440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70% of customers carry at least one Castrol product</a:t>
            </a:r>
          </a:p>
        </p:txBody>
      </p:sp>
      <p:sp>
        <p:nvSpPr>
          <p:cNvPr id="10" name="TextBox 9"/>
          <p:cNvSpPr txBox="1"/>
          <p:nvPr/>
        </p:nvSpPr>
        <p:spPr>
          <a:xfrm>
            <a:off x="749808" y="5120640"/>
            <a:ext cx="1965960" cy="640080"/>
          </a:xfrm>
          <a:prstGeom prst="rect">
            <a:avLst/>
          </a:prstGeom>
          <a:noFill/>
        </p:spPr>
        <p:txBody>
          <a:bodyPr wrap="square" lIns="0" rIns="0" tIns="0" bIns="0" anchor="t">
            <a:spAutoFit/>
          </a:bodyPr>
          <a:lstStyle/>
          <a:p>
            <a:pPr algn="l">
              <a:lnSpc>
                <a:spcPct val="100000"/>
              </a:lnSpc>
            </a:pPr>
            <a:r>
              <a:rPr sz="1100" b="1">
                <a:solidFill>
                  <a:srgbClr val="5F6670"/>
                </a:solidFill>
                <a:latin typeface="Arial"/>
              </a:rPr>
              <a:t>Measured by: </a:t>
            </a:r>
            <a:r>
              <a:rPr sz="1100" b="0">
                <a:solidFill>
                  <a:srgbClr val="5F6670"/>
                </a:solidFill>
                <a:latin typeface="Arial"/>
              </a:rPr>
              <a:t>Shelf audit: Castrol available</a:t>
            </a:r>
          </a:p>
        </p:txBody>
      </p:sp>
      <p:sp>
        <p:nvSpPr>
          <p:cNvPr id="11" name="Rounded Rectangle 10"/>
          <p:cNvSpPr/>
          <p:nvPr/>
        </p:nvSpPr>
        <p:spPr>
          <a:xfrm>
            <a:off x="3035808" y="2606040"/>
            <a:ext cx="2359152" cy="3291840"/>
          </a:xfrm>
          <a:prstGeom prst="roundRect">
            <a:avLst>
              <a:gd name="adj" fmla="val 5426"/>
            </a:avLst>
          </a:prstGeom>
          <a:solidFill>
            <a:srgbClr val="9ED3B3"/>
          </a:solidFill>
          <a:ln>
            <a:noFill/>
          </a:ln>
          <a:effectLst/>
        </p:spPr>
        <p:txBody>
          <a:bodyPr rtlCol="0" anchor="ctr"/>
          <a:lstStyle/>
          <a:p/>
        </p:txBody>
      </p:sp>
      <p:sp>
        <p:nvSpPr>
          <p:cNvPr id="12" name="TextBox 11"/>
          <p:cNvSpPr txBox="1"/>
          <p:nvPr/>
        </p:nvSpPr>
        <p:spPr>
          <a:xfrm>
            <a:off x="3236976" y="2807208"/>
            <a:ext cx="2011680" cy="274320"/>
          </a:xfrm>
          <a:prstGeom prst="rect">
            <a:avLst/>
          </a:prstGeom>
          <a:noFill/>
        </p:spPr>
        <p:txBody>
          <a:bodyPr wrap="square" lIns="0" rIns="0" tIns="0" bIns="0" anchor="t">
            <a:spAutoFit/>
          </a:bodyPr>
          <a:lstStyle/>
          <a:p>
            <a:pPr algn="l">
              <a:lnSpc>
                <a:spcPct val="100000"/>
              </a:lnSpc>
            </a:pPr>
            <a:r>
              <a:rPr sz="1100" b="1">
                <a:solidFill>
                  <a:srgbClr val="006E32"/>
                </a:solidFill>
                <a:latin typeface="Arial"/>
              </a:rPr>
              <a:t>STAGE 2</a:t>
            </a:r>
          </a:p>
        </p:txBody>
      </p:sp>
      <p:sp>
        <p:nvSpPr>
          <p:cNvPr id="13" name="TextBox 12"/>
          <p:cNvSpPr txBox="1"/>
          <p:nvPr/>
        </p:nvSpPr>
        <p:spPr>
          <a:xfrm>
            <a:off x="3236976" y="3063240"/>
            <a:ext cx="201168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Full range</a:t>
            </a:r>
          </a:p>
        </p:txBody>
      </p:sp>
      <p:sp>
        <p:nvSpPr>
          <p:cNvPr id="14" name="TextBox 13"/>
          <p:cNvSpPr txBox="1"/>
          <p:nvPr/>
        </p:nvSpPr>
        <p:spPr>
          <a:xfrm>
            <a:off x="3236976" y="3520440"/>
            <a:ext cx="1965960" cy="914400"/>
          </a:xfrm>
          <a:prstGeom prst="rect">
            <a:avLst/>
          </a:prstGeom>
          <a:noFill/>
        </p:spPr>
        <p:txBody>
          <a:bodyPr wrap="square" lIns="0" rIns="0" tIns="0" bIns="0" anchor="t">
            <a:spAutoFit/>
          </a:bodyPr>
          <a:lstStyle/>
          <a:p>
            <a:pPr algn="l">
              <a:lnSpc>
                <a:spcPct val="100000"/>
              </a:lnSpc>
            </a:pPr>
            <a:r>
              <a:rPr sz="1350" b="1">
                <a:solidFill>
                  <a:srgbClr val="23272B"/>
                </a:solidFill>
                <a:latin typeface="Arial"/>
              </a:rPr>
              <a:t>Complete Castrol product lines on the shelf</a:t>
            </a:r>
          </a:p>
        </p:txBody>
      </p:sp>
      <p:sp>
        <p:nvSpPr>
          <p:cNvPr id="15" name="TextBox 14"/>
          <p:cNvSpPr txBox="1"/>
          <p:nvPr/>
        </p:nvSpPr>
        <p:spPr>
          <a:xfrm>
            <a:off x="3236976" y="5120640"/>
            <a:ext cx="1965960" cy="640080"/>
          </a:xfrm>
          <a:prstGeom prst="rect">
            <a:avLst/>
          </a:prstGeom>
          <a:noFill/>
        </p:spPr>
        <p:txBody>
          <a:bodyPr wrap="square" lIns="0" rIns="0" tIns="0" bIns="0" anchor="t">
            <a:spAutoFit/>
          </a:bodyPr>
          <a:lstStyle/>
          <a:p>
            <a:pPr algn="l">
              <a:lnSpc>
                <a:spcPct val="100000"/>
              </a:lnSpc>
            </a:pPr>
            <a:r>
              <a:rPr sz="1100" b="1">
                <a:solidFill>
                  <a:srgbClr val="23272B"/>
                </a:solidFill>
                <a:latin typeface="Arial"/>
              </a:rPr>
              <a:t>Measured by: </a:t>
            </a:r>
            <a:r>
              <a:rPr sz="1100" b="0">
                <a:solidFill>
                  <a:srgbClr val="23272B"/>
                </a:solidFill>
                <a:latin typeface="Arial"/>
              </a:rPr>
              <a:t>Shelf audit: full range, plus order mix by line</a:t>
            </a:r>
          </a:p>
        </p:txBody>
      </p:sp>
      <p:sp>
        <p:nvSpPr>
          <p:cNvPr id="16" name="Rounded Rectangle 15"/>
          <p:cNvSpPr/>
          <p:nvPr/>
        </p:nvSpPr>
        <p:spPr>
          <a:xfrm>
            <a:off x="5522976" y="1920240"/>
            <a:ext cx="2359152" cy="3977639"/>
          </a:xfrm>
          <a:prstGeom prst="roundRect">
            <a:avLst>
              <a:gd name="adj" fmla="val 5426"/>
            </a:avLst>
          </a:prstGeom>
          <a:solidFill>
            <a:srgbClr val="009343"/>
          </a:solidFill>
          <a:ln>
            <a:noFill/>
          </a:ln>
          <a:effectLst/>
        </p:spPr>
        <p:txBody>
          <a:bodyPr rtlCol="0" anchor="ctr"/>
          <a:lstStyle/>
          <a:p/>
        </p:txBody>
      </p:sp>
      <p:sp>
        <p:nvSpPr>
          <p:cNvPr id="17" name="TextBox 16"/>
          <p:cNvSpPr txBox="1"/>
          <p:nvPr/>
        </p:nvSpPr>
        <p:spPr>
          <a:xfrm>
            <a:off x="5724144" y="2121408"/>
            <a:ext cx="2011680" cy="274320"/>
          </a:xfrm>
          <a:prstGeom prst="rect">
            <a:avLst/>
          </a:prstGeom>
          <a:noFill/>
        </p:spPr>
        <p:txBody>
          <a:bodyPr wrap="square" lIns="0" rIns="0" tIns="0" bIns="0" anchor="t">
            <a:spAutoFit/>
          </a:bodyPr>
          <a:lstStyle/>
          <a:p>
            <a:pPr algn="l">
              <a:lnSpc>
                <a:spcPct val="100000"/>
              </a:lnSpc>
            </a:pPr>
            <a:r>
              <a:rPr sz="1100" b="1">
                <a:solidFill>
                  <a:srgbClr val="FFFFFF"/>
                </a:solidFill>
                <a:latin typeface="Arial"/>
              </a:rPr>
              <a:t>STAGE 3</a:t>
            </a:r>
          </a:p>
        </p:txBody>
      </p:sp>
      <p:sp>
        <p:nvSpPr>
          <p:cNvPr id="18" name="TextBox 17"/>
          <p:cNvSpPr txBox="1"/>
          <p:nvPr/>
        </p:nvSpPr>
        <p:spPr>
          <a:xfrm>
            <a:off x="5724144" y="2377440"/>
            <a:ext cx="2011680" cy="411480"/>
          </a:xfrm>
          <a:prstGeom prst="rect">
            <a:avLst/>
          </a:prstGeom>
          <a:noFill/>
        </p:spPr>
        <p:txBody>
          <a:bodyPr wrap="square" lIns="0" rIns="0" tIns="0" bIns="0" anchor="t">
            <a:spAutoFit/>
          </a:bodyPr>
          <a:lstStyle/>
          <a:p>
            <a:pPr algn="l">
              <a:lnSpc>
                <a:spcPct val="100000"/>
              </a:lnSpc>
            </a:pPr>
            <a:r>
              <a:rPr sz="2000" b="1">
                <a:solidFill>
                  <a:srgbClr val="FFFFFF"/>
                </a:solidFill>
                <a:latin typeface="Arial"/>
              </a:rPr>
              <a:t>Preference</a:t>
            </a:r>
          </a:p>
        </p:txBody>
      </p:sp>
      <p:sp>
        <p:nvSpPr>
          <p:cNvPr id="19" name="TextBox 18"/>
          <p:cNvSpPr txBox="1"/>
          <p:nvPr/>
        </p:nvSpPr>
        <p:spPr>
          <a:xfrm>
            <a:off x="5724144" y="2834640"/>
            <a:ext cx="1965960" cy="914400"/>
          </a:xfrm>
          <a:prstGeom prst="rect">
            <a:avLst/>
          </a:prstGeom>
          <a:noFill/>
        </p:spPr>
        <p:txBody>
          <a:bodyPr wrap="square" lIns="0" rIns="0" tIns="0" bIns="0" anchor="t">
            <a:spAutoFit/>
          </a:bodyPr>
          <a:lstStyle/>
          <a:p>
            <a:pPr algn="l">
              <a:lnSpc>
                <a:spcPct val="100000"/>
              </a:lnSpc>
            </a:pPr>
            <a:r>
              <a:rPr sz="1350" b="1">
                <a:solidFill>
                  <a:srgbClr val="FFFFFF"/>
                </a:solidFill>
                <a:latin typeface="Arial"/>
              </a:rPr>
              <a:t>Customers sell mostly Castrol</a:t>
            </a:r>
          </a:p>
        </p:txBody>
      </p:sp>
      <p:sp>
        <p:nvSpPr>
          <p:cNvPr id="20" name="TextBox 19"/>
          <p:cNvSpPr txBox="1"/>
          <p:nvPr/>
        </p:nvSpPr>
        <p:spPr>
          <a:xfrm>
            <a:off x="5724144" y="5120640"/>
            <a:ext cx="1965960" cy="640080"/>
          </a:xfrm>
          <a:prstGeom prst="rect">
            <a:avLst/>
          </a:prstGeom>
          <a:noFill/>
        </p:spPr>
        <p:txBody>
          <a:bodyPr wrap="square" lIns="0" rIns="0" tIns="0" bIns="0" anchor="t">
            <a:spAutoFit/>
          </a:bodyPr>
          <a:lstStyle/>
          <a:p>
            <a:pPr algn="l">
              <a:lnSpc>
                <a:spcPct val="100000"/>
              </a:lnSpc>
            </a:pPr>
            <a:r>
              <a:rPr sz="1100" b="1">
                <a:solidFill>
                  <a:srgbClr val="FFFFFF"/>
                </a:solidFill>
                <a:latin typeface="Arial"/>
              </a:rPr>
              <a:t>Measured by: </a:t>
            </a:r>
            <a:r>
              <a:rPr sz="1100" b="0">
                <a:solidFill>
                  <a:srgbClr val="FFFFFF"/>
                </a:solidFill>
                <a:latin typeface="Arial"/>
              </a:rPr>
              <a:t>Share of each customer's purchases and sell-out</a:t>
            </a:r>
          </a:p>
        </p:txBody>
      </p:sp>
      <p:pic>
        <p:nvPicPr>
          <p:cNvPr id="21" name="Picture 20" descr="shelf_audit.png"/>
          <p:cNvPicPr>
            <a:picLocks noChangeAspect="1"/>
          </p:cNvPicPr>
          <p:nvPr/>
        </p:nvPicPr>
        <p:blipFill>
          <a:blip r:embed="rId2"/>
          <a:stretch>
            <a:fillRect/>
          </a:stretch>
        </p:blipFill>
        <p:spPr>
          <a:xfrm>
            <a:off x="8503920" y="1691640"/>
            <a:ext cx="1736355" cy="3703320"/>
          </a:xfrm>
          <a:prstGeom prst="rect">
            <a:avLst/>
          </a:prstGeom>
        </p:spPr>
      </p:pic>
      <p:sp>
        <p:nvSpPr>
          <p:cNvPr id="22" name="TextBox 21"/>
          <p:cNvSpPr txBox="1"/>
          <p:nvPr/>
        </p:nvSpPr>
        <p:spPr>
          <a:xfrm>
            <a:off x="8000497" y="5440680"/>
            <a:ext cx="2743200" cy="457200"/>
          </a:xfrm>
          <a:prstGeom prst="rect">
            <a:avLst/>
          </a:prstGeom>
          <a:noFill/>
        </p:spPr>
        <p:txBody>
          <a:bodyPr wrap="square" lIns="0" rIns="0" tIns="0" bIns="0" anchor="t">
            <a:spAutoFit/>
          </a:bodyPr>
          <a:lstStyle/>
          <a:p>
            <a:pPr algn="ctr">
              <a:lnSpc>
                <a:spcPct val="100000"/>
              </a:lnSpc>
            </a:pPr>
            <a:r>
              <a:rPr sz="1150" b="0">
                <a:solidFill>
                  <a:srgbClr val="5F6670"/>
                </a:solidFill>
                <a:latin typeface="Arial"/>
              </a:rPr>
              <a:t>Recorded at every visit (demo)</a:t>
            </a:r>
          </a:p>
        </p:txBody>
      </p:sp>
      <p:cxnSp>
        <p:nvCxnSpPr>
          <p:cNvPr id="23" name="Connector 22"/>
          <p:cNvCxnSpPr/>
          <p:nvPr/>
        </p:nvCxnSpPr>
        <p:spPr>
          <a:xfrm>
            <a:off x="548640" y="6400800"/>
            <a:ext cx="11094415" cy="0"/>
          </a:xfrm>
          <a:prstGeom prst="line">
            <a:avLst/>
          </a:prstGeom>
          <a:ln w="9525">
            <a:solidFill>
              <a:srgbClr val="D9DEDB"/>
            </a:solidFill>
          </a:ln>
        </p:spPr>
      </p:cxnSp>
      <p:pic>
        <p:nvPicPr>
          <p:cNvPr id="24" name="Picture 23" descr="kad-wordmark.png"/>
          <p:cNvPicPr>
            <a:picLocks noChangeAspect="1"/>
          </p:cNvPicPr>
          <p:nvPr/>
        </p:nvPicPr>
        <p:blipFill>
          <a:blip r:embed="rId3"/>
          <a:stretch>
            <a:fillRect/>
          </a:stretch>
        </p:blipFill>
        <p:spPr>
          <a:xfrm>
            <a:off x="548640" y="6519672"/>
            <a:ext cx="759129" cy="155448"/>
          </a:xfrm>
          <a:prstGeom prst="rect">
            <a:avLst/>
          </a:prstGeom>
        </p:spPr>
      </p:pic>
      <p:sp>
        <p:nvSpPr>
          <p:cNvPr id="25" name="TextBox 24"/>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26" name="TextBox 25"/>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ROADMAP</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Next: delivery, warehouse and an AI management team</a:t>
            </a:r>
          </a:p>
        </p:txBody>
      </p:sp>
      <p:sp>
        <p:nvSpPr>
          <p:cNvPr id="6" name="Rounded Rectangle 5"/>
          <p:cNvSpPr/>
          <p:nvPr/>
        </p:nvSpPr>
        <p:spPr>
          <a:xfrm>
            <a:off x="548640" y="1783080"/>
            <a:ext cx="3566160" cy="3520440"/>
          </a:xfrm>
          <a:prstGeom prst="roundRect">
            <a:avLst>
              <a:gd name="adj" fmla="val 3116"/>
            </a:avLst>
          </a:prstGeom>
          <a:solidFill>
            <a:srgbClr val="F4F5F6"/>
          </a:solidFill>
          <a:ln>
            <a:noFill/>
          </a:ln>
          <a:effectLst/>
        </p:spPr>
        <p:txBody>
          <a:bodyPr rtlCol="0" anchor="ctr"/>
          <a:lstStyle/>
          <a:p/>
        </p:txBody>
      </p:sp>
      <p:sp>
        <p:nvSpPr>
          <p:cNvPr id="7" name="Oval 6"/>
          <p:cNvSpPr/>
          <p:nvPr/>
        </p:nvSpPr>
        <p:spPr>
          <a:xfrm>
            <a:off x="822959" y="2057400"/>
            <a:ext cx="868680" cy="868680"/>
          </a:xfrm>
          <a:prstGeom prst="ellipse">
            <a:avLst/>
          </a:prstGeom>
          <a:solidFill>
            <a:srgbClr val="E6F4EC"/>
          </a:solidFill>
          <a:ln>
            <a:noFill/>
          </a:ln>
          <a:effectLst/>
        </p:spPr>
        <p:txBody>
          <a:bodyPr rtlCol="0" anchor="ctr"/>
          <a:lstStyle/>
          <a:p>
            <a:pPr algn="ctr"/>
          </a:p>
        </p:txBody>
      </p:sp>
      <p:pic>
        <p:nvPicPr>
          <p:cNvPr id="8" name="Picture 7" descr="truck_g.png"/>
          <p:cNvPicPr>
            <a:picLocks noChangeAspect="1"/>
          </p:cNvPicPr>
          <p:nvPr/>
        </p:nvPicPr>
        <p:blipFill>
          <a:blip r:embed="rId2"/>
          <a:stretch>
            <a:fillRect/>
          </a:stretch>
        </p:blipFill>
        <p:spPr>
          <a:xfrm>
            <a:off x="1014069" y="2248509"/>
            <a:ext cx="486460" cy="486460"/>
          </a:xfrm>
          <a:prstGeom prst="rect">
            <a:avLst/>
          </a:prstGeom>
        </p:spPr>
      </p:pic>
      <p:sp>
        <p:nvSpPr>
          <p:cNvPr id="9" name="TextBox 8"/>
          <p:cNvSpPr txBox="1"/>
          <p:nvPr/>
        </p:nvSpPr>
        <p:spPr>
          <a:xfrm>
            <a:off x="822959" y="3108960"/>
            <a:ext cx="310896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Driver &amp; delivery</a:t>
            </a:r>
          </a:p>
        </p:txBody>
      </p:sp>
      <p:pic>
        <p:nvPicPr>
          <p:cNvPr id="10" name="Picture 9" descr="checkCircle_g.png"/>
          <p:cNvPicPr>
            <a:picLocks noChangeAspect="1"/>
          </p:cNvPicPr>
          <p:nvPr/>
        </p:nvPicPr>
        <p:blipFill>
          <a:blip r:embed="rId3"/>
          <a:stretch>
            <a:fillRect/>
          </a:stretch>
        </p:blipFill>
        <p:spPr>
          <a:xfrm>
            <a:off x="822959" y="3675887"/>
            <a:ext cx="274320" cy="274320"/>
          </a:xfrm>
          <a:prstGeom prst="rect">
            <a:avLst/>
          </a:prstGeom>
        </p:spPr>
      </p:pic>
      <p:sp>
        <p:nvSpPr>
          <p:cNvPr id="11" name="TextBox 10"/>
          <p:cNvSpPr txBox="1"/>
          <p:nvPr/>
        </p:nvSpPr>
        <p:spPr>
          <a:xfrm>
            <a:off x="1234440" y="365760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Optimised delivery routes</a:t>
            </a:r>
          </a:p>
        </p:txBody>
      </p:sp>
      <p:pic>
        <p:nvPicPr>
          <p:cNvPr id="12" name="Picture 11" descr="checkCircle_g.png"/>
          <p:cNvPicPr>
            <a:picLocks noChangeAspect="1"/>
          </p:cNvPicPr>
          <p:nvPr/>
        </p:nvPicPr>
        <p:blipFill>
          <a:blip r:embed="rId3"/>
          <a:stretch>
            <a:fillRect/>
          </a:stretch>
        </p:blipFill>
        <p:spPr>
          <a:xfrm>
            <a:off x="822959" y="4178807"/>
            <a:ext cx="274320" cy="274320"/>
          </a:xfrm>
          <a:prstGeom prst="rect">
            <a:avLst/>
          </a:prstGeom>
        </p:spPr>
      </p:pic>
      <p:sp>
        <p:nvSpPr>
          <p:cNvPr id="13" name="TextBox 12"/>
          <p:cNvSpPr txBox="1"/>
          <p:nvPr/>
        </p:nvSpPr>
        <p:spPr>
          <a:xfrm>
            <a:off x="1234440" y="416052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Arrival detected automatically</a:t>
            </a:r>
          </a:p>
        </p:txBody>
      </p:sp>
      <p:pic>
        <p:nvPicPr>
          <p:cNvPr id="14" name="Picture 13" descr="checkCircle_g.png"/>
          <p:cNvPicPr>
            <a:picLocks noChangeAspect="1"/>
          </p:cNvPicPr>
          <p:nvPr/>
        </p:nvPicPr>
        <p:blipFill>
          <a:blip r:embed="rId3"/>
          <a:stretch>
            <a:fillRect/>
          </a:stretch>
        </p:blipFill>
        <p:spPr>
          <a:xfrm>
            <a:off x="822959" y="4681727"/>
            <a:ext cx="274320" cy="274320"/>
          </a:xfrm>
          <a:prstGeom prst="rect">
            <a:avLst/>
          </a:prstGeom>
        </p:spPr>
      </p:pic>
      <p:sp>
        <p:nvSpPr>
          <p:cNvPr id="15" name="TextBox 14"/>
          <p:cNvSpPr txBox="1"/>
          <p:nvPr/>
        </p:nvSpPr>
        <p:spPr>
          <a:xfrm>
            <a:off x="1234440" y="466344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Customer signs on the phone</a:t>
            </a:r>
          </a:p>
        </p:txBody>
      </p:sp>
      <p:sp>
        <p:nvSpPr>
          <p:cNvPr id="16" name="Rounded Rectangle 15"/>
          <p:cNvSpPr/>
          <p:nvPr/>
        </p:nvSpPr>
        <p:spPr>
          <a:xfrm>
            <a:off x="4297679" y="1783080"/>
            <a:ext cx="3566160" cy="3520440"/>
          </a:xfrm>
          <a:prstGeom prst="roundRect">
            <a:avLst>
              <a:gd name="adj" fmla="val 3116"/>
            </a:avLst>
          </a:prstGeom>
          <a:solidFill>
            <a:srgbClr val="F4F5F6"/>
          </a:solidFill>
          <a:ln>
            <a:noFill/>
          </a:ln>
          <a:effectLst/>
        </p:spPr>
        <p:txBody>
          <a:bodyPr rtlCol="0" anchor="ctr"/>
          <a:lstStyle/>
          <a:p/>
        </p:txBody>
      </p:sp>
      <p:sp>
        <p:nvSpPr>
          <p:cNvPr id="17" name="Oval 16"/>
          <p:cNvSpPr/>
          <p:nvPr/>
        </p:nvSpPr>
        <p:spPr>
          <a:xfrm>
            <a:off x="4571999" y="2057400"/>
            <a:ext cx="868680" cy="868680"/>
          </a:xfrm>
          <a:prstGeom prst="ellipse">
            <a:avLst/>
          </a:prstGeom>
          <a:solidFill>
            <a:srgbClr val="E6F4EC"/>
          </a:solidFill>
          <a:ln>
            <a:noFill/>
          </a:ln>
          <a:effectLst/>
        </p:spPr>
        <p:txBody>
          <a:bodyPr rtlCol="0" anchor="ctr"/>
          <a:lstStyle/>
          <a:p>
            <a:pPr algn="ctr"/>
          </a:p>
        </p:txBody>
      </p:sp>
      <p:pic>
        <p:nvPicPr>
          <p:cNvPr id="18" name="Picture 17" descr="box_g.png"/>
          <p:cNvPicPr>
            <a:picLocks noChangeAspect="1"/>
          </p:cNvPicPr>
          <p:nvPr/>
        </p:nvPicPr>
        <p:blipFill>
          <a:blip r:embed="rId4"/>
          <a:stretch>
            <a:fillRect/>
          </a:stretch>
        </p:blipFill>
        <p:spPr>
          <a:xfrm>
            <a:off x="4763109" y="2248509"/>
            <a:ext cx="486460" cy="486460"/>
          </a:xfrm>
          <a:prstGeom prst="rect">
            <a:avLst/>
          </a:prstGeom>
        </p:spPr>
      </p:pic>
      <p:sp>
        <p:nvSpPr>
          <p:cNvPr id="19" name="TextBox 18"/>
          <p:cNvSpPr txBox="1"/>
          <p:nvPr/>
        </p:nvSpPr>
        <p:spPr>
          <a:xfrm>
            <a:off x="4571999" y="3108960"/>
            <a:ext cx="310896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Warehouse</a:t>
            </a:r>
          </a:p>
        </p:txBody>
      </p:sp>
      <p:pic>
        <p:nvPicPr>
          <p:cNvPr id="20" name="Picture 19" descr="checkCircle_g.png"/>
          <p:cNvPicPr>
            <a:picLocks noChangeAspect="1"/>
          </p:cNvPicPr>
          <p:nvPr/>
        </p:nvPicPr>
        <p:blipFill>
          <a:blip r:embed="rId3"/>
          <a:stretch>
            <a:fillRect/>
          </a:stretch>
        </p:blipFill>
        <p:spPr>
          <a:xfrm>
            <a:off x="4571999" y="3675887"/>
            <a:ext cx="274320" cy="274320"/>
          </a:xfrm>
          <a:prstGeom prst="rect">
            <a:avLst/>
          </a:prstGeom>
        </p:spPr>
      </p:pic>
      <p:sp>
        <p:nvSpPr>
          <p:cNvPr id="21" name="TextBox 20"/>
          <p:cNvSpPr txBox="1"/>
          <p:nvPr/>
        </p:nvSpPr>
        <p:spPr>
          <a:xfrm>
            <a:off x="4983479" y="365760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Picking and packing in the app</a:t>
            </a:r>
          </a:p>
        </p:txBody>
      </p:sp>
      <p:pic>
        <p:nvPicPr>
          <p:cNvPr id="22" name="Picture 21" descr="checkCircle_g.png"/>
          <p:cNvPicPr>
            <a:picLocks noChangeAspect="1"/>
          </p:cNvPicPr>
          <p:nvPr/>
        </p:nvPicPr>
        <p:blipFill>
          <a:blip r:embed="rId3"/>
          <a:stretch>
            <a:fillRect/>
          </a:stretch>
        </p:blipFill>
        <p:spPr>
          <a:xfrm>
            <a:off x="4571999" y="4178807"/>
            <a:ext cx="274320" cy="274320"/>
          </a:xfrm>
          <a:prstGeom prst="rect">
            <a:avLst/>
          </a:prstGeom>
        </p:spPr>
      </p:pic>
      <p:sp>
        <p:nvSpPr>
          <p:cNvPr id="23" name="TextBox 22"/>
          <p:cNvSpPr txBox="1"/>
          <p:nvPr/>
        </p:nvSpPr>
        <p:spPr>
          <a:xfrm>
            <a:off x="4983479" y="416052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Live stock behind every order</a:t>
            </a:r>
          </a:p>
        </p:txBody>
      </p:sp>
      <p:pic>
        <p:nvPicPr>
          <p:cNvPr id="24" name="Picture 23" descr="checkCircle_g.png"/>
          <p:cNvPicPr>
            <a:picLocks noChangeAspect="1"/>
          </p:cNvPicPr>
          <p:nvPr/>
        </p:nvPicPr>
        <p:blipFill>
          <a:blip r:embed="rId3"/>
          <a:stretch>
            <a:fillRect/>
          </a:stretch>
        </p:blipFill>
        <p:spPr>
          <a:xfrm>
            <a:off x="4571999" y="4681727"/>
            <a:ext cx="274320" cy="274320"/>
          </a:xfrm>
          <a:prstGeom prst="rect">
            <a:avLst/>
          </a:prstGeom>
        </p:spPr>
      </p:pic>
      <p:sp>
        <p:nvSpPr>
          <p:cNvPr id="25" name="TextBox 24"/>
          <p:cNvSpPr txBox="1"/>
          <p:nvPr/>
        </p:nvSpPr>
        <p:spPr>
          <a:xfrm>
            <a:off x="4983479" y="466344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Stock counts, even offline</a:t>
            </a:r>
          </a:p>
        </p:txBody>
      </p:sp>
      <p:sp>
        <p:nvSpPr>
          <p:cNvPr id="26" name="Rounded Rectangle 25"/>
          <p:cNvSpPr/>
          <p:nvPr/>
        </p:nvSpPr>
        <p:spPr>
          <a:xfrm>
            <a:off x="8046719" y="1783080"/>
            <a:ext cx="3566160" cy="3520440"/>
          </a:xfrm>
          <a:prstGeom prst="roundRect">
            <a:avLst>
              <a:gd name="adj" fmla="val 3116"/>
            </a:avLst>
          </a:prstGeom>
          <a:solidFill>
            <a:srgbClr val="F4F5F6"/>
          </a:solidFill>
          <a:ln>
            <a:noFill/>
          </a:ln>
          <a:effectLst/>
        </p:spPr>
        <p:txBody>
          <a:bodyPr rtlCol="0" anchor="ctr"/>
          <a:lstStyle/>
          <a:p/>
        </p:txBody>
      </p:sp>
      <p:sp>
        <p:nvSpPr>
          <p:cNvPr id="27" name="Oval 26"/>
          <p:cNvSpPr/>
          <p:nvPr/>
        </p:nvSpPr>
        <p:spPr>
          <a:xfrm>
            <a:off x="8321040" y="2057400"/>
            <a:ext cx="868680" cy="868680"/>
          </a:xfrm>
          <a:prstGeom prst="ellipse">
            <a:avLst/>
          </a:prstGeom>
          <a:solidFill>
            <a:srgbClr val="E6F4EC"/>
          </a:solidFill>
          <a:ln>
            <a:noFill/>
          </a:ln>
          <a:effectLst/>
        </p:spPr>
        <p:txBody>
          <a:bodyPr rtlCol="0" anchor="ctr"/>
          <a:lstStyle/>
          <a:p>
            <a:pPr algn="ctr"/>
          </a:p>
        </p:txBody>
      </p:sp>
      <p:pic>
        <p:nvPicPr>
          <p:cNvPr id="28" name="Picture 27" descr="sparkles_g.png"/>
          <p:cNvPicPr>
            <a:picLocks noChangeAspect="1"/>
          </p:cNvPicPr>
          <p:nvPr/>
        </p:nvPicPr>
        <p:blipFill>
          <a:blip r:embed="rId5"/>
          <a:stretch>
            <a:fillRect/>
          </a:stretch>
        </p:blipFill>
        <p:spPr>
          <a:xfrm>
            <a:off x="8512149" y="2248509"/>
            <a:ext cx="486460" cy="486460"/>
          </a:xfrm>
          <a:prstGeom prst="rect">
            <a:avLst/>
          </a:prstGeom>
        </p:spPr>
      </p:pic>
      <p:sp>
        <p:nvSpPr>
          <p:cNvPr id="29" name="TextBox 28"/>
          <p:cNvSpPr txBox="1"/>
          <p:nvPr/>
        </p:nvSpPr>
        <p:spPr>
          <a:xfrm>
            <a:off x="8321040" y="3108960"/>
            <a:ext cx="3108960" cy="411480"/>
          </a:xfrm>
          <a:prstGeom prst="rect">
            <a:avLst/>
          </a:prstGeom>
          <a:noFill/>
        </p:spPr>
        <p:txBody>
          <a:bodyPr wrap="square" lIns="0" rIns="0" tIns="0" bIns="0" anchor="t">
            <a:spAutoFit/>
          </a:bodyPr>
          <a:lstStyle/>
          <a:p>
            <a:pPr algn="l">
              <a:lnSpc>
                <a:spcPct val="100000"/>
              </a:lnSpc>
            </a:pPr>
            <a:r>
              <a:rPr sz="2000" b="1">
                <a:solidFill>
                  <a:srgbClr val="23272B"/>
                </a:solidFill>
                <a:latin typeface="Arial"/>
              </a:rPr>
              <a:t>AI management team</a:t>
            </a:r>
          </a:p>
        </p:txBody>
      </p:sp>
      <p:pic>
        <p:nvPicPr>
          <p:cNvPr id="30" name="Picture 29" descr="checkCircle_g.png"/>
          <p:cNvPicPr>
            <a:picLocks noChangeAspect="1"/>
          </p:cNvPicPr>
          <p:nvPr/>
        </p:nvPicPr>
        <p:blipFill>
          <a:blip r:embed="rId3"/>
          <a:stretch>
            <a:fillRect/>
          </a:stretch>
        </p:blipFill>
        <p:spPr>
          <a:xfrm>
            <a:off x="8321040" y="3675887"/>
            <a:ext cx="274320" cy="274320"/>
          </a:xfrm>
          <a:prstGeom prst="rect">
            <a:avLst/>
          </a:prstGeom>
        </p:spPr>
      </p:pic>
      <p:sp>
        <p:nvSpPr>
          <p:cNvPr id="31" name="TextBox 30"/>
          <p:cNvSpPr txBox="1"/>
          <p:nvPr/>
        </p:nvSpPr>
        <p:spPr>
          <a:xfrm>
            <a:off x="8732519" y="365760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An AI deputy CEO leads expert agents</a:t>
            </a:r>
          </a:p>
        </p:txBody>
      </p:sp>
      <p:pic>
        <p:nvPicPr>
          <p:cNvPr id="32" name="Picture 31" descr="checkCircle_g.png"/>
          <p:cNvPicPr>
            <a:picLocks noChangeAspect="1"/>
          </p:cNvPicPr>
          <p:nvPr/>
        </p:nvPicPr>
        <p:blipFill>
          <a:blip r:embed="rId3"/>
          <a:stretch>
            <a:fillRect/>
          </a:stretch>
        </p:blipFill>
        <p:spPr>
          <a:xfrm>
            <a:off x="8321040" y="4178807"/>
            <a:ext cx="274320" cy="274320"/>
          </a:xfrm>
          <a:prstGeom prst="rect">
            <a:avLst/>
          </a:prstGeom>
        </p:spPr>
      </p:pic>
      <p:sp>
        <p:nvSpPr>
          <p:cNvPr id="33" name="TextBox 32"/>
          <p:cNvSpPr txBox="1"/>
          <p:nvPr/>
        </p:nvSpPr>
        <p:spPr>
          <a:xfrm>
            <a:off x="8732519" y="416052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Sales, finance and stock specialists</a:t>
            </a:r>
          </a:p>
        </p:txBody>
      </p:sp>
      <p:pic>
        <p:nvPicPr>
          <p:cNvPr id="34" name="Picture 33" descr="checkCircle_g.png"/>
          <p:cNvPicPr>
            <a:picLocks noChangeAspect="1"/>
          </p:cNvPicPr>
          <p:nvPr/>
        </p:nvPicPr>
        <p:blipFill>
          <a:blip r:embed="rId3"/>
          <a:stretch>
            <a:fillRect/>
          </a:stretch>
        </p:blipFill>
        <p:spPr>
          <a:xfrm>
            <a:off x="8321040" y="4681727"/>
            <a:ext cx="274320" cy="274320"/>
          </a:xfrm>
          <a:prstGeom prst="rect">
            <a:avLst/>
          </a:prstGeom>
        </p:spPr>
      </p:pic>
      <p:sp>
        <p:nvSpPr>
          <p:cNvPr id="35" name="TextBox 34"/>
          <p:cNvSpPr txBox="1"/>
          <p:nvPr/>
        </p:nvSpPr>
        <p:spPr>
          <a:xfrm>
            <a:off x="8732519" y="4663440"/>
            <a:ext cx="2743200" cy="457200"/>
          </a:xfrm>
          <a:prstGeom prst="rect">
            <a:avLst/>
          </a:prstGeom>
          <a:noFill/>
        </p:spPr>
        <p:txBody>
          <a:bodyPr wrap="square" lIns="0" rIns="0" tIns="0" bIns="0" anchor="t">
            <a:spAutoFit/>
          </a:bodyPr>
          <a:lstStyle/>
          <a:p>
            <a:pPr algn="l">
              <a:lnSpc>
                <a:spcPct val="100000"/>
              </a:lnSpc>
            </a:pPr>
            <a:r>
              <a:rPr sz="1350" b="0">
                <a:solidFill>
                  <a:srgbClr val="23272B"/>
                </a:solidFill>
                <a:latin typeface="Arial"/>
              </a:rPr>
              <a:t>First version already watches the field day</a:t>
            </a:r>
          </a:p>
        </p:txBody>
      </p:sp>
      <p:sp>
        <p:nvSpPr>
          <p:cNvPr id="36" name="Rounded Rectangle 35"/>
          <p:cNvSpPr/>
          <p:nvPr/>
        </p:nvSpPr>
        <p:spPr>
          <a:xfrm>
            <a:off x="548640" y="5532120"/>
            <a:ext cx="11091672" cy="621792"/>
          </a:xfrm>
          <a:prstGeom prst="roundRect">
            <a:avLst>
              <a:gd name="adj" fmla="val 17647"/>
            </a:avLst>
          </a:prstGeom>
          <a:solidFill>
            <a:srgbClr val="E6F4EC"/>
          </a:solidFill>
          <a:ln>
            <a:noFill/>
          </a:ln>
          <a:effectLst/>
        </p:spPr>
        <p:txBody>
          <a:bodyPr rtlCol="0" anchor="ctr"/>
          <a:lstStyle/>
          <a:p/>
        </p:txBody>
      </p:sp>
      <p:sp>
        <p:nvSpPr>
          <p:cNvPr id="37" name="TextBox 36"/>
          <p:cNvSpPr txBox="1"/>
          <p:nvPr/>
        </p:nvSpPr>
        <p:spPr>
          <a:xfrm>
            <a:off x="822960" y="5532120"/>
            <a:ext cx="10607040" cy="621792"/>
          </a:xfrm>
          <a:prstGeom prst="rect">
            <a:avLst/>
          </a:prstGeom>
          <a:noFill/>
        </p:spPr>
        <p:txBody>
          <a:bodyPr wrap="square" lIns="0" rIns="0" tIns="0" bIns="0" anchor="ctr">
            <a:spAutoFit/>
          </a:bodyPr>
          <a:lstStyle/>
          <a:p>
            <a:pPr algn="l">
              <a:lnSpc>
                <a:spcPct val="100000"/>
              </a:lnSpc>
            </a:pPr>
            <a:r>
              <a:rPr sz="1450" b="1">
                <a:solidFill>
                  <a:srgbClr val="006E32"/>
                </a:solidFill>
                <a:latin typeface="Arial"/>
              </a:rPr>
              <a:t>Today: </a:t>
            </a:r>
            <a:r>
              <a:rPr sz="1450" b="0">
                <a:solidFill>
                  <a:srgbClr val="23272B"/>
                </a:solidFill>
                <a:latin typeface="Arial"/>
              </a:rPr>
              <a:t>field sales, orders, cash and reports.   </a:t>
            </a:r>
            <a:r>
              <a:rPr sz="1450" b="1">
                <a:solidFill>
                  <a:srgbClr val="006E32"/>
                </a:solidFill>
                <a:latin typeface="Arial"/>
              </a:rPr>
              <a:t>Next: </a:t>
            </a:r>
            <a:r>
              <a:rPr sz="1450" b="0">
                <a:solidFill>
                  <a:srgbClr val="23272B"/>
                </a:solidFill>
                <a:latin typeface="Arial"/>
              </a:rPr>
              <a:t>a complete operating system for a Castrol distributor.</a:t>
            </a:r>
          </a:p>
        </p:txBody>
      </p:sp>
      <p:cxnSp>
        <p:nvCxnSpPr>
          <p:cNvPr id="38" name="Connector 37"/>
          <p:cNvCxnSpPr/>
          <p:nvPr/>
        </p:nvCxnSpPr>
        <p:spPr>
          <a:xfrm>
            <a:off x="548640" y="6400800"/>
            <a:ext cx="11094415" cy="0"/>
          </a:xfrm>
          <a:prstGeom prst="line">
            <a:avLst/>
          </a:prstGeom>
          <a:ln w="9525">
            <a:solidFill>
              <a:srgbClr val="D9DEDB"/>
            </a:solidFill>
          </a:ln>
        </p:spPr>
      </p:cxnSp>
      <p:pic>
        <p:nvPicPr>
          <p:cNvPr id="39" name="Picture 38" descr="kad-wordmark.png"/>
          <p:cNvPicPr>
            <a:picLocks noChangeAspect="1"/>
          </p:cNvPicPr>
          <p:nvPr/>
        </p:nvPicPr>
        <p:blipFill>
          <a:blip r:embed="rId6"/>
          <a:stretch>
            <a:fillRect/>
          </a:stretch>
        </p:blipFill>
        <p:spPr>
          <a:xfrm>
            <a:off x="548640" y="6519672"/>
            <a:ext cx="759129" cy="155448"/>
          </a:xfrm>
          <a:prstGeom prst="rect">
            <a:avLst/>
          </a:prstGeom>
        </p:spPr>
      </p:pic>
      <p:sp>
        <p:nvSpPr>
          <p:cNvPr id="40" name="TextBox 39"/>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1" name="TextBox 40"/>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WHY IT MATTERS FOR CASTROL</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Ready to scale, with Castrol shelf data built in</a:t>
            </a:r>
          </a:p>
        </p:txBody>
      </p:sp>
      <p:sp>
        <p:nvSpPr>
          <p:cNvPr id="6" name="TextBox 5"/>
          <p:cNvSpPr txBox="1"/>
          <p:nvPr/>
        </p:nvSpPr>
        <p:spPr>
          <a:xfrm>
            <a:off x="548640" y="1783080"/>
            <a:ext cx="5486400" cy="320040"/>
          </a:xfrm>
          <a:prstGeom prst="rect">
            <a:avLst/>
          </a:prstGeom>
          <a:noFill/>
        </p:spPr>
        <p:txBody>
          <a:bodyPr wrap="square" lIns="0" rIns="0" tIns="0" bIns="0" anchor="t">
            <a:spAutoFit/>
          </a:bodyPr>
          <a:lstStyle/>
          <a:p>
            <a:pPr algn="l">
              <a:lnSpc>
                <a:spcPct val="100000"/>
              </a:lnSpc>
            </a:pPr>
            <a:r>
              <a:rPr sz="1200" b="1">
                <a:solidFill>
                  <a:srgbClr val="5F6670"/>
                </a:solidFill>
                <a:latin typeface="Arial"/>
              </a:rPr>
              <a:t>WHAT CASTROL GETS</a:t>
            </a:r>
          </a:p>
        </p:txBody>
      </p:sp>
      <p:sp>
        <p:nvSpPr>
          <p:cNvPr id="7" name="Oval 6"/>
          <p:cNvSpPr/>
          <p:nvPr/>
        </p:nvSpPr>
        <p:spPr>
          <a:xfrm>
            <a:off x="548640" y="2194560"/>
            <a:ext cx="658368" cy="658368"/>
          </a:xfrm>
          <a:prstGeom prst="ellipse">
            <a:avLst/>
          </a:prstGeom>
          <a:solidFill>
            <a:srgbClr val="E6F4EC"/>
          </a:solidFill>
          <a:ln>
            <a:noFill/>
          </a:ln>
          <a:effectLst/>
        </p:spPr>
        <p:txBody>
          <a:bodyPr rtlCol="0" anchor="ctr"/>
          <a:lstStyle/>
          <a:p>
            <a:pPr algn="ctr"/>
          </a:p>
        </p:txBody>
      </p:sp>
      <p:pic>
        <p:nvPicPr>
          <p:cNvPr id="8" name="Picture 7" descr="eye_g.png"/>
          <p:cNvPicPr>
            <a:picLocks noChangeAspect="1"/>
          </p:cNvPicPr>
          <p:nvPr/>
        </p:nvPicPr>
        <p:blipFill>
          <a:blip r:embed="rId2"/>
          <a:stretch>
            <a:fillRect/>
          </a:stretch>
        </p:blipFill>
        <p:spPr>
          <a:xfrm>
            <a:off x="693480" y="2339400"/>
            <a:ext cx="368686" cy="368686"/>
          </a:xfrm>
          <a:prstGeom prst="rect">
            <a:avLst/>
          </a:prstGeom>
        </p:spPr>
      </p:pic>
      <p:sp>
        <p:nvSpPr>
          <p:cNvPr id="9" name="TextBox 8"/>
          <p:cNvSpPr txBox="1"/>
          <p:nvPr/>
        </p:nvSpPr>
        <p:spPr>
          <a:xfrm>
            <a:off x="1417320" y="2194560"/>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Shelf visibility per outlet: presence and range</a:t>
            </a:r>
          </a:p>
        </p:txBody>
      </p:sp>
      <p:sp>
        <p:nvSpPr>
          <p:cNvPr id="10" name="Oval 9"/>
          <p:cNvSpPr/>
          <p:nvPr/>
        </p:nvSpPr>
        <p:spPr>
          <a:xfrm>
            <a:off x="548640" y="3063239"/>
            <a:ext cx="658368" cy="658368"/>
          </a:xfrm>
          <a:prstGeom prst="ellipse">
            <a:avLst/>
          </a:prstGeom>
          <a:solidFill>
            <a:srgbClr val="E6F4EC"/>
          </a:solidFill>
          <a:ln>
            <a:noFill/>
          </a:ln>
          <a:effectLst/>
        </p:spPr>
        <p:txBody>
          <a:bodyPr rtlCol="0" anchor="ctr"/>
          <a:lstStyle/>
          <a:p>
            <a:pPr algn="ctr"/>
          </a:p>
        </p:txBody>
      </p:sp>
      <p:pic>
        <p:nvPicPr>
          <p:cNvPr id="11" name="Picture 10" descr="chart_g.png"/>
          <p:cNvPicPr>
            <a:picLocks noChangeAspect="1"/>
          </p:cNvPicPr>
          <p:nvPr/>
        </p:nvPicPr>
        <p:blipFill>
          <a:blip r:embed="rId3"/>
          <a:stretch>
            <a:fillRect/>
          </a:stretch>
        </p:blipFill>
        <p:spPr>
          <a:xfrm>
            <a:off x="693480" y="3208080"/>
            <a:ext cx="368686" cy="368686"/>
          </a:xfrm>
          <a:prstGeom prst="rect">
            <a:avLst/>
          </a:prstGeom>
        </p:spPr>
      </p:pic>
      <p:sp>
        <p:nvSpPr>
          <p:cNvPr id="12" name="TextBox 11"/>
          <p:cNvSpPr txBox="1"/>
          <p:nvPr/>
        </p:nvSpPr>
        <p:spPr>
          <a:xfrm>
            <a:off x="1417320" y="3063239"/>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Sell-out signals by product line and region</a:t>
            </a:r>
          </a:p>
        </p:txBody>
      </p:sp>
      <p:sp>
        <p:nvSpPr>
          <p:cNvPr id="13" name="Oval 12"/>
          <p:cNvSpPr/>
          <p:nvPr/>
        </p:nvSpPr>
        <p:spPr>
          <a:xfrm>
            <a:off x="548640" y="3931920"/>
            <a:ext cx="658368" cy="658368"/>
          </a:xfrm>
          <a:prstGeom prst="ellipse">
            <a:avLst/>
          </a:prstGeom>
          <a:solidFill>
            <a:srgbClr val="E6F4EC"/>
          </a:solidFill>
          <a:ln>
            <a:noFill/>
          </a:ln>
          <a:effectLst/>
        </p:spPr>
        <p:txBody>
          <a:bodyPr rtlCol="0" anchor="ctr"/>
          <a:lstStyle/>
          <a:p>
            <a:pPr algn="ctr"/>
          </a:p>
        </p:txBody>
      </p:sp>
      <p:pic>
        <p:nvPicPr>
          <p:cNvPr id="14" name="Picture 13" descr="link_g.png"/>
          <p:cNvPicPr>
            <a:picLocks noChangeAspect="1"/>
          </p:cNvPicPr>
          <p:nvPr/>
        </p:nvPicPr>
        <p:blipFill>
          <a:blip r:embed="rId4"/>
          <a:stretch>
            <a:fillRect/>
          </a:stretch>
        </p:blipFill>
        <p:spPr>
          <a:xfrm>
            <a:off x="693480" y="4076760"/>
            <a:ext cx="368686" cy="368686"/>
          </a:xfrm>
          <a:prstGeom prst="rect">
            <a:avLst/>
          </a:prstGeom>
        </p:spPr>
      </p:pic>
      <p:sp>
        <p:nvSpPr>
          <p:cNvPr id="15" name="TextBox 14"/>
          <p:cNvSpPr txBox="1"/>
          <p:nvPr/>
        </p:nvSpPr>
        <p:spPr>
          <a:xfrm>
            <a:off x="1417320" y="3931920"/>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A standard toolkit, opened from a link</a:t>
            </a:r>
          </a:p>
        </p:txBody>
      </p:sp>
      <p:sp>
        <p:nvSpPr>
          <p:cNvPr id="16" name="Oval 15"/>
          <p:cNvSpPr/>
          <p:nvPr/>
        </p:nvSpPr>
        <p:spPr>
          <a:xfrm>
            <a:off x="548640" y="4800600"/>
            <a:ext cx="658368" cy="658368"/>
          </a:xfrm>
          <a:prstGeom prst="ellipse">
            <a:avLst/>
          </a:prstGeom>
          <a:solidFill>
            <a:srgbClr val="E6F4EC"/>
          </a:solidFill>
          <a:ln>
            <a:noFill/>
          </a:ln>
          <a:effectLst/>
        </p:spPr>
        <p:txBody>
          <a:bodyPr rtlCol="0" anchor="ctr"/>
          <a:lstStyle/>
          <a:p>
            <a:pPr algn="ctr"/>
          </a:p>
        </p:txBody>
      </p:sp>
      <p:pic>
        <p:nvPicPr>
          <p:cNvPr id="17" name="Picture 16" descr="shield_g.png"/>
          <p:cNvPicPr>
            <a:picLocks noChangeAspect="1"/>
          </p:cNvPicPr>
          <p:nvPr/>
        </p:nvPicPr>
        <p:blipFill>
          <a:blip r:embed="rId5"/>
          <a:stretch>
            <a:fillRect/>
          </a:stretch>
        </p:blipFill>
        <p:spPr>
          <a:xfrm>
            <a:off x="693480" y="4945440"/>
            <a:ext cx="368686" cy="368686"/>
          </a:xfrm>
          <a:prstGeom prst="rect">
            <a:avLst/>
          </a:prstGeom>
        </p:spPr>
      </p:pic>
      <p:sp>
        <p:nvSpPr>
          <p:cNvPr id="18" name="TextBox 17"/>
          <p:cNvSpPr txBox="1"/>
          <p:nvPr/>
        </p:nvSpPr>
        <p:spPr>
          <a:xfrm>
            <a:off x="1417320" y="4800600"/>
            <a:ext cx="4572000" cy="658368"/>
          </a:xfrm>
          <a:prstGeom prst="rect">
            <a:avLst/>
          </a:prstGeom>
          <a:noFill/>
        </p:spPr>
        <p:txBody>
          <a:bodyPr wrap="square" lIns="0" rIns="0" tIns="0" bIns="0" anchor="ctr">
            <a:spAutoFit/>
          </a:bodyPr>
          <a:lstStyle/>
          <a:p>
            <a:pPr algn="l">
              <a:lnSpc>
                <a:spcPct val="100000"/>
              </a:lnSpc>
            </a:pPr>
            <a:r>
              <a:rPr sz="1550" b="1">
                <a:solidFill>
                  <a:srgbClr val="23272B"/>
                </a:solidFill>
                <a:latin typeface="Arial"/>
              </a:rPr>
              <a:t>Data stays with the distributor; Castrol sees aggregates</a:t>
            </a:r>
          </a:p>
        </p:txBody>
      </p:sp>
      <p:sp>
        <p:nvSpPr>
          <p:cNvPr id="19" name="Rounded Rectangle 18"/>
          <p:cNvSpPr/>
          <p:nvPr/>
        </p:nvSpPr>
        <p:spPr>
          <a:xfrm>
            <a:off x="6355080" y="1783080"/>
            <a:ext cx="5285232" cy="4434840"/>
          </a:xfrm>
          <a:prstGeom prst="roundRect">
            <a:avLst>
              <a:gd name="adj" fmla="val 3711"/>
            </a:avLst>
          </a:prstGeom>
          <a:solidFill>
            <a:srgbClr val="009343"/>
          </a:solidFill>
          <a:ln>
            <a:noFill/>
          </a:ln>
          <a:effectLst/>
        </p:spPr>
        <p:txBody>
          <a:bodyPr rtlCol="0" anchor="ctr"/>
          <a:lstStyle/>
          <a:p/>
        </p:txBody>
      </p:sp>
      <p:sp>
        <p:nvSpPr>
          <p:cNvPr id="20" name="TextBox 19"/>
          <p:cNvSpPr txBox="1"/>
          <p:nvPr/>
        </p:nvSpPr>
        <p:spPr>
          <a:xfrm>
            <a:off x="6720840" y="2011680"/>
            <a:ext cx="3657600" cy="274320"/>
          </a:xfrm>
          <a:prstGeom prst="rect">
            <a:avLst/>
          </a:prstGeom>
          <a:noFill/>
        </p:spPr>
        <p:txBody>
          <a:bodyPr wrap="square" lIns="0" rIns="0" tIns="0" bIns="0" anchor="t">
            <a:spAutoFit/>
          </a:bodyPr>
          <a:lstStyle/>
          <a:p>
            <a:pPr algn="l">
              <a:lnSpc>
                <a:spcPct val="100000"/>
              </a:lnSpc>
            </a:pPr>
            <a:r>
              <a:rPr sz="1200" b="1">
                <a:solidFill>
                  <a:srgbClr val="FFFFFF"/>
                </a:solidFill>
                <a:latin typeface="Arial"/>
              </a:rPr>
              <a:t>OUR PROPOSAL</a:t>
            </a:r>
          </a:p>
        </p:txBody>
      </p:sp>
      <p:sp>
        <p:nvSpPr>
          <p:cNvPr id="21" name="TextBox 20"/>
          <p:cNvSpPr txBox="1"/>
          <p:nvPr/>
        </p:nvSpPr>
        <p:spPr>
          <a:xfrm>
            <a:off x="6720840" y="2286000"/>
            <a:ext cx="2926080" cy="502920"/>
          </a:xfrm>
          <a:prstGeom prst="rect">
            <a:avLst/>
          </a:prstGeom>
          <a:noFill/>
        </p:spPr>
        <p:txBody>
          <a:bodyPr wrap="square" lIns="0" rIns="0" tIns="0" bIns="0" anchor="t">
            <a:spAutoFit/>
          </a:bodyPr>
          <a:lstStyle/>
          <a:p>
            <a:pPr algn="l">
              <a:lnSpc>
                <a:spcPct val="100000"/>
              </a:lnSpc>
            </a:pPr>
            <a:r>
              <a:rPr sz="2500" b="1">
                <a:solidFill>
                  <a:srgbClr val="FFFFFF"/>
                </a:solidFill>
                <a:latin typeface="Arial"/>
              </a:rPr>
              <a:t>A pilot partnership</a:t>
            </a:r>
          </a:p>
        </p:txBody>
      </p:sp>
      <p:sp>
        <p:nvSpPr>
          <p:cNvPr id="22" name="Rounded Rectangle 21"/>
          <p:cNvSpPr/>
          <p:nvPr/>
        </p:nvSpPr>
        <p:spPr>
          <a:xfrm>
            <a:off x="9692640" y="1993392"/>
            <a:ext cx="1737360" cy="713232"/>
          </a:xfrm>
          <a:prstGeom prst="roundRect">
            <a:avLst>
              <a:gd name="adj" fmla="val 10256"/>
            </a:avLst>
          </a:prstGeom>
          <a:noFill/>
          <a:ln w="15875">
            <a:solidFill>
              <a:srgbClr val="FFFFFF"/>
            </a:solidFill>
            <a:prstDash val="dash"/>
          </a:ln>
          <a:effectLst/>
        </p:spPr>
        <p:txBody>
          <a:bodyPr rtlCol="0" anchor="ctr"/>
          <a:lstStyle/>
          <a:p/>
        </p:txBody>
      </p:sp>
      <p:sp>
        <p:nvSpPr>
          <p:cNvPr id="23" name="TextBox 22"/>
          <p:cNvSpPr txBox="1"/>
          <p:nvPr/>
        </p:nvSpPr>
        <p:spPr>
          <a:xfrm>
            <a:off x="9692640" y="1993392"/>
            <a:ext cx="1737360" cy="713232"/>
          </a:xfrm>
          <a:prstGeom prst="rect">
            <a:avLst/>
          </a:prstGeom>
          <a:noFill/>
        </p:spPr>
        <p:txBody>
          <a:bodyPr wrap="square" lIns="0" rIns="0" tIns="0" bIns="0" anchor="ctr">
            <a:spAutoFit/>
          </a:bodyPr>
          <a:lstStyle/>
          <a:p>
            <a:pPr algn="ctr">
              <a:lnSpc>
                <a:spcPct val="100000"/>
              </a:lnSpc>
            </a:pPr>
            <a:r>
              <a:rPr sz="1100" b="1">
                <a:solidFill>
                  <a:srgbClr val="FFFFFF"/>
                </a:solidFill>
                <a:latin typeface="Arial"/>
              </a:rPr>
              <a:t>CASTROL LOGO</a:t>
            </a:r>
          </a:p>
          <a:p>
            <a:pPr algn="ctr">
              <a:lnSpc>
                <a:spcPct val="100000"/>
              </a:lnSpc>
            </a:pPr>
            <a:r>
              <a:rPr sz="900" b="0">
                <a:solidFill>
                  <a:srgbClr val="FFFFFF"/>
                </a:solidFill>
                <a:latin typeface="Arial"/>
              </a:rPr>
              <a:t>place official asset here</a:t>
            </a:r>
          </a:p>
        </p:txBody>
      </p:sp>
      <p:sp>
        <p:nvSpPr>
          <p:cNvPr id="24" name="Oval 23"/>
          <p:cNvSpPr/>
          <p:nvPr/>
        </p:nvSpPr>
        <p:spPr>
          <a:xfrm>
            <a:off x="6720840" y="3063240"/>
            <a:ext cx="457200" cy="457200"/>
          </a:xfrm>
          <a:prstGeom prst="ellipse">
            <a:avLst/>
          </a:prstGeom>
          <a:solidFill>
            <a:srgbClr val="FFFFFF"/>
          </a:solidFill>
          <a:ln>
            <a:noFill/>
          </a:ln>
          <a:effectLst/>
        </p:spPr>
        <p:txBody>
          <a:bodyPr rtlCol="0" anchor="ctr"/>
          <a:lstStyle/>
          <a:p>
            <a:pPr algn="ctr"/>
          </a:p>
        </p:txBody>
      </p:sp>
      <p:sp>
        <p:nvSpPr>
          <p:cNvPr id="25" name="TextBox 24"/>
          <p:cNvSpPr txBox="1"/>
          <p:nvPr/>
        </p:nvSpPr>
        <p:spPr>
          <a:xfrm>
            <a:off x="6720840" y="3063240"/>
            <a:ext cx="457200" cy="457200"/>
          </a:xfrm>
          <a:prstGeom prst="rect">
            <a:avLst/>
          </a:prstGeom>
          <a:noFill/>
        </p:spPr>
        <p:txBody>
          <a:bodyPr wrap="square" lIns="0" rIns="0" tIns="0" bIns="0" anchor="ctr">
            <a:spAutoFit/>
          </a:bodyPr>
          <a:lstStyle/>
          <a:p>
            <a:pPr algn="ctr">
              <a:lnSpc>
                <a:spcPct val="100000"/>
              </a:lnSpc>
            </a:pPr>
            <a:r>
              <a:rPr sz="1500" b="1">
                <a:solidFill>
                  <a:srgbClr val="009343"/>
                </a:solidFill>
                <a:latin typeface="Arial"/>
              </a:rPr>
              <a:t>1</a:t>
            </a:r>
          </a:p>
        </p:txBody>
      </p:sp>
      <p:sp>
        <p:nvSpPr>
          <p:cNvPr id="26" name="TextBox 25"/>
          <p:cNvSpPr txBox="1"/>
          <p:nvPr/>
        </p:nvSpPr>
        <p:spPr>
          <a:xfrm>
            <a:off x="7360920" y="3026664"/>
            <a:ext cx="4069080" cy="566928"/>
          </a:xfrm>
          <a:prstGeom prst="rect">
            <a:avLst/>
          </a:prstGeom>
          <a:noFill/>
        </p:spPr>
        <p:txBody>
          <a:bodyPr wrap="square" lIns="0" rIns="0" tIns="0" bIns="0" anchor="ctr">
            <a:spAutoFit/>
          </a:bodyPr>
          <a:lstStyle/>
          <a:p>
            <a:pPr algn="l">
              <a:lnSpc>
                <a:spcPct val="100000"/>
              </a:lnSpc>
            </a:pPr>
            <a:r>
              <a:rPr sz="1450" b="1">
                <a:solidFill>
                  <a:srgbClr val="FFFFFF"/>
                </a:solidFill>
                <a:latin typeface="Arial"/>
              </a:rPr>
              <a:t>Monthly Castrol shelf and sell-out dashboard for Armenia</a:t>
            </a:r>
          </a:p>
        </p:txBody>
      </p:sp>
      <p:sp>
        <p:nvSpPr>
          <p:cNvPr id="27" name="Oval 26"/>
          <p:cNvSpPr/>
          <p:nvPr/>
        </p:nvSpPr>
        <p:spPr>
          <a:xfrm>
            <a:off x="6720840" y="3813048"/>
            <a:ext cx="457200" cy="457200"/>
          </a:xfrm>
          <a:prstGeom prst="ellipse">
            <a:avLst/>
          </a:prstGeom>
          <a:solidFill>
            <a:srgbClr val="FFFFFF"/>
          </a:solidFill>
          <a:ln>
            <a:noFill/>
          </a:ln>
          <a:effectLst/>
        </p:spPr>
        <p:txBody>
          <a:bodyPr rtlCol="0" anchor="ctr"/>
          <a:lstStyle/>
          <a:p>
            <a:pPr algn="ctr"/>
          </a:p>
        </p:txBody>
      </p:sp>
      <p:sp>
        <p:nvSpPr>
          <p:cNvPr id="28" name="TextBox 27"/>
          <p:cNvSpPr txBox="1"/>
          <p:nvPr/>
        </p:nvSpPr>
        <p:spPr>
          <a:xfrm>
            <a:off x="6720840" y="3813048"/>
            <a:ext cx="457200" cy="457200"/>
          </a:xfrm>
          <a:prstGeom prst="rect">
            <a:avLst/>
          </a:prstGeom>
          <a:noFill/>
        </p:spPr>
        <p:txBody>
          <a:bodyPr wrap="square" lIns="0" rIns="0" tIns="0" bIns="0" anchor="ctr">
            <a:spAutoFit/>
          </a:bodyPr>
          <a:lstStyle/>
          <a:p>
            <a:pPr algn="ctr">
              <a:lnSpc>
                <a:spcPct val="100000"/>
              </a:lnSpc>
            </a:pPr>
            <a:r>
              <a:rPr sz="1500" b="1">
                <a:solidFill>
                  <a:srgbClr val="009343"/>
                </a:solidFill>
                <a:latin typeface="Arial"/>
              </a:rPr>
              <a:t>2</a:t>
            </a:r>
          </a:p>
        </p:txBody>
      </p:sp>
      <p:sp>
        <p:nvSpPr>
          <p:cNvPr id="29" name="TextBox 28"/>
          <p:cNvSpPr txBox="1"/>
          <p:nvPr/>
        </p:nvSpPr>
        <p:spPr>
          <a:xfrm>
            <a:off x="7360920" y="3776472"/>
            <a:ext cx="4069080" cy="566928"/>
          </a:xfrm>
          <a:prstGeom prst="rect">
            <a:avLst/>
          </a:prstGeom>
          <a:noFill/>
        </p:spPr>
        <p:txBody>
          <a:bodyPr wrap="square" lIns="0" rIns="0" tIns="0" bIns="0" anchor="ctr">
            <a:spAutoFit/>
          </a:bodyPr>
          <a:lstStyle/>
          <a:p>
            <a:pPr algn="l">
              <a:lnSpc>
                <a:spcPct val="100000"/>
              </a:lnSpc>
            </a:pPr>
            <a:r>
              <a:rPr sz="1450" b="1">
                <a:solidFill>
                  <a:srgbClr val="FFFFFF"/>
                </a:solidFill>
                <a:latin typeface="Arial"/>
              </a:rPr>
              <a:t>Pilot with 1–2 more Castrol distributors</a:t>
            </a:r>
          </a:p>
        </p:txBody>
      </p:sp>
      <p:sp>
        <p:nvSpPr>
          <p:cNvPr id="30" name="Oval 29"/>
          <p:cNvSpPr/>
          <p:nvPr/>
        </p:nvSpPr>
        <p:spPr>
          <a:xfrm>
            <a:off x="6720840" y="4562856"/>
            <a:ext cx="457200" cy="457200"/>
          </a:xfrm>
          <a:prstGeom prst="ellipse">
            <a:avLst/>
          </a:prstGeom>
          <a:solidFill>
            <a:srgbClr val="FFFFFF"/>
          </a:solidFill>
          <a:ln>
            <a:noFill/>
          </a:ln>
          <a:effectLst/>
        </p:spPr>
        <p:txBody>
          <a:bodyPr rtlCol="0" anchor="ctr"/>
          <a:lstStyle/>
          <a:p>
            <a:pPr algn="ctr"/>
          </a:p>
        </p:txBody>
      </p:sp>
      <p:sp>
        <p:nvSpPr>
          <p:cNvPr id="31" name="TextBox 30"/>
          <p:cNvSpPr txBox="1"/>
          <p:nvPr/>
        </p:nvSpPr>
        <p:spPr>
          <a:xfrm>
            <a:off x="6720840" y="4562856"/>
            <a:ext cx="457200" cy="457200"/>
          </a:xfrm>
          <a:prstGeom prst="rect">
            <a:avLst/>
          </a:prstGeom>
          <a:noFill/>
        </p:spPr>
        <p:txBody>
          <a:bodyPr wrap="square" lIns="0" rIns="0" tIns="0" bIns="0" anchor="ctr">
            <a:spAutoFit/>
          </a:bodyPr>
          <a:lstStyle/>
          <a:p>
            <a:pPr algn="ctr">
              <a:lnSpc>
                <a:spcPct val="100000"/>
              </a:lnSpc>
            </a:pPr>
            <a:r>
              <a:rPr sz="1500" b="1">
                <a:solidFill>
                  <a:srgbClr val="009343"/>
                </a:solidFill>
                <a:latin typeface="Arial"/>
              </a:rPr>
              <a:t>3</a:t>
            </a:r>
          </a:p>
        </p:txBody>
      </p:sp>
      <p:sp>
        <p:nvSpPr>
          <p:cNvPr id="32" name="TextBox 31"/>
          <p:cNvSpPr txBox="1"/>
          <p:nvPr/>
        </p:nvSpPr>
        <p:spPr>
          <a:xfrm>
            <a:off x="7360920" y="4526280"/>
            <a:ext cx="4069080" cy="566928"/>
          </a:xfrm>
          <a:prstGeom prst="rect">
            <a:avLst/>
          </a:prstGeom>
          <a:noFill/>
        </p:spPr>
        <p:txBody>
          <a:bodyPr wrap="square" lIns="0" rIns="0" tIns="0" bIns="0" anchor="ctr">
            <a:spAutoFit/>
          </a:bodyPr>
          <a:lstStyle/>
          <a:p>
            <a:pPr algn="l">
              <a:lnSpc>
                <a:spcPct val="100000"/>
              </a:lnSpc>
            </a:pPr>
            <a:r>
              <a:rPr sz="1450" b="1">
                <a:solidFill>
                  <a:srgbClr val="FFFFFF"/>
                </a:solidFill>
                <a:latin typeface="Arial"/>
              </a:rPr>
              <a:t>Joint review of results after 90 days</a:t>
            </a:r>
          </a:p>
        </p:txBody>
      </p:sp>
      <p:sp>
        <p:nvSpPr>
          <p:cNvPr id="33" name="Rounded Rectangle 32"/>
          <p:cNvSpPr/>
          <p:nvPr/>
        </p:nvSpPr>
        <p:spPr>
          <a:xfrm>
            <a:off x="6720840" y="5349240"/>
            <a:ext cx="4572000" cy="621792"/>
          </a:xfrm>
          <a:prstGeom prst="roundRect">
            <a:avLst>
              <a:gd name="adj" fmla="val 17647"/>
            </a:avLst>
          </a:prstGeom>
          <a:solidFill>
            <a:srgbClr val="006E32"/>
          </a:solidFill>
          <a:ln>
            <a:noFill/>
          </a:ln>
          <a:effectLst/>
        </p:spPr>
        <p:txBody>
          <a:bodyPr rtlCol="0" anchor="ctr"/>
          <a:lstStyle/>
          <a:p/>
        </p:txBody>
      </p:sp>
      <p:sp>
        <p:nvSpPr>
          <p:cNvPr id="34" name="TextBox 33"/>
          <p:cNvSpPr txBox="1"/>
          <p:nvPr/>
        </p:nvSpPr>
        <p:spPr>
          <a:xfrm>
            <a:off x="6903720" y="5349240"/>
            <a:ext cx="4297680" cy="621792"/>
          </a:xfrm>
          <a:prstGeom prst="rect">
            <a:avLst/>
          </a:prstGeom>
          <a:noFill/>
        </p:spPr>
        <p:txBody>
          <a:bodyPr wrap="square" lIns="0" rIns="0" tIns="0" bIns="0" anchor="ctr">
            <a:spAutoFit/>
          </a:bodyPr>
          <a:lstStyle/>
          <a:p>
            <a:pPr algn="l">
              <a:lnSpc>
                <a:spcPct val="100000"/>
              </a:lnSpc>
            </a:pPr>
            <a:r>
              <a:rPr sz="1350" b="1">
                <a:solidFill>
                  <a:srgbClr val="FFFFFF"/>
                </a:solidFill>
                <a:latin typeface="Arial"/>
              </a:rPr>
              <a:t>Next step: </a:t>
            </a:r>
            <a:r>
              <a:rPr sz="1350" b="0">
                <a:solidFill>
                  <a:srgbClr val="FFFFFF"/>
                </a:solidFill>
                <a:latin typeface="Arial"/>
              </a:rPr>
              <a:t>a 60-minute session with Castrol Global</a:t>
            </a:r>
          </a:p>
        </p:txBody>
      </p:sp>
      <p:cxnSp>
        <p:nvCxnSpPr>
          <p:cNvPr id="35" name="Connector 34"/>
          <p:cNvCxnSpPr/>
          <p:nvPr/>
        </p:nvCxnSpPr>
        <p:spPr>
          <a:xfrm>
            <a:off x="548640" y="6400800"/>
            <a:ext cx="11094415" cy="0"/>
          </a:xfrm>
          <a:prstGeom prst="line">
            <a:avLst/>
          </a:prstGeom>
          <a:ln w="9525">
            <a:solidFill>
              <a:srgbClr val="D9DEDB"/>
            </a:solidFill>
          </a:ln>
        </p:spPr>
      </p:cxnSp>
      <p:pic>
        <p:nvPicPr>
          <p:cNvPr id="36" name="Picture 35" descr="kad-wordmark.png"/>
          <p:cNvPicPr>
            <a:picLocks noChangeAspect="1"/>
          </p:cNvPicPr>
          <p:nvPr/>
        </p:nvPicPr>
        <p:blipFill>
          <a:blip r:embed="rId6"/>
          <a:stretch>
            <a:fillRect/>
          </a:stretch>
        </p:blipFill>
        <p:spPr>
          <a:xfrm>
            <a:off x="548640" y="6519672"/>
            <a:ext cx="759129" cy="155448"/>
          </a:xfrm>
          <a:prstGeom prst="rect">
            <a:avLst/>
          </a:prstGeom>
        </p:spPr>
      </p:pic>
      <p:sp>
        <p:nvSpPr>
          <p:cNvPr id="37" name="TextBox 36"/>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38" name="TextBox 37"/>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APPENDIX</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Architecture and security</a:t>
            </a:r>
          </a:p>
        </p:txBody>
      </p:sp>
      <p:sp>
        <p:nvSpPr>
          <p:cNvPr id="6" name="Rounded Rectangle 5"/>
          <p:cNvSpPr/>
          <p:nvPr/>
        </p:nvSpPr>
        <p:spPr>
          <a:xfrm>
            <a:off x="548640" y="1783080"/>
            <a:ext cx="3566160" cy="1691640"/>
          </a:xfrm>
          <a:prstGeom prst="roundRect">
            <a:avLst>
              <a:gd name="adj" fmla="val 6486"/>
            </a:avLst>
          </a:prstGeom>
          <a:solidFill>
            <a:srgbClr val="F4F5F6"/>
          </a:solidFill>
          <a:ln>
            <a:noFill/>
          </a:ln>
          <a:effectLst/>
        </p:spPr>
        <p:txBody>
          <a:bodyPr rtlCol="0" anchor="ctr"/>
          <a:lstStyle/>
          <a:p/>
        </p:txBody>
      </p:sp>
      <p:sp>
        <p:nvSpPr>
          <p:cNvPr id="7" name="Oval 6"/>
          <p:cNvSpPr/>
          <p:nvPr/>
        </p:nvSpPr>
        <p:spPr>
          <a:xfrm>
            <a:off x="777240" y="2039112"/>
            <a:ext cx="685800" cy="685800"/>
          </a:xfrm>
          <a:prstGeom prst="ellipse">
            <a:avLst/>
          </a:prstGeom>
          <a:solidFill>
            <a:srgbClr val="E6F4EC"/>
          </a:solidFill>
          <a:ln>
            <a:noFill/>
          </a:ln>
          <a:effectLst/>
        </p:spPr>
        <p:txBody>
          <a:bodyPr rtlCol="0" anchor="ctr"/>
          <a:lstStyle/>
          <a:p>
            <a:pPr algn="ctr"/>
          </a:p>
        </p:txBody>
      </p:sp>
      <p:pic>
        <p:nvPicPr>
          <p:cNvPr id="8" name="Picture 7" descr="smartphone_g.png"/>
          <p:cNvPicPr>
            <a:picLocks noChangeAspect="1"/>
          </p:cNvPicPr>
          <p:nvPr/>
        </p:nvPicPr>
        <p:blipFill>
          <a:blip r:embed="rId2"/>
          <a:stretch>
            <a:fillRect/>
          </a:stretch>
        </p:blipFill>
        <p:spPr>
          <a:xfrm>
            <a:off x="928115" y="2189988"/>
            <a:ext cx="384048" cy="384048"/>
          </a:xfrm>
          <a:prstGeom prst="rect">
            <a:avLst/>
          </a:prstGeom>
        </p:spPr>
      </p:pic>
      <p:sp>
        <p:nvSpPr>
          <p:cNvPr id="9" name="TextBox 8"/>
          <p:cNvSpPr txBox="1"/>
          <p:nvPr/>
        </p:nvSpPr>
        <p:spPr>
          <a:xfrm>
            <a:off x="1645919" y="205740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Progressive web app</a:t>
            </a:r>
          </a:p>
        </p:txBody>
      </p:sp>
      <p:sp>
        <p:nvSpPr>
          <p:cNvPr id="10" name="TextBox 9"/>
          <p:cNvSpPr txBox="1"/>
          <p:nvPr/>
        </p:nvSpPr>
        <p:spPr>
          <a:xfrm>
            <a:off x="1645919" y="265176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Installs from a link on iPhone, Android and desktop.</a:t>
            </a:r>
          </a:p>
        </p:txBody>
      </p:sp>
      <p:sp>
        <p:nvSpPr>
          <p:cNvPr id="11" name="Rounded Rectangle 10"/>
          <p:cNvSpPr/>
          <p:nvPr/>
        </p:nvSpPr>
        <p:spPr>
          <a:xfrm>
            <a:off x="4297679" y="1783080"/>
            <a:ext cx="3566160" cy="1691640"/>
          </a:xfrm>
          <a:prstGeom prst="roundRect">
            <a:avLst>
              <a:gd name="adj" fmla="val 6486"/>
            </a:avLst>
          </a:prstGeom>
          <a:solidFill>
            <a:srgbClr val="F4F5F6"/>
          </a:solidFill>
          <a:ln>
            <a:noFill/>
          </a:ln>
          <a:effectLst/>
        </p:spPr>
        <p:txBody>
          <a:bodyPr rtlCol="0" anchor="ctr"/>
          <a:lstStyle/>
          <a:p/>
        </p:txBody>
      </p:sp>
      <p:sp>
        <p:nvSpPr>
          <p:cNvPr id="12" name="Oval 11"/>
          <p:cNvSpPr/>
          <p:nvPr/>
        </p:nvSpPr>
        <p:spPr>
          <a:xfrm>
            <a:off x="4526279" y="2039112"/>
            <a:ext cx="685800" cy="685800"/>
          </a:xfrm>
          <a:prstGeom prst="ellipse">
            <a:avLst/>
          </a:prstGeom>
          <a:solidFill>
            <a:srgbClr val="E6F4EC"/>
          </a:solidFill>
          <a:ln>
            <a:noFill/>
          </a:ln>
          <a:effectLst/>
        </p:spPr>
        <p:txBody>
          <a:bodyPr rtlCol="0" anchor="ctr"/>
          <a:lstStyle/>
          <a:p>
            <a:pPr algn="ctr"/>
          </a:p>
        </p:txBody>
      </p:sp>
      <p:pic>
        <p:nvPicPr>
          <p:cNvPr id="13" name="Picture 12" descr="wifioff_g.png"/>
          <p:cNvPicPr>
            <a:picLocks noChangeAspect="1"/>
          </p:cNvPicPr>
          <p:nvPr/>
        </p:nvPicPr>
        <p:blipFill>
          <a:blip r:embed="rId3"/>
          <a:stretch>
            <a:fillRect/>
          </a:stretch>
        </p:blipFill>
        <p:spPr>
          <a:xfrm>
            <a:off x="4677155" y="2189988"/>
            <a:ext cx="384048" cy="384048"/>
          </a:xfrm>
          <a:prstGeom prst="rect">
            <a:avLst/>
          </a:prstGeom>
        </p:spPr>
      </p:pic>
      <p:sp>
        <p:nvSpPr>
          <p:cNvPr id="14" name="TextBox 13"/>
          <p:cNvSpPr txBox="1"/>
          <p:nvPr/>
        </p:nvSpPr>
        <p:spPr>
          <a:xfrm>
            <a:off x="5394959" y="205740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Works offline</a:t>
            </a:r>
          </a:p>
        </p:txBody>
      </p:sp>
      <p:sp>
        <p:nvSpPr>
          <p:cNvPr id="15" name="TextBox 14"/>
          <p:cNvSpPr txBox="1"/>
          <p:nvPr/>
        </p:nvSpPr>
        <p:spPr>
          <a:xfrm>
            <a:off x="5394959" y="265176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Visits and orders wait on the phone and send automatically.</a:t>
            </a:r>
          </a:p>
        </p:txBody>
      </p:sp>
      <p:sp>
        <p:nvSpPr>
          <p:cNvPr id="16" name="Rounded Rectangle 15"/>
          <p:cNvSpPr/>
          <p:nvPr/>
        </p:nvSpPr>
        <p:spPr>
          <a:xfrm>
            <a:off x="8046719" y="1783080"/>
            <a:ext cx="3566160" cy="1691640"/>
          </a:xfrm>
          <a:prstGeom prst="roundRect">
            <a:avLst>
              <a:gd name="adj" fmla="val 6486"/>
            </a:avLst>
          </a:prstGeom>
          <a:solidFill>
            <a:srgbClr val="F4F5F6"/>
          </a:solidFill>
          <a:ln>
            <a:noFill/>
          </a:ln>
          <a:effectLst/>
        </p:spPr>
        <p:txBody>
          <a:bodyPr rtlCol="0" anchor="ctr"/>
          <a:lstStyle/>
          <a:p/>
        </p:txBody>
      </p:sp>
      <p:sp>
        <p:nvSpPr>
          <p:cNvPr id="17" name="Oval 16"/>
          <p:cNvSpPr/>
          <p:nvPr/>
        </p:nvSpPr>
        <p:spPr>
          <a:xfrm>
            <a:off x="8275319" y="2039112"/>
            <a:ext cx="685800" cy="685800"/>
          </a:xfrm>
          <a:prstGeom prst="ellipse">
            <a:avLst/>
          </a:prstGeom>
          <a:solidFill>
            <a:srgbClr val="E6F4EC"/>
          </a:solidFill>
          <a:ln>
            <a:noFill/>
          </a:ln>
          <a:effectLst/>
        </p:spPr>
        <p:txBody>
          <a:bodyPr rtlCol="0" anchor="ctr"/>
          <a:lstStyle/>
          <a:p>
            <a:pPr algn="ctr"/>
          </a:p>
        </p:txBody>
      </p:sp>
      <p:pic>
        <p:nvPicPr>
          <p:cNvPr id="18" name="Picture 17" descr="person_g.png"/>
          <p:cNvPicPr>
            <a:picLocks noChangeAspect="1"/>
          </p:cNvPicPr>
          <p:nvPr/>
        </p:nvPicPr>
        <p:blipFill>
          <a:blip r:embed="rId4"/>
          <a:stretch>
            <a:fillRect/>
          </a:stretch>
        </p:blipFill>
        <p:spPr>
          <a:xfrm>
            <a:off x="8426195" y="2189988"/>
            <a:ext cx="384048" cy="384048"/>
          </a:xfrm>
          <a:prstGeom prst="rect">
            <a:avLst/>
          </a:prstGeom>
        </p:spPr>
      </p:pic>
      <p:sp>
        <p:nvSpPr>
          <p:cNvPr id="19" name="TextBox 18"/>
          <p:cNvSpPr txBox="1"/>
          <p:nvPr/>
        </p:nvSpPr>
        <p:spPr>
          <a:xfrm>
            <a:off x="9143999" y="205740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Role-based access</a:t>
            </a:r>
          </a:p>
        </p:txBody>
      </p:sp>
      <p:sp>
        <p:nvSpPr>
          <p:cNvPr id="20" name="TextBox 19"/>
          <p:cNvSpPr txBox="1"/>
          <p:nvPr/>
        </p:nvSpPr>
        <p:spPr>
          <a:xfrm>
            <a:off x="9143999" y="265176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8 roles; every rule is enforced on the server.</a:t>
            </a:r>
          </a:p>
        </p:txBody>
      </p:sp>
      <p:sp>
        <p:nvSpPr>
          <p:cNvPr id="21" name="Rounded Rectangle 20"/>
          <p:cNvSpPr/>
          <p:nvPr/>
        </p:nvSpPr>
        <p:spPr>
          <a:xfrm>
            <a:off x="548640" y="3657600"/>
            <a:ext cx="3566160" cy="1691640"/>
          </a:xfrm>
          <a:prstGeom prst="roundRect">
            <a:avLst>
              <a:gd name="adj" fmla="val 6486"/>
            </a:avLst>
          </a:prstGeom>
          <a:solidFill>
            <a:srgbClr val="F4F5F6"/>
          </a:solidFill>
          <a:ln>
            <a:noFill/>
          </a:ln>
          <a:effectLst/>
        </p:spPr>
        <p:txBody>
          <a:bodyPr rtlCol="0" anchor="ctr"/>
          <a:lstStyle/>
          <a:p/>
        </p:txBody>
      </p:sp>
      <p:sp>
        <p:nvSpPr>
          <p:cNvPr id="22" name="Oval 21"/>
          <p:cNvSpPr/>
          <p:nvPr/>
        </p:nvSpPr>
        <p:spPr>
          <a:xfrm>
            <a:off x="777240" y="3913632"/>
            <a:ext cx="685800" cy="685800"/>
          </a:xfrm>
          <a:prstGeom prst="ellipse">
            <a:avLst/>
          </a:prstGeom>
          <a:solidFill>
            <a:srgbClr val="E6F4EC"/>
          </a:solidFill>
          <a:ln>
            <a:noFill/>
          </a:ln>
          <a:effectLst/>
        </p:spPr>
        <p:txBody>
          <a:bodyPr rtlCol="0" anchor="ctr"/>
          <a:lstStyle/>
          <a:p>
            <a:pPr algn="ctr"/>
          </a:p>
        </p:txBody>
      </p:sp>
      <p:pic>
        <p:nvPicPr>
          <p:cNvPr id="23" name="Picture 22" descr="database_g.png"/>
          <p:cNvPicPr>
            <a:picLocks noChangeAspect="1"/>
          </p:cNvPicPr>
          <p:nvPr/>
        </p:nvPicPr>
        <p:blipFill>
          <a:blip r:embed="rId5"/>
          <a:stretch>
            <a:fillRect/>
          </a:stretch>
        </p:blipFill>
        <p:spPr>
          <a:xfrm>
            <a:off x="928115" y="4064508"/>
            <a:ext cx="384048" cy="384048"/>
          </a:xfrm>
          <a:prstGeom prst="rect">
            <a:avLst/>
          </a:prstGeom>
        </p:spPr>
      </p:pic>
      <p:sp>
        <p:nvSpPr>
          <p:cNvPr id="24" name="TextBox 23"/>
          <p:cNvSpPr txBox="1"/>
          <p:nvPr/>
        </p:nvSpPr>
        <p:spPr>
          <a:xfrm>
            <a:off x="1645919" y="393192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PostgreSQL database</a:t>
            </a:r>
          </a:p>
        </p:txBody>
      </p:sp>
      <p:sp>
        <p:nvSpPr>
          <p:cNvPr id="25" name="TextBox 24"/>
          <p:cNvSpPr txBox="1"/>
          <p:nvPr/>
        </p:nvSpPr>
        <p:spPr>
          <a:xfrm>
            <a:off x="1645919" y="452628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Runs on the distributor's own cloud server.</a:t>
            </a:r>
          </a:p>
        </p:txBody>
      </p:sp>
      <p:sp>
        <p:nvSpPr>
          <p:cNvPr id="26" name="Rounded Rectangle 25"/>
          <p:cNvSpPr/>
          <p:nvPr/>
        </p:nvSpPr>
        <p:spPr>
          <a:xfrm>
            <a:off x="4297679" y="3657600"/>
            <a:ext cx="3566160" cy="1691640"/>
          </a:xfrm>
          <a:prstGeom prst="roundRect">
            <a:avLst>
              <a:gd name="adj" fmla="val 6486"/>
            </a:avLst>
          </a:prstGeom>
          <a:solidFill>
            <a:srgbClr val="F4F5F6"/>
          </a:solidFill>
          <a:ln>
            <a:noFill/>
          </a:ln>
          <a:effectLst/>
        </p:spPr>
        <p:txBody>
          <a:bodyPr rtlCol="0" anchor="ctr"/>
          <a:lstStyle/>
          <a:p/>
        </p:txBody>
      </p:sp>
      <p:sp>
        <p:nvSpPr>
          <p:cNvPr id="27" name="Oval 26"/>
          <p:cNvSpPr/>
          <p:nvPr/>
        </p:nvSpPr>
        <p:spPr>
          <a:xfrm>
            <a:off x="4526279" y="3913632"/>
            <a:ext cx="685800" cy="685800"/>
          </a:xfrm>
          <a:prstGeom prst="ellipse">
            <a:avLst/>
          </a:prstGeom>
          <a:solidFill>
            <a:srgbClr val="E6F4EC"/>
          </a:solidFill>
          <a:ln>
            <a:noFill/>
          </a:ln>
          <a:effectLst/>
        </p:spPr>
        <p:txBody>
          <a:bodyPr rtlCol="0" anchor="ctr"/>
          <a:lstStyle/>
          <a:p>
            <a:pPr algn="ctr"/>
          </a:p>
        </p:txBody>
      </p:sp>
      <p:pic>
        <p:nvPicPr>
          <p:cNvPr id="28" name="Picture 27" descr="lock_g.png"/>
          <p:cNvPicPr>
            <a:picLocks noChangeAspect="1"/>
          </p:cNvPicPr>
          <p:nvPr/>
        </p:nvPicPr>
        <p:blipFill>
          <a:blip r:embed="rId6"/>
          <a:stretch>
            <a:fillRect/>
          </a:stretch>
        </p:blipFill>
        <p:spPr>
          <a:xfrm>
            <a:off x="4677155" y="4064508"/>
            <a:ext cx="384048" cy="384048"/>
          </a:xfrm>
          <a:prstGeom prst="rect">
            <a:avLst/>
          </a:prstGeom>
        </p:spPr>
      </p:pic>
      <p:sp>
        <p:nvSpPr>
          <p:cNvPr id="29" name="TextBox 28"/>
          <p:cNvSpPr txBox="1"/>
          <p:nvPr/>
        </p:nvSpPr>
        <p:spPr>
          <a:xfrm>
            <a:off x="5394959" y="393192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Secure by default</a:t>
            </a:r>
          </a:p>
        </p:txBody>
      </p:sp>
      <p:sp>
        <p:nvSpPr>
          <p:cNvPr id="30" name="TextBox 29"/>
          <p:cNvSpPr txBox="1"/>
          <p:nvPr/>
        </p:nvSpPr>
        <p:spPr>
          <a:xfrm>
            <a:off x="5394959" y="452628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HTTPS, signed sessions, CSRF protection, rate limits, lockout.</a:t>
            </a:r>
          </a:p>
        </p:txBody>
      </p:sp>
      <p:sp>
        <p:nvSpPr>
          <p:cNvPr id="31" name="Rounded Rectangle 30"/>
          <p:cNvSpPr/>
          <p:nvPr/>
        </p:nvSpPr>
        <p:spPr>
          <a:xfrm>
            <a:off x="8046719" y="3657600"/>
            <a:ext cx="3566160" cy="1691640"/>
          </a:xfrm>
          <a:prstGeom prst="roundRect">
            <a:avLst>
              <a:gd name="adj" fmla="val 6486"/>
            </a:avLst>
          </a:prstGeom>
          <a:solidFill>
            <a:srgbClr val="F4F5F6"/>
          </a:solidFill>
          <a:ln>
            <a:noFill/>
          </a:ln>
          <a:effectLst/>
        </p:spPr>
        <p:txBody>
          <a:bodyPr rtlCol="0" anchor="ctr"/>
          <a:lstStyle/>
          <a:p/>
        </p:txBody>
      </p:sp>
      <p:sp>
        <p:nvSpPr>
          <p:cNvPr id="32" name="Oval 31"/>
          <p:cNvSpPr/>
          <p:nvPr/>
        </p:nvSpPr>
        <p:spPr>
          <a:xfrm>
            <a:off x="8275319" y="3913632"/>
            <a:ext cx="685800" cy="685800"/>
          </a:xfrm>
          <a:prstGeom prst="ellipse">
            <a:avLst/>
          </a:prstGeom>
          <a:solidFill>
            <a:srgbClr val="E6F4EC"/>
          </a:solidFill>
          <a:ln>
            <a:noFill/>
          </a:ln>
          <a:effectLst/>
        </p:spPr>
        <p:txBody>
          <a:bodyPr rtlCol="0" anchor="ctr"/>
          <a:lstStyle/>
          <a:p>
            <a:pPr algn="ctr"/>
          </a:p>
        </p:txBody>
      </p:sp>
      <p:pic>
        <p:nvPicPr>
          <p:cNvPr id="33" name="Picture 32" descr="shield_g.png"/>
          <p:cNvPicPr>
            <a:picLocks noChangeAspect="1"/>
          </p:cNvPicPr>
          <p:nvPr/>
        </p:nvPicPr>
        <p:blipFill>
          <a:blip r:embed="rId7"/>
          <a:stretch>
            <a:fillRect/>
          </a:stretch>
        </p:blipFill>
        <p:spPr>
          <a:xfrm>
            <a:off x="8426195" y="4064508"/>
            <a:ext cx="384048" cy="384048"/>
          </a:xfrm>
          <a:prstGeom prst="rect">
            <a:avLst/>
          </a:prstGeom>
        </p:spPr>
      </p:pic>
      <p:sp>
        <p:nvSpPr>
          <p:cNvPr id="34" name="TextBox 33"/>
          <p:cNvSpPr txBox="1"/>
          <p:nvPr/>
        </p:nvSpPr>
        <p:spPr>
          <a:xfrm>
            <a:off x="9143999" y="3931920"/>
            <a:ext cx="2331720" cy="594360"/>
          </a:xfrm>
          <a:prstGeom prst="rect">
            <a:avLst/>
          </a:prstGeom>
          <a:noFill/>
        </p:spPr>
        <p:txBody>
          <a:bodyPr wrap="square" lIns="0" rIns="0" tIns="0" bIns="0" anchor="t">
            <a:spAutoFit/>
          </a:bodyPr>
          <a:lstStyle/>
          <a:p>
            <a:pPr algn="l">
              <a:lnSpc>
                <a:spcPct val="95000"/>
              </a:lnSpc>
            </a:pPr>
            <a:r>
              <a:rPr sz="1550" b="1">
                <a:solidFill>
                  <a:srgbClr val="23272B"/>
                </a:solidFill>
                <a:latin typeface="Arial"/>
              </a:rPr>
              <a:t>Data stays with the distributor</a:t>
            </a:r>
          </a:p>
        </p:txBody>
      </p:sp>
      <p:sp>
        <p:nvSpPr>
          <p:cNvPr id="35" name="TextBox 34"/>
          <p:cNvSpPr txBox="1"/>
          <p:nvPr/>
        </p:nvSpPr>
        <p:spPr>
          <a:xfrm>
            <a:off x="9143999" y="4526280"/>
            <a:ext cx="2331720" cy="777240"/>
          </a:xfrm>
          <a:prstGeom prst="rect">
            <a:avLst/>
          </a:prstGeom>
          <a:noFill/>
        </p:spPr>
        <p:txBody>
          <a:bodyPr wrap="square" lIns="0" rIns="0" tIns="0" bIns="0" anchor="t">
            <a:spAutoFit/>
          </a:bodyPr>
          <a:lstStyle/>
          <a:p>
            <a:pPr algn="l">
              <a:lnSpc>
                <a:spcPct val="100000"/>
              </a:lnSpc>
            </a:pPr>
            <a:r>
              <a:rPr sz="1200" b="0">
                <a:solidFill>
                  <a:srgbClr val="5F6670"/>
                </a:solidFill>
                <a:latin typeface="Arial"/>
              </a:rPr>
              <a:t>Castrol gets aggregates; AI analysis uses anonymised codes.</a:t>
            </a:r>
          </a:p>
        </p:txBody>
      </p:sp>
      <p:sp>
        <p:nvSpPr>
          <p:cNvPr id="36" name="TextBox 35"/>
          <p:cNvSpPr txBox="1"/>
          <p:nvPr/>
        </p:nvSpPr>
        <p:spPr>
          <a:xfrm>
            <a:off x="548640" y="5669280"/>
            <a:ext cx="11064240" cy="457200"/>
          </a:xfrm>
          <a:prstGeom prst="rect">
            <a:avLst/>
          </a:prstGeom>
          <a:noFill/>
        </p:spPr>
        <p:txBody>
          <a:bodyPr wrap="square" lIns="0" rIns="0" tIns="0" bIns="0" anchor="t">
            <a:spAutoFit/>
          </a:bodyPr>
          <a:lstStyle/>
          <a:p>
            <a:pPr algn="l">
              <a:lnSpc>
                <a:spcPct val="100000"/>
              </a:lnSpc>
            </a:pPr>
            <a:r>
              <a:rPr sz="1250" b="1">
                <a:solidFill>
                  <a:srgbClr val="23272B"/>
                </a:solidFill>
                <a:latin typeface="Arial"/>
              </a:rPr>
              <a:t>Quality: </a:t>
            </a:r>
            <a:r>
              <a:rPr sz="1250" b="0">
                <a:solidFill>
                  <a:srgbClr val="5F6670"/>
                </a:solidFill>
                <a:latin typeface="Arial"/>
              </a:rPr>
              <a:t>about 1,200 automated tests run on every change; 750+ improvements shipped since August 2026.</a:t>
            </a:r>
          </a:p>
        </p:txBody>
      </p:sp>
      <p:cxnSp>
        <p:nvCxnSpPr>
          <p:cNvPr id="37" name="Connector 36"/>
          <p:cNvCxnSpPr/>
          <p:nvPr/>
        </p:nvCxnSpPr>
        <p:spPr>
          <a:xfrm>
            <a:off x="548640" y="6400800"/>
            <a:ext cx="11094415" cy="0"/>
          </a:xfrm>
          <a:prstGeom prst="line">
            <a:avLst/>
          </a:prstGeom>
          <a:ln w="9525">
            <a:solidFill>
              <a:srgbClr val="D9DEDB"/>
            </a:solidFill>
          </a:ln>
        </p:spPr>
      </p:cxnSp>
      <p:pic>
        <p:nvPicPr>
          <p:cNvPr id="38" name="Picture 37" descr="kad-wordmark.png"/>
          <p:cNvPicPr>
            <a:picLocks noChangeAspect="1"/>
          </p:cNvPicPr>
          <p:nvPr/>
        </p:nvPicPr>
        <p:blipFill>
          <a:blip r:embed="rId8"/>
          <a:stretch>
            <a:fillRect/>
          </a:stretch>
        </p:blipFill>
        <p:spPr>
          <a:xfrm>
            <a:off x="548640" y="6519672"/>
            <a:ext cx="759129" cy="155448"/>
          </a:xfrm>
          <a:prstGeom prst="rect">
            <a:avLst/>
          </a:prstGeom>
        </p:spPr>
      </p:pic>
      <p:sp>
        <p:nvSpPr>
          <p:cNvPr id="39" name="TextBox 38"/>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40" name="TextBox 39"/>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347472"/>
            <a:ext cx="592531" cy="64008"/>
          </a:xfrm>
          <a:prstGeom prst="rect">
            <a:avLst/>
          </a:prstGeom>
          <a:solidFill>
            <a:srgbClr val="009343"/>
          </a:solidFill>
          <a:ln>
            <a:noFill/>
          </a:ln>
          <a:effectLst/>
        </p:spPr>
        <p:txBody>
          <a:bodyPr rtlCol="0" anchor="ctr"/>
          <a:lstStyle/>
          <a:p/>
        </p:txBody>
      </p:sp>
      <p:sp>
        <p:nvSpPr>
          <p:cNvPr id="3" name="Rectangle 2"/>
          <p:cNvSpPr/>
          <p:nvPr/>
        </p:nvSpPr>
        <p:spPr>
          <a:xfrm>
            <a:off x="1141171" y="347472"/>
            <a:ext cx="230428" cy="64008"/>
          </a:xfrm>
          <a:prstGeom prst="rect">
            <a:avLst/>
          </a:prstGeom>
          <a:solidFill>
            <a:srgbClr val="E2001A"/>
          </a:solidFill>
          <a:ln>
            <a:noFill/>
          </a:ln>
          <a:effectLst/>
        </p:spPr>
        <p:txBody>
          <a:bodyPr rtlCol="0" anchor="ctr"/>
          <a:lstStyle/>
          <a:p/>
        </p:txBody>
      </p:sp>
      <p:sp>
        <p:nvSpPr>
          <p:cNvPr id="4" name="TextBox 3"/>
          <p:cNvSpPr txBox="1"/>
          <p:nvPr/>
        </p:nvSpPr>
        <p:spPr>
          <a:xfrm>
            <a:off x="548640" y="502920"/>
            <a:ext cx="9144000" cy="274320"/>
          </a:xfrm>
          <a:prstGeom prst="rect">
            <a:avLst/>
          </a:prstGeom>
          <a:noFill/>
        </p:spPr>
        <p:txBody>
          <a:bodyPr wrap="square" lIns="0" rIns="0" tIns="0" bIns="0" anchor="t">
            <a:spAutoFit/>
          </a:bodyPr>
          <a:lstStyle/>
          <a:p>
            <a:pPr algn="l">
              <a:lnSpc>
                <a:spcPct val="100000"/>
              </a:lnSpc>
            </a:pPr>
            <a:r>
              <a:rPr sz="1200" b="1">
                <a:solidFill>
                  <a:srgbClr val="009343"/>
                </a:solidFill>
                <a:latin typeface="Arial"/>
              </a:rPr>
              <a:t>APPENDIX</a:t>
            </a:r>
          </a:p>
        </p:txBody>
      </p:sp>
      <p:sp>
        <p:nvSpPr>
          <p:cNvPr id="5" name="TextBox 4"/>
          <p:cNvSpPr txBox="1"/>
          <p:nvPr/>
        </p:nvSpPr>
        <p:spPr>
          <a:xfrm>
            <a:off x="548640" y="777240"/>
            <a:ext cx="11064240" cy="914400"/>
          </a:xfrm>
          <a:prstGeom prst="rect">
            <a:avLst/>
          </a:prstGeom>
          <a:noFill/>
        </p:spPr>
        <p:txBody>
          <a:bodyPr wrap="square" lIns="0" rIns="0" tIns="0" bIns="0" anchor="t">
            <a:spAutoFit/>
          </a:bodyPr>
          <a:lstStyle/>
          <a:p>
            <a:pPr algn="l">
              <a:lnSpc>
                <a:spcPct val="95000"/>
              </a:lnSpc>
            </a:pPr>
            <a:r>
              <a:rPr sz="3000" b="1">
                <a:solidFill>
                  <a:srgbClr val="23272B"/>
                </a:solidFill>
                <a:latin typeface="Arial"/>
              </a:rPr>
              <a:t>Where every number comes from</a:t>
            </a:r>
          </a:p>
        </p:txBody>
      </p:sp>
      <p:graphicFrame>
        <p:nvGraphicFramePr>
          <p:cNvPr id="6" name="Table 5"/>
          <p:cNvGraphicFramePr>
            <a:graphicFrameLocks noGrp="1"/>
          </p:cNvGraphicFramePr>
          <p:nvPr/>
        </p:nvGraphicFramePr>
        <p:xfrm>
          <a:off x="548640" y="1737360"/>
          <a:ext cx="11091672" cy="4206240"/>
        </p:xfrm>
        <a:graphic>
          <a:graphicData uri="http://schemas.openxmlformats.org/drawingml/2006/table">
            <a:tbl>
              <a:tblPr firstRow="1" bandRow="1">
                <a:tableStyleId>{5C22544A-7EE6-4342-B048-85BDC9FD1C3A}</a:tableStyleId>
              </a:tblPr>
              <a:tblGrid>
                <a:gridCol w="2011680"/>
                <a:gridCol w="5120640"/>
                <a:gridCol w="3959352"/>
              </a:tblGrid>
              <a:tr h="467360">
                <a:tc>
                  <a:txBody>
                    <a:bodyPr wrap="square"/>
                    <a:lstStyle/>
                    <a:p>
                      <a:r>
                        <a:rPr sz="1250" b="1">
                          <a:solidFill>
                            <a:srgbClr val="FFFFFF"/>
                          </a:solidFill>
                          <a:latin typeface="Arial"/>
                        </a:rPr>
                        <a:t>Number</a:t>
                      </a:r>
                    </a:p>
                  </a:txBody>
                  <a:tcPr marL="109728" marR="109728" marT="45720" marB="45720" anchor="ctr">
                    <a:solidFill>
                      <a:srgbClr val="009343"/>
                    </a:solidFill>
                  </a:tcPr>
                </a:tc>
                <a:tc>
                  <a:txBody>
                    <a:bodyPr wrap="square"/>
                    <a:lstStyle/>
                    <a:p>
                      <a:r>
                        <a:rPr sz="1250" b="1">
                          <a:solidFill>
                            <a:srgbClr val="FFFFFF"/>
                          </a:solidFill>
                          <a:latin typeface="Arial"/>
                        </a:rPr>
                        <a:t>Meaning</a:t>
                      </a:r>
                    </a:p>
                  </a:txBody>
                  <a:tcPr marL="109728" marR="109728" marT="45720" marB="45720" anchor="ctr">
                    <a:solidFill>
                      <a:srgbClr val="009343"/>
                    </a:solidFill>
                  </a:tcPr>
                </a:tc>
                <a:tc>
                  <a:txBody>
                    <a:bodyPr wrap="square"/>
                    <a:lstStyle/>
                    <a:p>
                      <a:r>
                        <a:rPr sz="1250" b="1">
                          <a:solidFill>
                            <a:srgbClr val="FFFFFF"/>
                          </a:solidFill>
                          <a:latin typeface="Arial"/>
                        </a:rPr>
                        <a:t>Source</a:t>
                      </a:r>
                    </a:p>
                  </a:txBody>
                  <a:tcPr marL="109728" marR="109728" marT="45720" marB="45720" anchor="ctr">
                    <a:solidFill>
                      <a:srgbClr val="009343"/>
                    </a:solidFill>
                  </a:tcPr>
                </a:tc>
              </a:tr>
              <a:tr h="467360">
                <a:tc>
                  <a:txBody>
                    <a:bodyPr wrap="square"/>
                    <a:lstStyle/>
                    <a:p>
                      <a:r>
                        <a:rPr sz="1200" b="1">
                          <a:solidFill>
                            <a:srgbClr val="006E32"/>
                          </a:solidFill>
                          <a:latin typeface="Arial"/>
                        </a:rPr>
                        <a:t>+27%</a:t>
                      </a:r>
                    </a:p>
                  </a:txBody>
                  <a:tcPr marL="109728" marR="109728" marT="45720" marB="45720" anchor="ctr">
                    <a:solidFill>
                      <a:srgbClr val="FFFFFF"/>
                    </a:solidFill>
                  </a:tcPr>
                </a:tc>
                <a:tc>
                  <a:txBody>
                    <a:bodyPr wrap="square"/>
                    <a:lstStyle/>
                    <a:p>
                      <a:r>
                        <a:rPr sz="1200" b="0">
                          <a:solidFill>
                            <a:srgbClr val="23272B"/>
                          </a:solidFill>
                          <a:latin typeface="Arial"/>
                        </a:rPr>
                        <a:t>Litres sold 1 Jan – 8 Oct 2026 (72.7k L) vs full year 2025 (57.4k L)</a:t>
                      </a:r>
                    </a:p>
                  </a:txBody>
                  <a:tcPr marL="109728" marR="109728" marT="45720" marB="45720" anchor="ctr">
                    <a:solidFill>
                      <a:srgbClr val="FFFFFF"/>
                    </a:solidFill>
                  </a:tcPr>
                </a:tc>
                <a:tc>
                  <a:txBody>
                    <a:bodyPr wrap="square"/>
                    <a:lstStyle/>
                    <a:p>
                      <a:r>
                        <a:rPr sz="1200" b="0">
                          <a:solidFill>
                            <a:srgbClr val="23272B"/>
                          </a:solidFill>
                          <a:latin typeface="Arial"/>
                        </a:rPr>
                        <a:t>ERP workbook, ORDERS sheet; internal stock rows excluded</a:t>
                      </a:r>
                    </a:p>
                  </a:txBody>
                  <a:tcPr marL="109728" marR="109728" marT="45720" marB="45720" anchor="ctr">
                    <a:solidFill>
                      <a:srgbClr val="FFFFFF"/>
                    </a:solidFill>
                  </a:tcPr>
                </a:tc>
              </a:tr>
              <a:tr h="467360">
                <a:tc>
                  <a:txBody>
                    <a:bodyPr wrap="square"/>
                    <a:lstStyle/>
                    <a:p>
                      <a:r>
                        <a:rPr sz="1200" b="1">
                          <a:solidFill>
                            <a:srgbClr val="006E32"/>
                          </a:solidFill>
                          <a:latin typeface="Arial"/>
                        </a:rPr>
                        <a:t>96%</a:t>
                      </a:r>
                    </a:p>
                  </a:txBody>
                  <a:tcPr marL="109728" marR="109728" marT="45720" marB="45720" anchor="ctr">
                    <a:solidFill>
                      <a:srgbClr val="F4F5F6"/>
                    </a:solidFill>
                  </a:tcPr>
                </a:tc>
                <a:tc>
                  <a:txBody>
                    <a:bodyPr wrap="square"/>
                    <a:lstStyle/>
                    <a:p>
                      <a:r>
                        <a:rPr sz="1200" b="0">
                          <a:solidFill>
                            <a:srgbClr val="23272B"/>
                          </a:solidFill>
                          <a:latin typeface="Arial"/>
                        </a:rPr>
                        <a:t>Castrol litres vs 2026 plan to date (37.7k of 39.2k L)</a:t>
                      </a:r>
                    </a:p>
                  </a:txBody>
                  <a:tcPr marL="109728" marR="109728" marT="45720" marB="45720" anchor="ctr">
                    <a:solidFill>
                      <a:srgbClr val="F4F5F6"/>
                    </a:solidFill>
                  </a:tcPr>
                </a:tc>
                <a:tc>
                  <a:txBody>
                    <a:bodyPr wrap="square"/>
                    <a:lstStyle/>
                    <a:p>
                      <a:r>
                        <a:rPr sz="1200" b="0">
                          <a:solidFill>
                            <a:srgbClr val="23272B"/>
                          </a:solidFill>
                          <a:latin typeface="Arial"/>
                        </a:rPr>
                        <a:t>ERP workbook, Plan_2026 sheet (total block)</a:t>
                      </a:r>
                    </a:p>
                  </a:txBody>
                  <a:tcPr marL="109728" marR="109728" marT="45720" marB="45720" anchor="ctr">
                    <a:solidFill>
                      <a:srgbClr val="F4F5F6"/>
                    </a:solidFill>
                  </a:tcPr>
                </a:tc>
              </a:tr>
              <a:tr h="467360">
                <a:tc>
                  <a:txBody>
                    <a:bodyPr wrap="square"/>
                    <a:lstStyle/>
                    <a:p>
                      <a:r>
                        <a:rPr sz="1200" b="1">
                          <a:solidFill>
                            <a:srgbClr val="006E32"/>
                          </a:solidFill>
                          <a:latin typeface="Arial"/>
                        </a:rPr>
                        <a:t>90%</a:t>
                      </a:r>
                    </a:p>
                  </a:txBody>
                  <a:tcPr marL="109728" marR="109728" marT="45720" marB="45720" anchor="ctr">
                    <a:solidFill>
                      <a:srgbClr val="FFFFFF"/>
                    </a:solidFill>
                  </a:tcPr>
                </a:tc>
                <a:tc>
                  <a:txBody>
                    <a:bodyPr wrap="square"/>
                    <a:lstStyle/>
                    <a:p>
                      <a:r>
                        <a:rPr sz="1200" b="0">
                          <a:solidFill>
                            <a:srgbClr val="23272B"/>
                          </a:solidFill>
                          <a:latin typeface="Arial"/>
                        </a:rPr>
                        <a:t>2026 cash collected ÷ 2026 sales</a:t>
                      </a:r>
                    </a:p>
                  </a:txBody>
                  <a:tcPr marL="109728" marR="109728" marT="45720" marB="45720" anchor="ctr">
                    <a:solidFill>
                      <a:srgbClr val="FFFFFF"/>
                    </a:solidFill>
                  </a:tcPr>
                </a:tc>
                <a:tc>
                  <a:txBody>
                    <a:bodyPr wrap="square"/>
                    <a:lstStyle/>
                    <a:p>
                      <a:r>
                        <a:rPr sz="1200" b="0">
                          <a:solidFill>
                            <a:srgbClr val="23272B"/>
                          </a:solidFill>
                          <a:latin typeface="Arial"/>
                        </a:rPr>
                        <a:t>Cashflow sheet (customer receipts) ÷ ORDERS</a:t>
                      </a:r>
                    </a:p>
                  </a:txBody>
                  <a:tcPr marL="109728" marR="109728" marT="45720" marB="45720" anchor="ctr">
                    <a:solidFill>
                      <a:srgbClr val="FFFFFF"/>
                    </a:solidFill>
                  </a:tcPr>
                </a:tc>
              </a:tr>
              <a:tr h="467360">
                <a:tc>
                  <a:txBody>
                    <a:bodyPr wrap="square"/>
                    <a:lstStyle/>
                    <a:p>
                      <a:r>
                        <a:rPr sz="1200" b="1">
                          <a:solidFill>
                            <a:srgbClr val="006E32"/>
                          </a:solidFill>
                          <a:latin typeface="Arial"/>
                        </a:rPr>
                        <a:t>78% · 103% · 93%</a:t>
                      </a:r>
                    </a:p>
                  </a:txBody>
                  <a:tcPr marL="109728" marR="109728" marT="45720" marB="45720" anchor="ctr">
                    <a:solidFill>
                      <a:srgbClr val="F4F5F6"/>
                    </a:solidFill>
                  </a:tcPr>
                </a:tc>
                <a:tc>
                  <a:txBody>
                    <a:bodyPr wrap="square"/>
                    <a:lstStyle/>
                    <a:p>
                      <a:r>
                        <a:rPr sz="1200" b="0">
                          <a:solidFill>
                            <a:srgbClr val="23272B"/>
                          </a:solidFill>
                          <a:latin typeface="Arial"/>
                        </a:rPr>
                        <a:t>Collected ÷ sales per quarter, Q1–Q3 2026</a:t>
                      </a:r>
                    </a:p>
                  </a:txBody>
                  <a:tcPr marL="109728" marR="109728" marT="45720" marB="45720" anchor="ctr">
                    <a:solidFill>
                      <a:srgbClr val="F4F5F6"/>
                    </a:solidFill>
                  </a:tcPr>
                </a:tc>
                <a:tc>
                  <a:txBody>
                    <a:bodyPr wrap="square"/>
                    <a:lstStyle/>
                    <a:p>
                      <a:r>
                        <a:rPr sz="1200" b="0">
                          <a:solidFill>
                            <a:srgbClr val="23272B"/>
                          </a:solidFill>
                          <a:latin typeface="Arial"/>
                        </a:rPr>
                        <a:t>Monthly totals of Cashflow and ORDERS</a:t>
                      </a:r>
                    </a:p>
                  </a:txBody>
                  <a:tcPr marL="109728" marR="109728" marT="45720" marB="45720" anchor="ctr">
                    <a:solidFill>
                      <a:srgbClr val="F4F5F6"/>
                    </a:solidFill>
                  </a:tcPr>
                </a:tc>
              </a:tr>
              <a:tr h="467360">
                <a:tc>
                  <a:txBody>
                    <a:bodyPr wrap="square"/>
                    <a:lstStyle/>
                    <a:p>
                      <a:r>
                        <a:rPr sz="1200" b="1">
                          <a:solidFill>
                            <a:srgbClr val="006E32"/>
                          </a:solidFill>
                          <a:latin typeface="Arial"/>
                        </a:rPr>
                        <a:t>230 · 159</a:t>
                      </a:r>
                    </a:p>
                  </a:txBody>
                  <a:tcPr marL="109728" marR="109728" marT="45720" marB="45720" anchor="ctr">
                    <a:solidFill>
                      <a:srgbClr val="FFFFFF"/>
                    </a:solidFill>
                  </a:tcPr>
                </a:tc>
                <a:tc>
                  <a:txBody>
                    <a:bodyPr wrap="square"/>
                    <a:lstStyle/>
                    <a:p>
                      <a:r>
                        <a:rPr sz="1200" b="0">
                          <a:solidFill>
                            <a:srgbClr val="23272B"/>
                          </a:solidFill>
                          <a:latin typeface="Arial"/>
                        </a:rPr>
                        <a:t>Customers who ordered in 2026 · in the last 90 days</a:t>
                      </a:r>
                    </a:p>
                  </a:txBody>
                  <a:tcPr marL="109728" marR="109728" marT="45720" marB="45720" anchor="ctr">
                    <a:solidFill>
                      <a:srgbClr val="FFFFFF"/>
                    </a:solidFill>
                  </a:tcPr>
                </a:tc>
                <a:tc>
                  <a:txBody>
                    <a:bodyPr wrap="square"/>
                    <a:lstStyle/>
                    <a:p>
                      <a:r>
                        <a:rPr sz="1200" b="0">
                          <a:solidFill>
                            <a:srgbClr val="23272B"/>
                          </a:solidFill>
                          <a:latin typeface="Arial"/>
                        </a:rPr>
                        <a:t>ERP workbook, ORDERS sheet</a:t>
                      </a:r>
                    </a:p>
                  </a:txBody>
                  <a:tcPr marL="109728" marR="109728" marT="45720" marB="45720" anchor="ctr">
                    <a:solidFill>
                      <a:srgbClr val="FFFFFF"/>
                    </a:solidFill>
                  </a:tcPr>
                </a:tc>
              </a:tr>
              <a:tr h="467360">
                <a:tc>
                  <a:txBody>
                    <a:bodyPr wrap="square"/>
                    <a:lstStyle/>
                    <a:p>
                      <a:r>
                        <a:rPr sz="1200" b="1">
                          <a:solidFill>
                            <a:srgbClr val="006E32"/>
                          </a:solidFill>
                          <a:latin typeface="Arial"/>
                        </a:rPr>
                        <a:t>415 · 10 of 11</a:t>
                      </a:r>
                    </a:p>
                  </a:txBody>
                  <a:tcPr marL="109728" marR="109728" marT="45720" marB="45720" anchor="ctr">
                    <a:solidFill>
                      <a:srgbClr val="F4F5F6"/>
                    </a:solidFill>
                  </a:tcPr>
                </a:tc>
                <a:tc>
                  <a:txBody>
                    <a:bodyPr wrap="square"/>
                    <a:lstStyle/>
                    <a:p>
                      <a:r>
                        <a:rPr sz="1200" b="0">
                          <a:solidFill>
                            <a:srgbClr val="23272B"/>
                          </a:solidFill>
                          <a:latin typeface="Arial"/>
                        </a:rPr>
                        <a:t>Customer accounts · regions with customers</a:t>
                      </a:r>
                    </a:p>
                  </a:txBody>
                  <a:tcPr marL="109728" marR="109728" marT="45720" marB="45720" anchor="ctr">
                    <a:solidFill>
                      <a:srgbClr val="F4F5F6"/>
                    </a:solidFill>
                  </a:tcPr>
                </a:tc>
                <a:tc>
                  <a:txBody>
                    <a:bodyPr wrap="square"/>
                    <a:lstStyle/>
                    <a:p>
                      <a:r>
                        <a:rPr sz="1200" b="0">
                          <a:solidFill>
                            <a:srgbClr val="23272B"/>
                          </a:solidFill>
                          <a:latin typeface="Arial"/>
                        </a:rPr>
                        <a:t>ERP workbook, Customers sheet</a:t>
                      </a:r>
                    </a:p>
                  </a:txBody>
                  <a:tcPr marL="109728" marR="109728" marT="45720" marB="45720" anchor="ctr">
                    <a:solidFill>
                      <a:srgbClr val="F4F5F6"/>
                    </a:solidFill>
                  </a:tcPr>
                </a:tc>
              </a:tr>
              <a:tr h="467360">
                <a:tc>
                  <a:txBody>
                    <a:bodyPr wrap="square"/>
                    <a:lstStyle/>
                    <a:p>
                      <a:r>
                        <a:rPr sz="1200" b="1">
                          <a:solidFill>
                            <a:srgbClr val="006E32"/>
                          </a:solidFill>
                          <a:latin typeface="Arial"/>
                        </a:rPr>
                        <a:t>38.8k L</a:t>
                      </a:r>
                    </a:p>
                  </a:txBody>
                  <a:tcPr marL="109728" marR="109728" marT="45720" marB="45720" anchor="ctr">
                    <a:solidFill>
                      <a:srgbClr val="FFFFFF"/>
                    </a:solidFill>
                  </a:tcPr>
                </a:tc>
                <a:tc>
                  <a:txBody>
                    <a:bodyPr wrap="square"/>
                    <a:lstStyle/>
                    <a:p>
                      <a:r>
                        <a:rPr sz="1200" b="0">
                          <a:solidFill>
                            <a:srgbClr val="23272B"/>
                          </a:solidFill>
                          <a:latin typeface="Arial"/>
                        </a:rPr>
                        <a:t>Castrol litres sold 1 Jan – 8 Oct 2026</a:t>
                      </a:r>
                    </a:p>
                  </a:txBody>
                  <a:tcPr marL="109728" marR="109728" marT="45720" marB="45720" anchor="ctr">
                    <a:solidFill>
                      <a:srgbClr val="FFFFFF"/>
                    </a:solidFill>
                  </a:tcPr>
                </a:tc>
                <a:tc>
                  <a:txBody>
                    <a:bodyPr wrap="square"/>
                    <a:lstStyle/>
                    <a:p>
                      <a:r>
                        <a:rPr sz="1200" b="0">
                          <a:solidFill>
                            <a:srgbClr val="23272B"/>
                          </a:solidFill>
                          <a:latin typeface="Arial"/>
                        </a:rPr>
                        <a:t>ERP workbook, ORDERS sheet (brand Castrol)</a:t>
                      </a:r>
                    </a:p>
                  </a:txBody>
                  <a:tcPr marL="109728" marR="109728" marT="45720" marB="45720" anchor="ctr">
                    <a:solidFill>
                      <a:srgbClr val="FFFFFF"/>
                    </a:solidFill>
                  </a:tcPr>
                </a:tc>
              </a:tr>
              <a:tr h="467360">
                <a:tc>
                  <a:txBody>
                    <a:bodyPr wrap="square"/>
                    <a:lstStyle/>
                    <a:p>
                      <a:r>
                        <a:rPr sz="1200" b="1">
                          <a:solidFill>
                            <a:srgbClr val="006E32"/>
                          </a:solidFill>
                          <a:latin typeface="Arial"/>
                        </a:rPr>
                        <a:t>Screens, bot report</a:t>
                      </a:r>
                    </a:p>
                  </a:txBody>
                  <a:tcPr marL="109728" marR="109728" marT="45720" marB="45720" anchor="ctr">
                    <a:solidFill>
                      <a:srgbClr val="F4F5F6"/>
                    </a:solidFill>
                  </a:tcPr>
                </a:tc>
                <a:tc>
                  <a:txBody>
                    <a:bodyPr wrap="square"/>
                    <a:lstStyle/>
                    <a:p>
                      <a:r>
                        <a:rPr sz="1200" b="0">
                          <a:solidFill>
                            <a:srgbClr val="23272B"/>
                          </a:solidFill>
                          <a:latin typeface="Arial"/>
                        </a:rPr>
                        <a:t>Made-up demo data: no real customers, reps, prices or debts</a:t>
                      </a:r>
                    </a:p>
                  </a:txBody>
                  <a:tcPr marL="109728" marR="109728" marT="45720" marB="45720" anchor="ctr">
                    <a:solidFill>
                      <a:srgbClr val="F4F5F6"/>
                    </a:solidFill>
                  </a:tcPr>
                </a:tc>
                <a:tc>
                  <a:txBody>
                    <a:bodyPr wrap="square"/>
                    <a:lstStyle/>
                    <a:p>
                      <a:r>
                        <a:rPr sz="1200" b="0">
                          <a:solidFill>
                            <a:srgbClr val="23272B"/>
                          </a:solidFill>
                          <a:latin typeface="Arial"/>
                        </a:rPr>
                        <a:t>The app's demo data set</a:t>
                      </a:r>
                    </a:p>
                  </a:txBody>
                  <a:tcPr marL="109728" marR="109728" marT="45720" marB="45720" anchor="ctr">
                    <a:solidFill>
                      <a:srgbClr val="F4F5F6"/>
                    </a:solidFill>
                  </a:tcPr>
                </a:tc>
              </a:tr>
            </a:tbl>
          </a:graphicData>
        </a:graphic>
      </p:graphicFrame>
      <p:sp>
        <p:nvSpPr>
          <p:cNvPr id="7" name="TextBox 6"/>
          <p:cNvSpPr txBox="1"/>
          <p:nvPr/>
        </p:nvSpPr>
        <p:spPr>
          <a:xfrm>
            <a:off x="548640" y="6035040"/>
            <a:ext cx="11064240" cy="320040"/>
          </a:xfrm>
          <a:prstGeom prst="rect">
            <a:avLst/>
          </a:prstGeom>
          <a:noFill/>
        </p:spPr>
        <p:txBody>
          <a:bodyPr wrap="square" lIns="0" rIns="0" tIns="0" bIns="0" anchor="t">
            <a:spAutoFit/>
          </a:bodyPr>
          <a:lstStyle/>
          <a:p>
            <a:pPr algn="l">
              <a:lnSpc>
                <a:spcPct val="100000"/>
              </a:lnSpc>
            </a:pPr>
            <a:r>
              <a:rPr sz="1050" b="0">
                <a:solidFill>
                  <a:srgbClr val="5F6670"/>
                </a:solidFill>
                <a:latin typeface="Arial"/>
              </a:rPr>
              <a:t>Workbook versions 2.1.0 (orders to 8 Oct 2026) and 2.0.7 (full-year 2025). All figures are aggregates.</a:t>
            </a:r>
          </a:p>
        </p:txBody>
      </p:sp>
      <p:cxnSp>
        <p:nvCxnSpPr>
          <p:cNvPr id="8" name="Connector 7"/>
          <p:cNvCxnSpPr/>
          <p:nvPr/>
        </p:nvCxnSpPr>
        <p:spPr>
          <a:xfrm>
            <a:off x="548640" y="6400800"/>
            <a:ext cx="11094415" cy="0"/>
          </a:xfrm>
          <a:prstGeom prst="line">
            <a:avLst/>
          </a:prstGeom>
          <a:ln w="9525">
            <a:solidFill>
              <a:srgbClr val="D9DEDB"/>
            </a:solidFill>
          </a:ln>
        </p:spPr>
      </p:cxnSp>
      <p:pic>
        <p:nvPicPr>
          <p:cNvPr id="9" name="Picture 8" descr="kad-wordmark.png"/>
          <p:cNvPicPr>
            <a:picLocks noChangeAspect="1"/>
          </p:cNvPicPr>
          <p:nvPr/>
        </p:nvPicPr>
        <p:blipFill>
          <a:blip r:embed="rId2"/>
          <a:stretch>
            <a:fillRect/>
          </a:stretch>
        </p:blipFill>
        <p:spPr>
          <a:xfrm>
            <a:off x="548640" y="6519672"/>
            <a:ext cx="759129" cy="155448"/>
          </a:xfrm>
          <a:prstGeom prst="rect">
            <a:avLst/>
          </a:prstGeom>
        </p:spPr>
      </p:pic>
      <p:sp>
        <p:nvSpPr>
          <p:cNvPr id="10" name="TextBox 9"/>
          <p:cNvSpPr txBox="1"/>
          <p:nvPr/>
        </p:nvSpPr>
        <p:spPr>
          <a:xfrm>
            <a:off x="1417320" y="6492240"/>
            <a:ext cx="6400800" cy="228600"/>
          </a:xfrm>
          <a:prstGeom prst="rect">
            <a:avLst/>
          </a:prstGeom>
          <a:noFill/>
        </p:spPr>
        <p:txBody>
          <a:bodyPr wrap="square" lIns="0" rIns="0" tIns="0" bIns="0" anchor="t">
            <a:spAutoFit/>
          </a:bodyPr>
          <a:lstStyle/>
          <a:p>
            <a:pPr algn="l">
              <a:lnSpc>
                <a:spcPct val="100000"/>
              </a:lnSpc>
            </a:pPr>
            <a:r>
              <a:rPr sz="900" b="0">
                <a:solidFill>
                  <a:srgbClr val="5F6670"/>
                </a:solidFill>
                <a:latin typeface="Arial"/>
              </a:rPr>
              <a:t>Digital Sales Platform for Castrol Distribution</a:t>
            </a:r>
          </a:p>
        </p:txBody>
      </p:sp>
      <p:sp>
        <p:nvSpPr>
          <p:cNvPr id="11" name="TextBox 10"/>
          <p:cNvSpPr txBox="1"/>
          <p:nvPr/>
        </p:nvSpPr>
        <p:spPr>
          <a:xfrm>
            <a:off x="10728655" y="6492240"/>
            <a:ext cx="914400" cy="228600"/>
          </a:xfrm>
          <a:prstGeom prst="rect">
            <a:avLst/>
          </a:prstGeom>
          <a:noFill/>
        </p:spPr>
        <p:txBody>
          <a:bodyPr wrap="square" lIns="0" rIns="0" tIns="0" bIns="0" anchor="t">
            <a:spAutoFit/>
          </a:bodyPr>
          <a:lstStyle/>
          <a:p>
            <a:pPr algn="r">
              <a:lnSpc>
                <a:spcPct val="100000"/>
              </a:lnSpc>
            </a:pPr>
            <a:r>
              <a:rPr sz="900" b="0">
                <a:solidFill>
                  <a:srgbClr val="5F6670"/>
                </a:solidFill>
                <a:latin typeface="Arial"/>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